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5" d="100"/>
          <a:sy n="45" d="100"/>
        </p:scale>
        <p:origin x="2120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86966" y="691641"/>
            <a:ext cx="5207635" cy="10160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latin typeface="Times New Roman"/>
                <a:cs typeface="Times New Roman"/>
              </a:rPr>
              <a:t>РОССИЙСКИЙ</a:t>
            </a:r>
            <a:r>
              <a:rPr sz="1600" b="1" spc="-8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УНИВЕРСИТЕТ</a:t>
            </a:r>
            <a:r>
              <a:rPr sz="1600" b="1" spc="-6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ДРУЖБЫ</a:t>
            </a:r>
            <a:r>
              <a:rPr sz="1600" b="1" spc="-6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НАРОДОВ</a:t>
            </a:r>
            <a:endParaRPr sz="1600">
              <a:latin typeface="Times New Roman"/>
              <a:cs typeface="Times New Roman"/>
            </a:endParaRPr>
          </a:p>
          <a:p>
            <a:pPr marL="683260" marR="111125" indent="73025">
              <a:lnSpc>
                <a:spcPct val="183300"/>
              </a:lnSpc>
              <a:spcBef>
                <a:spcPts val="155"/>
              </a:spcBef>
            </a:pPr>
            <a:r>
              <a:rPr sz="1300" b="1" spc="-10" dirty="0">
                <a:latin typeface="Times New Roman"/>
                <a:cs typeface="Times New Roman"/>
              </a:rPr>
              <a:t>Факультет</a:t>
            </a:r>
            <a:r>
              <a:rPr sz="1300" b="1" spc="-15" dirty="0">
                <a:latin typeface="Times New Roman"/>
                <a:cs typeface="Times New Roman"/>
              </a:rPr>
              <a:t> </a:t>
            </a:r>
            <a:r>
              <a:rPr sz="1300" b="1" spc="-20" dirty="0">
                <a:latin typeface="Times New Roman"/>
                <a:cs typeface="Times New Roman"/>
              </a:rPr>
              <a:t>физико-</a:t>
            </a:r>
            <a:r>
              <a:rPr sz="1300" b="1" spc="-10" dirty="0">
                <a:latin typeface="Times New Roman"/>
                <a:cs typeface="Times New Roman"/>
              </a:rPr>
              <a:t>математических</a:t>
            </a:r>
            <a:r>
              <a:rPr sz="1300" b="1" spc="-4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и</a:t>
            </a:r>
            <a:r>
              <a:rPr sz="1300" b="1" spc="-2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естественных</a:t>
            </a:r>
            <a:r>
              <a:rPr sz="1300" b="1" spc="-45" dirty="0">
                <a:latin typeface="Times New Roman"/>
                <a:cs typeface="Times New Roman"/>
              </a:rPr>
              <a:t> </a:t>
            </a:r>
            <a:r>
              <a:rPr sz="1300" b="1" spc="-20" dirty="0">
                <a:latin typeface="Times New Roman"/>
                <a:cs typeface="Times New Roman"/>
              </a:rPr>
              <a:t>наук </a:t>
            </a:r>
            <a:r>
              <a:rPr sz="1300" b="1" spc="-10" dirty="0">
                <a:latin typeface="Times New Roman"/>
                <a:cs typeface="Times New Roman"/>
              </a:rPr>
              <a:t>Кафедра</a:t>
            </a:r>
            <a:r>
              <a:rPr sz="1300" b="1" spc="-4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прикладной</a:t>
            </a:r>
            <a:r>
              <a:rPr sz="1300" b="1" spc="-35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информатики</a:t>
            </a:r>
            <a:r>
              <a:rPr sz="1300" b="1" spc="-3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и</a:t>
            </a:r>
            <a:r>
              <a:rPr sz="1300" b="1" spc="-3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теории</a:t>
            </a:r>
            <a:r>
              <a:rPr sz="1300" b="1" spc="-35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вероятностей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50391" y="2923412"/>
            <a:ext cx="5447030" cy="154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154940" algn="ctr">
              <a:lnSpc>
                <a:spcPct val="100000"/>
              </a:lnSpc>
              <a:spcBef>
                <a:spcPts val="105"/>
              </a:spcBef>
            </a:pPr>
            <a:r>
              <a:rPr lang="ru-RU" sz="1600" b="1" spc="-10" dirty="0" err="1">
                <a:latin typeface="Times New Roman"/>
                <a:cs typeface="Times New Roman"/>
              </a:rPr>
              <a:t>Призенитаций</a:t>
            </a:r>
            <a:r>
              <a:rPr lang="ru-RU" sz="1600" b="1" spc="-10">
                <a:latin typeface="Times New Roman"/>
                <a:cs typeface="Times New Roman"/>
              </a:rPr>
              <a:t> </a:t>
            </a:r>
            <a:endParaRPr sz="1600" dirty="0">
              <a:latin typeface="Times New Roman"/>
              <a:cs typeface="Times New Roman"/>
            </a:endParaRPr>
          </a:p>
          <a:p>
            <a:pPr marR="152400" algn="ctr">
              <a:lnSpc>
                <a:spcPct val="100000"/>
              </a:lnSpc>
              <a:spcBef>
                <a:spcPts val="1440"/>
              </a:spcBef>
            </a:pPr>
            <a:r>
              <a:rPr sz="1600" b="1" dirty="0">
                <a:latin typeface="Times New Roman"/>
                <a:cs typeface="Times New Roman"/>
              </a:rPr>
              <a:t>ПО</a:t>
            </a:r>
            <a:r>
              <a:rPr sz="1600" b="1" spc="-5" dirty="0">
                <a:latin typeface="Times New Roman"/>
                <a:cs typeface="Times New Roman"/>
              </a:rPr>
              <a:t> </a:t>
            </a:r>
            <a:r>
              <a:rPr sz="1600" b="1" spc="-40" dirty="0">
                <a:latin typeface="Times New Roman"/>
                <a:cs typeface="Times New Roman"/>
              </a:rPr>
              <a:t>ЛАБОРАТОРНОЙ</a:t>
            </a:r>
            <a:r>
              <a:rPr sz="1600" b="1" spc="-35" dirty="0">
                <a:latin typeface="Times New Roman"/>
                <a:cs typeface="Times New Roman"/>
              </a:rPr>
              <a:t> РАБОТЕ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№ </a:t>
            </a:r>
            <a:r>
              <a:rPr sz="1600" b="1" u="sng" spc="-2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b="1" u="sng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7</a:t>
            </a:r>
            <a:endParaRPr sz="1600" dirty="0">
              <a:latin typeface="Times New Roman"/>
              <a:cs typeface="Times New Roman"/>
            </a:endParaRPr>
          </a:p>
          <a:p>
            <a:pPr marL="1515745" marR="5080" indent="-1503680">
              <a:lnSpc>
                <a:spcPct val="143700"/>
              </a:lnSpc>
              <a:spcBef>
                <a:spcPts val="1180"/>
              </a:spcBef>
            </a:pPr>
            <a:r>
              <a:rPr sz="160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дисциплина:</a:t>
            </a:r>
            <a:r>
              <a:rPr sz="1600" i="1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i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Математические</a:t>
            </a:r>
            <a:r>
              <a:rPr sz="1600" i="1" u="sng" spc="-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основы</a:t>
            </a:r>
            <a:r>
              <a:rPr sz="1600" i="1" u="sng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защиты</a:t>
            </a:r>
            <a:r>
              <a:rPr sz="1600" i="1" u="sng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i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информации</a:t>
            </a:r>
            <a:r>
              <a:rPr sz="1600" i="1" u="sng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и</a:t>
            </a:r>
            <a:r>
              <a:rPr sz="1600" i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i="1" spc="-25" dirty="0">
                <a:latin typeface="Times New Roman"/>
                <a:cs typeface="Times New Roman"/>
              </a:rPr>
              <a:t> </a:t>
            </a:r>
            <a:r>
              <a:rPr sz="1600" i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информационной</a:t>
            </a:r>
            <a:r>
              <a:rPr sz="1600" i="1" u="sng" spc="-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i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безопасности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24042" y="7258938"/>
            <a:ext cx="1610995" cy="582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Студент:</a:t>
            </a:r>
            <a:r>
              <a:rPr sz="1300" spc="-6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Мумэн</a:t>
            </a:r>
            <a:r>
              <a:rPr sz="1300" spc="-65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Times New Roman"/>
                <a:cs typeface="Times New Roman"/>
              </a:rPr>
              <a:t>Амин</a:t>
            </a:r>
            <a:endParaRPr sz="1300">
              <a:latin typeface="Times New Roman"/>
              <a:cs typeface="Times New Roman"/>
            </a:endParaRPr>
          </a:p>
          <a:p>
            <a:pPr marL="18415">
              <a:lnSpc>
                <a:spcPct val="100000"/>
              </a:lnSpc>
              <a:spcBef>
                <a:spcPts val="1270"/>
              </a:spcBef>
            </a:pPr>
            <a:r>
              <a:rPr sz="13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Группа:</a:t>
            </a:r>
            <a:r>
              <a:rPr sz="1300" spc="45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Times New Roman"/>
                <a:cs typeface="Times New Roman"/>
              </a:rPr>
              <a:t>НФИмд-</a:t>
            </a:r>
            <a:r>
              <a:rPr sz="1300" spc="-10" dirty="0">
                <a:latin typeface="Times New Roman"/>
                <a:cs typeface="Times New Roman"/>
              </a:rPr>
              <a:t>01-</a:t>
            </a:r>
            <a:r>
              <a:rPr sz="1300" spc="-25" dirty="0">
                <a:latin typeface="Times New Roman"/>
                <a:cs typeface="Times New Roman"/>
              </a:rPr>
              <a:t>25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14521" y="9423603"/>
            <a:ext cx="126174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latin typeface="Times New Roman"/>
                <a:cs typeface="Times New Roman"/>
              </a:rPr>
              <a:t>МОСКВА</a:t>
            </a:r>
            <a:r>
              <a:rPr sz="1300" b="1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2026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spc="-80" dirty="0">
                <a:latin typeface="Times New Roman"/>
                <a:cs typeface="Times New Roman"/>
              </a:rPr>
              <a:t>г.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6596" y="694689"/>
            <a:ext cx="5964555" cy="12319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1300" algn="just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latin typeface="Times New Roman"/>
                <a:cs typeface="Times New Roman"/>
              </a:rPr>
              <a:t>1.</a:t>
            </a:r>
            <a:r>
              <a:rPr sz="1400" b="1" spc="35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Цель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работы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spc="-50" dirty="0">
                <a:latin typeface="Times New Roman"/>
                <a:cs typeface="Times New Roman"/>
              </a:rPr>
              <a:t>:</a:t>
            </a:r>
            <a:endParaRPr sz="14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3700"/>
              </a:lnSpc>
              <a:spcBef>
                <a:spcPts val="585"/>
              </a:spcBef>
            </a:pPr>
            <a:r>
              <a:rPr sz="1400" dirty="0">
                <a:latin typeface="Times New Roman"/>
                <a:cs typeface="Times New Roman"/>
              </a:rPr>
              <a:t>Изучить</a:t>
            </a:r>
            <a:r>
              <a:rPr sz="1400" spc="165" dirty="0">
                <a:latin typeface="Times New Roman"/>
                <a:cs typeface="Times New Roman"/>
              </a:rPr>
              <a:t>  </a:t>
            </a:r>
            <a:r>
              <a:rPr sz="1400" dirty="0">
                <a:latin typeface="Times New Roman"/>
                <a:cs typeface="Times New Roman"/>
              </a:rPr>
              <a:t>метод</a:t>
            </a:r>
            <a:r>
              <a:rPr sz="1400" spc="195" dirty="0">
                <a:latin typeface="Times New Roman"/>
                <a:cs typeface="Times New Roman"/>
              </a:rPr>
              <a:t>  </a:t>
            </a:r>
            <a:r>
              <a:rPr sz="1400" dirty="0">
                <a:latin typeface="Times New Roman"/>
                <a:cs typeface="Times New Roman"/>
              </a:rPr>
              <a:t>Полларда</a:t>
            </a:r>
            <a:r>
              <a:rPr sz="1400" spc="180" dirty="0">
                <a:latin typeface="Times New Roman"/>
                <a:cs typeface="Times New Roman"/>
              </a:rPr>
              <a:t>  </a:t>
            </a:r>
            <a:r>
              <a:rPr sz="1400" spc="-10" dirty="0">
                <a:latin typeface="Times New Roman"/>
                <a:cs typeface="Times New Roman"/>
              </a:rPr>
              <a:t>(ро-</a:t>
            </a:r>
            <a:r>
              <a:rPr sz="1400" dirty="0">
                <a:latin typeface="Times New Roman"/>
                <a:cs typeface="Times New Roman"/>
              </a:rPr>
              <a:t>метод)</a:t>
            </a:r>
            <a:r>
              <a:rPr sz="1400" spc="185" dirty="0">
                <a:latin typeface="Times New Roman"/>
                <a:cs typeface="Times New Roman"/>
              </a:rPr>
              <a:t>  </a:t>
            </a:r>
            <a:r>
              <a:rPr sz="1400" dirty="0">
                <a:latin typeface="Times New Roman"/>
                <a:cs typeface="Times New Roman"/>
              </a:rPr>
              <a:t>для</a:t>
            </a:r>
            <a:r>
              <a:rPr sz="1400" spc="175" dirty="0">
                <a:latin typeface="Times New Roman"/>
                <a:cs typeface="Times New Roman"/>
              </a:rPr>
              <a:t>  </a:t>
            </a:r>
            <a:r>
              <a:rPr sz="1400" dirty="0">
                <a:latin typeface="Times New Roman"/>
                <a:cs typeface="Times New Roman"/>
              </a:rPr>
              <a:t>решения</a:t>
            </a:r>
            <a:r>
              <a:rPr sz="1400" spc="180" dirty="0">
                <a:latin typeface="Times New Roman"/>
                <a:cs typeface="Times New Roman"/>
              </a:rPr>
              <a:t>  </a:t>
            </a:r>
            <a:r>
              <a:rPr sz="1400" dirty="0">
                <a:latin typeface="Times New Roman"/>
                <a:cs typeface="Times New Roman"/>
              </a:rPr>
              <a:t>задачи</a:t>
            </a:r>
            <a:r>
              <a:rPr sz="1400" spc="180" dirty="0">
                <a:latin typeface="Times New Roman"/>
                <a:cs typeface="Times New Roman"/>
              </a:rPr>
              <a:t>  </a:t>
            </a:r>
            <a:r>
              <a:rPr sz="1400" spc="-10" dirty="0">
                <a:latin typeface="Times New Roman"/>
                <a:cs typeface="Times New Roman"/>
              </a:rPr>
              <a:t>дискретного логарифмирования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в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конечном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поле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и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реализовать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соответствующий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алгоритм программно.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6596" y="2457068"/>
            <a:ext cx="5965825" cy="36830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latin typeface="Times New Roman"/>
                <a:cs typeface="Times New Roman"/>
              </a:rPr>
              <a:t>2.</a:t>
            </a:r>
            <a:r>
              <a:rPr sz="1400" b="1" spc="35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Теоретическая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часть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spc="-50" dirty="0">
                <a:latin typeface="Times New Roman"/>
                <a:cs typeface="Times New Roman"/>
              </a:rPr>
              <a:t>: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3700"/>
              </a:lnSpc>
            </a:pPr>
            <a:r>
              <a:rPr sz="1400" dirty="0">
                <a:latin typeface="Times New Roman"/>
                <a:cs typeface="Times New Roman"/>
              </a:rPr>
              <a:t>Задача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дискретного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логарифмирования</a:t>
            </a:r>
            <a:r>
              <a:rPr sz="1400" spc="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формулируется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следующим</a:t>
            </a:r>
            <a:r>
              <a:rPr sz="1400" spc="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образом: </a:t>
            </a:r>
            <a:r>
              <a:rPr sz="1400" dirty="0">
                <a:latin typeface="Times New Roman"/>
                <a:cs typeface="Times New Roman"/>
              </a:rPr>
              <a:t>для</a:t>
            </a:r>
            <a:r>
              <a:rPr sz="1400" spc="434" dirty="0">
                <a:latin typeface="Times New Roman"/>
                <a:cs typeface="Times New Roman"/>
              </a:rPr>
              <a:t>   </a:t>
            </a:r>
            <a:r>
              <a:rPr sz="1400" dirty="0">
                <a:latin typeface="Times New Roman"/>
                <a:cs typeface="Times New Roman"/>
              </a:rPr>
              <a:t>заданных</a:t>
            </a:r>
            <a:r>
              <a:rPr sz="1400" spc="420" dirty="0">
                <a:latin typeface="Times New Roman"/>
                <a:cs typeface="Times New Roman"/>
              </a:rPr>
              <a:t>   </a:t>
            </a:r>
            <a:r>
              <a:rPr sz="1400" dirty="0">
                <a:latin typeface="Times New Roman"/>
                <a:cs typeface="Times New Roman"/>
              </a:rPr>
              <a:t>простого</a:t>
            </a:r>
            <a:r>
              <a:rPr sz="1400" spc="434" dirty="0">
                <a:latin typeface="Times New Roman"/>
                <a:cs typeface="Times New Roman"/>
              </a:rPr>
              <a:t>   </a:t>
            </a:r>
            <a:r>
              <a:rPr sz="1400" dirty="0">
                <a:latin typeface="Times New Roman"/>
                <a:cs typeface="Times New Roman"/>
              </a:rPr>
              <a:t>числа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</a:t>
            </a:r>
            <a:r>
              <a:rPr sz="1400" i="1" dirty="0">
                <a:latin typeface="Times New Roman"/>
                <a:cs typeface="Times New Roman"/>
              </a:rPr>
              <a:t>p</a:t>
            </a:r>
            <a:r>
              <a:rPr sz="1400" dirty="0">
                <a:latin typeface="Times New Roman"/>
                <a:cs typeface="Times New Roman"/>
              </a:rPr>
              <a:t>,</a:t>
            </a:r>
            <a:r>
              <a:rPr sz="1400" spc="434" dirty="0">
                <a:latin typeface="Times New Roman"/>
                <a:cs typeface="Times New Roman"/>
              </a:rPr>
              <a:t>   </a:t>
            </a:r>
            <a:r>
              <a:rPr sz="1400" dirty="0">
                <a:latin typeface="Times New Roman"/>
                <a:cs typeface="Times New Roman"/>
              </a:rPr>
              <a:t>образующего</a:t>
            </a:r>
            <a:r>
              <a:rPr sz="1400" spc="430" dirty="0">
                <a:latin typeface="Times New Roman"/>
                <a:cs typeface="Times New Roman"/>
              </a:rPr>
              <a:t>   </a:t>
            </a:r>
            <a:r>
              <a:rPr sz="1400" dirty="0">
                <a:latin typeface="Times New Roman"/>
                <a:cs typeface="Times New Roman"/>
              </a:rPr>
              <a:t>элемента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i="1" dirty="0">
                <a:latin typeface="Times New Roman"/>
                <a:cs typeface="Times New Roman"/>
              </a:rPr>
              <a:t>a </a:t>
            </a:r>
            <a:r>
              <a:rPr sz="1400" spc="-50" dirty="0">
                <a:latin typeface="Times New Roman"/>
                <a:cs typeface="Times New Roman"/>
              </a:rPr>
              <a:t>и </a:t>
            </a:r>
            <a:r>
              <a:rPr sz="1400" dirty="0">
                <a:latin typeface="Times New Roman"/>
                <a:cs typeface="Times New Roman"/>
              </a:rPr>
              <a:t>элемента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</a:t>
            </a:r>
            <a:r>
              <a:rPr sz="1400" i="1" dirty="0">
                <a:latin typeface="Times New Roman"/>
                <a:cs typeface="Times New Roman"/>
              </a:rPr>
              <a:t>b</a:t>
            </a:r>
            <a:r>
              <a:rPr sz="1400" i="1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найти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целое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число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x</a:t>
            </a:r>
            <a:r>
              <a:rPr sz="1400" i="1" dirty="0">
                <a:latin typeface="Times New Roman"/>
                <a:cs typeface="Times New Roman"/>
              </a:rPr>
              <a:t>x</a:t>
            </a:r>
            <a:r>
              <a:rPr sz="1400" i="1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такое,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что: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400" spc="-10" dirty="0">
                <a:latin typeface="Times New Roman"/>
                <a:cs typeface="Times New Roman"/>
              </a:rPr>
              <a:t>ax≡b(modp)</a:t>
            </a:r>
            <a:r>
              <a:rPr sz="1400" i="1" spc="-10" dirty="0">
                <a:latin typeface="Times New Roman"/>
                <a:cs typeface="Times New Roman"/>
              </a:rPr>
              <a:t>ax</a:t>
            </a:r>
            <a:r>
              <a:rPr sz="1400" spc="-10" dirty="0">
                <a:latin typeface="Times New Roman"/>
                <a:cs typeface="Times New Roman"/>
              </a:rPr>
              <a:t>≡</a:t>
            </a:r>
            <a:r>
              <a:rPr sz="1400" i="1" spc="-10" dirty="0">
                <a:latin typeface="Times New Roman"/>
                <a:cs typeface="Times New Roman"/>
              </a:rPr>
              <a:t>b</a:t>
            </a:r>
            <a:r>
              <a:rPr sz="1400" spc="-10" dirty="0">
                <a:latin typeface="Times New Roman"/>
                <a:cs typeface="Times New Roman"/>
              </a:rPr>
              <a:t>(mod</a:t>
            </a:r>
            <a:r>
              <a:rPr sz="1400" i="1" spc="-10" dirty="0">
                <a:latin typeface="Times New Roman"/>
                <a:cs typeface="Times New Roman"/>
              </a:rPr>
              <a:t>p</a:t>
            </a:r>
            <a:r>
              <a:rPr sz="1400" spc="-10" dirty="0">
                <a:latin typeface="Times New Roman"/>
                <a:cs typeface="Times New Roman"/>
              </a:rPr>
              <a:t>)</a:t>
            </a:r>
            <a:endParaRPr sz="14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345"/>
              </a:spcBef>
            </a:pPr>
            <a:r>
              <a:rPr sz="1400" dirty="0">
                <a:latin typeface="Times New Roman"/>
                <a:cs typeface="Times New Roman"/>
              </a:rPr>
              <a:t>Число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x</a:t>
            </a:r>
            <a:r>
              <a:rPr sz="1400" i="1" dirty="0">
                <a:latin typeface="Times New Roman"/>
                <a:cs typeface="Times New Roman"/>
              </a:rPr>
              <a:t>x</a:t>
            </a:r>
            <a:r>
              <a:rPr sz="1400" i="1" spc="-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называется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дискретным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логарифмом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и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обозначается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x=logab</a:t>
            </a:r>
            <a:r>
              <a:rPr sz="1400" i="1" spc="-10" dirty="0">
                <a:latin typeface="Times New Roman"/>
                <a:cs typeface="Times New Roman"/>
              </a:rPr>
              <a:t>x</a:t>
            </a:r>
            <a:r>
              <a:rPr sz="1400" spc="-10" dirty="0">
                <a:latin typeface="Times New Roman"/>
                <a:cs typeface="Times New Roman"/>
              </a:rPr>
              <a:t>=log</a:t>
            </a:r>
            <a:r>
              <a:rPr sz="1400" i="1" spc="-10" dirty="0">
                <a:latin typeface="Times New Roman"/>
                <a:cs typeface="Times New Roman"/>
              </a:rPr>
              <a:t>ab</a:t>
            </a:r>
            <a:r>
              <a:rPr sz="1400" spc="-10" dirty="0">
                <a:latin typeface="Times New Roman"/>
                <a:cs typeface="Times New Roman"/>
              </a:rPr>
              <a:t>.</a:t>
            </a:r>
            <a:endParaRPr sz="1400">
              <a:latin typeface="Times New Roman"/>
              <a:cs typeface="Times New Roman"/>
            </a:endParaRPr>
          </a:p>
          <a:p>
            <a:pPr marL="12700" marR="7620" algn="just">
              <a:lnSpc>
                <a:spcPct val="143400"/>
              </a:lnSpc>
              <a:spcBef>
                <a:spcPts val="615"/>
              </a:spcBef>
            </a:pPr>
            <a:r>
              <a:rPr sz="1400" dirty="0">
                <a:latin typeface="Times New Roman"/>
                <a:cs typeface="Times New Roman"/>
              </a:rPr>
              <a:t>Для</a:t>
            </a:r>
            <a:r>
              <a:rPr sz="1400" spc="155" dirty="0">
                <a:latin typeface="Times New Roman"/>
                <a:cs typeface="Times New Roman"/>
              </a:rPr>
              <a:t>  </a:t>
            </a:r>
            <a:r>
              <a:rPr sz="1400" dirty="0">
                <a:latin typeface="Times New Roman"/>
                <a:cs typeface="Times New Roman"/>
              </a:rPr>
              <a:t>решения</a:t>
            </a:r>
            <a:r>
              <a:rPr sz="1400" spc="160" dirty="0">
                <a:latin typeface="Times New Roman"/>
                <a:cs typeface="Times New Roman"/>
              </a:rPr>
              <a:t>  </a:t>
            </a:r>
            <a:r>
              <a:rPr sz="1400" dirty="0">
                <a:latin typeface="Times New Roman"/>
                <a:cs typeface="Times New Roman"/>
              </a:rPr>
              <a:t>задачи</a:t>
            </a:r>
            <a:r>
              <a:rPr sz="1400" spc="155" dirty="0">
                <a:latin typeface="Times New Roman"/>
                <a:cs typeface="Times New Roman"/>
              </a:rPr>
              <a:t>  </a:t>
            </a:r>
            <a:r>
              <a:rPr sz="1400" dirty="0">
                <a:latin typeface="Times New Roman"/>
                <a:cs typeface="Times New Roman"/>
              </a:rPr>
              <a:t>был</a:t>
            </a:r>
            <a:r>
              <a:rPr sz="1400" spc="155" dirty="0">
                <a:latin typeface="Times New Roman"/>
                <a:cs typeface="Times New Roman"/>
              </a:rPr>
              <a:t>  </a:t>
            </a:r>
            <a:r>
              <a:rPr sz="1400" dirty="0">
                <a:latin typeface="Times New Roman"/>
                <a:cs typeface="Times New Roman"/>
              </a:rPr>
              <a:t>применен</a:t>
            </a:r>
            <a:r>
              <a:rPr sz="1400" spc="170" dirty="0">
                <a:latin typeface="Times New Roman"/>
                <a:cs typeface="Times New Roman"/>
              </a:rPr>
              <a:t>  </a:t>
            </a:r>
            <a:r>
              <a:rPr sz="1400" spc="-10" dirty="0">
                <a:latin typeface="Times New Roman"/>
                <a:cs typeface="Times New Roman"/>
              </a:rPr>
              <a:t>ρ-</a:t>
            </a:r>
            <a:r>
              <a:rPr sz="1400" dirty="0">
                <a:latin typeface="Times New Roman"/>
                <a:cs typeface="Times New Roman"/>
              </a:rPr>
              <a:t>метод</a:t>
            </a:r>
            <a:r>
              <a:rPr sz="1400" spc="170" dirty="0">
                <a:latin typeface="Times New Roman"/>
                <a:cs typeface="Times New Roman"/>
              </a:rPr>
              <a:t>  </a:t>
            </a:r>
            <a:r>
              <a:rPr sz="1400" dirty="0">
                <a:latin typeface="Times New Roman"/>
                <a:cs typeface="Times New Roman"/>
              </a:rPr>
              <a:t>Полларда,</a:t>
            </a:r>
            <a:r>
              <a:rPr sz="1400" spc="160" dirty="0">
                <a:latin typeface="Times New Roman"/>
                <a:cs typeface="Times New Roman"/>
              </a:rPr>
              <a:t>  </a:t>
            </a:r>
            <a:r>
              <a:rPr sz="1400" spc="-10" dirty="0">
                <a:latin typeface="Times New Roman"/>
                <a:cs typeface="Times New Roman"/>
              </a:rPr>
              <a:t>использующий </a:t>
            </a:r>
            <a:r>
              <a:rPr sz="1400" dirty="0">
                <a:latin typeface="Times New Roman"/>
                <a:cs typeface="Times New Roman"/>
              </a:rPr>
              <a:t>случайное</a:t>
            </a:r>
            <a:r>
              <a:rPr sz="1400" spc="1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отображение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</a:t>
            </a:r>
            <a:r>
              <a:rPr sz="1400" i="1" dirty="0">
                <a:latin typeface="Times New Roman"/>
                <a:cs typeface="Times New Roman"/>
              </a:rPr>
              <a:t>f</a:t>
            </a:r>
            <a:r>
              <a:rPr sz="1400" dirty="0">
                <a:latin typeface="Times New Roman"/>
                <a:cs typeface="Times New Roman"/>
              </a:rPr>
              <a:t>,</a:t>
            </a:r>
            <a:r>
              <a:rPr sz="1400" spc="1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которое</a:t>
            </a:r>
            <a:r>
              <a:rPr sz="1400" spc="1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позволяет</a:t>
            </a:r>
            <a:r>
              <a:rPr sz="1400" spc="1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выражать</a:t>
            </a:r>
            <a:r>
              <a:rPr sz="1400" spc="1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логарифм</a:t>
            </a:r>
            <a:r>
              <a:rPr sz="1400" spc="18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текущего </a:t>
            </a:r>
            <a:r>
              <a:rPr sz="1400" dirty="0">
                <a:latin typeface="Times New Roman"/>
                <a:cs typeface="Times New Roman"/>
              </a:rPr>
              <a:t>элемента</a:t>
            </a:r>
            <a:r>
              <a:rPr sz="1400" spc="3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через</a:t>
            </a:r>
            <a:r>
              <a:rPr sz="1400" spc="3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неизвестный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x</a:t>
            </a:r>
            <a:r>
              <a:rPr sz="1400" i="1" dirty="0">
                <a:latin typeface="Times New Roman"/>
                <a:cs typeface="Times New Roman"/>
              </a:rPr>
              <a:t>x</a:t>
            </a:r>
            <a:r>
              <a:rPr sz="1400" dirty="0">
                <a:latin typeface="Times New Roman"/>
                <a:cs typeface="Times New Roman"/>
              </a:rPr>
              <a:t>.</a:t>
            </a:r>
            <a:r>
              <a:rPr sz="1400" spc="3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В</a:t>
            </a:r>
            <a:r>
              <a:rPr sz="1400" spc="3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реализации</a:t>
            </a:r>
            <a:r>
              <a:rPr sz="1400" spc="3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использовалось</a:t>
            </a:r>
            <a:r>
              <a:rPr sz="1400" spc="35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ветвящееся правило: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95527" y="6559574"/>
            <a:ext cx="3302000" cy="59944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00"/>
              </a:spcBef>
              <a:buSzPct val="76923"/>
              <a:buFont typeface="Symbol"/>
              <a:buChar char=""/>
              <a:tabLst>
                <a:tab pos="240665" algn="l"/>
                <a:tab pos="1808480" algn="l"/>
              </a:tabLst>
            </a:pPr>
            <a:r>
              <a:rPr sz="1300" spc="-20" dirty="0">
                <a:latin typeface="Times New Roman"/>
                <a:cs typeface="Times New Roman"/>
              </a:rPr>
              <a:t>Если</a:t>
            </a:r>
            <a:r>
              <a:rPr sz="1300" dirty="0">
                <a:latin typeface="Times New Roman"/>
                <a:cs typeface="Times New Roman"/>
              </a:rPr>
              <a:t>	</a:t>
            </a:r>
            <a:r>
              <a:rPr sz="1300" spc="-10" dirty="0">
                <a:latin typeface="Times New Roman"/>
                <a:cs typeface="Times New Roman"/>
              </a:rPr>
              <a:t>текущее</a:t>
            </a:r>
            <a:endParaRPr sz="13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695"/>
              </a:spcBef>
            </a:pPr>
            <a:r>
              <a:rPr sz="1300" dirty="0">
                <a:latin typeface="Times New Roman"/>
                <a:cs typeface="Times New Roman"/>
              </a:rPr>
              <a:t>то</a:t>
            </a:r>
            <a:r>
              <a:rPr sz="1300" spc="-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x←x</a:t>
            </a:r>
            <a:r>
              <a:rPr sz="1300" dirty="0">
                <a:latin typeface="Cambria Math"/>
                <a:cs typeface="Cambria Math"/>
              </a:rPr>
              <a:t>⋅</a:t>
            </a:r>
            <a:r>
              <a:rPr sz="1300" dirty="0">
                <a:latin typeface="Times New Roman"/>
                <a:cs typeface="Times New Roman"/>
              </a:rPr>
              <a:t>bmod</a:t>
            </a:r>
            <a:r>
              <a:rPr sz="1300" spc="1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p</a:t>
            </a:r>
            <a:r>
              <a:rPr sz="1300" i="1" dirty="0">
                <a:latin typeface="Times New Roman"/>
                <a:cs typeface="Times New Roman"/>
              </a:rPr>
              <a:t>x</a:t>
            </a:r>
            <a:r>
              <a:rPr sz="1300" dirty="0">
                <a:latin typeface="Times New Roman"/>
                <a:cs typeface="Times New Roman"/>
              </a:rPr>
              <a:t>←</a:t>
            </a:r>
            <a:r>
              <a:rPr sz="1300" i="1" dirty="0">
                <a:latin typeface="Times New Roman"/>
                <a:cs typeface="Times New Roman"/>
              </a:rPr>
              <a:t>x</a:t>
            </a:r>
            <a:r>
              <a:rPr sz="1300" dirty="0">
                <a:latin typeface="Cambria Math"/>
                <a:cs typeface="Cambria Math"/>
              </a:rPr>
              <a:t>⋅</a:t>
            </a:r>
            <a:r>
              <a:rPr sz="1300" i="1" dirty="0">
                <a:latin typeface="Times New Roman"/>
                <a:cs typeface="Times New Roman"/>
              </a:rPr>
              <a:t>b</a:t>
            </a:r>
            <a:r>
              <a:rPr sz="1300" dirty="0">
                <a:latin typeface="Times New Roman"/>
                <a:cs typeface="Times New Roman"/>
              </a:rPr>
              <a:t>mod</a:t>
            </a:r>
            <a:r>
              <a:rPr sz="1300" i="1" dirty="0">
                <a:latin typeface="Times New Roman"/>
                <a:cs typeface="Times New Roman"/>
              </a:rPr>
              <a:t>p</a:t>
            </a:r>
            <a:r>
              <a:rPr sz="1300" dirty="0">
                <a:latin typeface="Times New Roman"/>
                <a:cs typeface="Times New Roman"/>
              </a:rPr>
              <a:t>,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β←β+1</a:t>
            </a:r>
            <a:r>
              <a:rPr sz="1300" i="1" spc="-10" dirty="0">
                <a:latin typeface="Times New Roman"/>
                <a:cs typeface="Times New Roman"/>
              </a:rPr>
              <a:t>β</a:t>
            </a:r>
            <a:r>
              <a:rPr sz="1300" spc="-10" dirty="0">
                <a:latin typeface="Times New Roman"/>
                <a:cs typeface="Times New Roman"/>
              </a:rPr>
              <a:t>←</a:t>
            </a:r>
            <a:r>
              <a:rPr sz="1300" i="1" spc="-10" dirty="0">
                <a:latin typeface="Times New Roman"/>
                <a:cs typeface="Times New Roman"/>
              </a:rPr>
              <a:t>β</a:t>
            </a:r>
            <a:r>
              <a:rPr sz="1300" spc="-10" dirty="0">
                <a:latin typeface="Times New Roman"/>
                <a:cs typeface="Times New Roman"/>
              </a:rPr>
              <a:t>+1.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93309" y="6648957"/>
            <a:ext cx="213995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latin typeface="Times New Roman"/>
                <a:cs typeface="Times New Roman"/>
              </a:rPr>
              <a:t>состояние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xmod</a:t>
            </a:r>
            <a:r>
              <a:rPr sz="1300" spc="13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3=0</a:t>
            </a:r>
            <a:r>
              <a:rPr sz="1300" i="1" spc="-10" dirty="0">
                <a:latin typeface="Times New Roman"/>
                <a:cs typeface="Times New Roman"/>
              </a:rPr>
              <a:t>x</a:t>
            </a:r>
            <a:r>
              <a:rPr sz="1300" spc="-10" dirty="0">
                <a:latin typeface="Times New Roman"/>
                <a:cs typeface="Times New Roman"/>
              </a:rPr>
              <a:t>mod3=0,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66596" y="7298563"/>
            <a:ext cx="5965190" cy="12357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228600">
              <a:lnSpc>
                <a:spcPct val="100000"/>
              </a:lnSpc>
              <a:spcBef>
                <a:spcPts val="95"/>
              </a:spcBef>
              <a:buSzPct val="76923"/>
              <a:buFont typeface="Symbol"/>
              <a:buChar char=""/>
              <a:tabLst>
                <a:tab pos="469900" algn="l"/>
              </a:tabLst>
            </a:pPr>
            <a:r>
              <a:rPr sz="1300" dirty="0">
                <a:latin typeface="Times New Roman"/>
                <a:cs typeface="Times New Roman"/>
              </a:rPr>
              <a:t>Если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xmod</a:t>
            </a:r>
            <a:r>
              <a:rPr sz="1300" spc="14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3=1</a:t>
            </a:r>
            <a:r>
              <a:rPr sz="1300" i="1" spc="-10" dirty="0">
                <a:latin typeface="Times New Roman"/>
                <a:cs typeface="Times New Roman"/>
              </a:rPr>
              <a:t>x</a:t>
            </a:r>
            <a:r>
              <a:rPr sz="1300" spc="-10" dirty="0">
                <a:latin typeface="Times New Roman"/>
                <a:cs typeface="Times New Roman"/>
              </a:rPr>
              <a:t>mod3=1,</a:t>
            </a:r>
            <a:r>
              <a:rPr sz="1300" spc="-5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то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x←x2mod</a:t>
            </a:r>
            <a:r>
              <a:rPr sz="1300" spc="15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p</a:t>
            </a:r>
            <a:r>
              <a:rPr sz="1300" i="1" dirty="0">
                <a:latin typeface="Times New Roman"/>
                <a:cs typeface="Times New Roman"/>
              </a:rPr>
              <a:t>x</a:t>
            </a:r>
            <a:r>
              <a:rPr sz="1300" dirty="0">
                <a:latin typeface="Times New Roman"/>
                <a:cs typeface="Times New Roman"/>
              </a:rPr>
              <a:t>←</a:t>
            </a:r>
            <a:r>
              <a:rPr sz="1300" i="1" dirty="0">
                <a:latin typeface="Times New Roman"/>
                <a:cs typeface="Times New Roman"/>
              </a:rPr>
              <a:t>x</a:t>
            </a:r>
            <a:r>
              <a:rPr sz="1300" dirty="0">
                <a:latin typeface="Times New Roman"/>
                <a:cs typeface="Times New Roman"/>
              </a:rPr>
              <a:t>2mod</a:t>
            </a:r>
            <a:r>
              <a:rPr sz="1300" i="1" dirty="0">
                <a:latin typeface="Times New Roman"/>
                <a:cs typeface="Times New Roman"/>
              </a:rPr>
              <a:t>p</a:t>
            </a:r>
            <a:r>
              <a:rPr sz="1300" dirty="0">
                <a:latin typeface="Times New Roman"/>
                <a:cs typeface="Times New Roman"/>
              </a:rPr>
              <a:t>,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α←2α</a:t>
            </a:r>
            <a:r>
              <a:rPr sz="1300" i="1" dirty="0">
                <a:latin typeface="Times New Roman"/>
                <a:cs typeface="Times New Roman"/>
              </a:rPr>
              <a:t>α</a:t>
            </a:r>
            <a:r>
              <a:rPr sz="1300" dirty="0">
                <a:latin typeface="Times New Roman"/>
                <a:cs typeface="Times New Roman"/>
              </a:rPr>
              <a:t>←2</a:t>
            </a:r>
            <a:r>
              <a:rPr sz="1300" i="1" dirty="0">
                <a:latin typeface="Times New Roman"/>
                <a:cs typeface="Times New Roman"/>
              </a:rPr>
              <a:t>α</a:t>
            </a:r>
            <a:r>
              <a:rPr sz="1300" dirty="0">
                <a:latin typeface="Times New Roman"/>
                <a:cs typeface="Times New Roman"/>
              </a:rPr>
              <a:t>,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β←2β</a:t>
            </a:r>
            <a:r>
              <a:rPr sz="1300" i="1" spc="-10" dirty="0">
                <a:latin typeface="Times New Roman"/>
                <a:cs typeface="Times New Roman"/>
              </a:rPr>
              <a:t>β</a:t>
            </a:r>
            <a:r>
              <a:rPr sz="1300" spc="-10" dirty="0">
                <a:latin typeface="Times New Roman"/>
                <a:cs typeface="Times New Roman"/>
              </a:rPr>
              <a:t>←2</a:t>
            </a:r>
            <a:r>
              <a:rPr sz="1300" i="1" spc="-10" dirty="0">
                <a:latin typeface="Times New Roman"/>
                <a:cs typeface="Times New Roman"/>
              </a:rPr>
              <a:t>β</a:t>
            </a:r>
            <a:r>
              <a:rPr sz="1300" spc="-10" dirty="0">
                <a:latin typeface="Times New Roman"/>
                <a:cs typeface="Times New Roman"/>
              </a:rPr>
              <a:t>.</a:t>
            </a:r>
            <a:endParaRPr sz="13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20"/>
              </a:spcBef>
              <a:buSzPct val="76923"/>
              <a:buFont typeface="Symbol"/>
              <a:buChar char=""/>
              <a:tabLst>
                <a:tab pos="469900" algn="l"/>
              </a:tabLst>
            </a:pPr>
            <a:r>
              <a:rPr sz="1300" dirty="0">
                <a:latin typeface="Times New Roman"/>
                <a:cs typeface="Times New Roman"/>
              </a:rPr>
              <a:t>Если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xmod</a:t>
            </a:r>
            <a:r>
              <a:rPr sz="1300" spc="1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3=2</a:t>
            </a:r>
            <a:r>
              <a:rPr sz="1300" i="1" dirty="0">
                <a:latin typeface="Times New Roman"/>
                <a:cs typeface="Times New Roman"/>
              </a:rPr>
              <a:t>x</a:t>
            </a:r>
            <a:r>
              <a:rPr sz="1300" dirty="0">
                <a:latin typeface="Times New Roman"/>
                <a:cs typeface="Times New Roman"/>
              </a:rPr>
              <a:t>mod3=2,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то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x←x</a:t>
            </a:r>
            <a:r>
              <a:rPr sz="1300" dirty="0">
                <a:latin typeface="Cambria Math"/>
                <a:cs typeface="Cambria Math"/>
              </a:rPr>
              <a:t>⋅</a:t>
            </a:r>
            <a:r>
              <a:rPr sz="1300" dirty="0">
                <a:latin typeface="Times New Roman"/>
                <a:cs typeface="Times New Roman"/>
              </a:rPr>
              <a:t>amod</a:t>
            </a:r>
            <a:r>
              <a:rPr sz="1300" spc="1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p</a:t>
            </a:r>
            <a:r>
              <a:rPr sz="1300" i="1" dirty="0">
                <a:latin typeface="Times New Roman"/>
                <a:cs typeface="Times New Roman"/>
              </a:rPr>
              <a:t>x</a:t>
            </a:r>
            <a:r>
              <a:rPr sz="1300" dirty="0">
                <a:latin typeface="Times New Roman"/>
                <a:cs typeface="Times New Roman"/>
              </a:rPr>
              <a:t>←</a:t>
            </a:r>
            <a:r>
              <a:rPr sz="1300" i="1" dirty="0">
                <a:latin typeface="Times New Roman"/>
                <a:cs typeface="Times New Roman"/>
              </a:rPr>
              <a:t>x</a:t>
            </a:r>
            <a:r>
              <a:rPr sz="1300" dirty="0">
                <a:latin typeface="Cambria Math"/>
                <a:cs typeface="Cambria Math"/>
              </a:rPr>
              <a:t>⋅</a:t>
            </a:r>
            <a:r>
              <a:rPr sz="1300" i="1" dirty="0">
                <a:latin typeface="Times New Roman"/>
                <a:cs typeface="Times New Roman"/>
              </a:rPr>
              <a:t>a</a:t>
            </a:r>
            <a:r>
              <a:rPr sz="1300" dirty="0">
                <a:latin typeface="Times New Roman"/>
                <a:cs typeface="Times New Roman"/>
              </a:rPr>
              <a:t>mod</a:t>
            </a:r>
            <a:r>
              <a:rPr sz="1300" i="1" dirty="0">
                <a:latin typeface="Times New Roman"/>
                <a:cs typeface="Times New Roman"/>
              </a:rPr>
              <a:t>p</a:t>
            </a:r>
            <a:r>
              <a:rPr sz="1300" dirty="0">
                <a:latin typeface="Times New Roman"/>
                <a:cs typeface="Times New Roman"/>
              </a:rPr>
              <a:t>,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α←α+1</a:t>
            </a:r>
            <a:r>
              <a:rPr sz="1300" i="1" spc="-10" dirty="0">
                <a:latin typeface="Times New Roman"/>
                <a:cs typeface="Times New Roman"/>
              </a:rPr>
              <a:t>α</a:t>
            </a:r>
            <a:r>
              <a:rPr sz="1300" spc="-10" dirty="0">
                <a:latin typeface="Times New Roman"/>
                <a:cs typeface="Times New Roman"/>
              </a:rPr>
              <a:t>←</a:t>
            </a:r>
            <a:r>
              <a:rPr sz="1300" i="1" spc="-10" dirty="0">
                <a:latin typeface="Times New Roman"/>
                <a:cs typeface="Times New Roman"/>
              </a:rPr>
              <a:t>α</a:t>
            </a:r>
            <a:r>
              <a:rPr sz="1300" spc="-10" dirty="0">
                <a:latin typeface="Times New Roman"/>
                <a:cs typeface="Times New Roman"/>
              </a:rPr>
              <a:t>+1.</a:t>
            </a:r>
            <a:endParaRPr sz="1300">
              <a:latin typeface="Times New Roman"/>
              <a:cs typeface="Times New Roman"/>
            </a:endParaRPr>
          </a:p>
          <a:p>
            <a:pPr marL="12700" marR="5080">
              <a:lnSpc>
                <a:spcPct val="143100"/>
              </a:lnSpc>
              <a:spcBef>
                <a:spcPts val="625"/>
              </a:spcBef>
            </a:pPr>
            <a:r>
              <a:rPr sz="1300" spc="-10" dirty="0">
                <a:latin typeface="Times New Roman"/>
                <a:cs typeface="Times New Roman"/>
              </a:rPr>
              <a:t>Метод</a:t>
            </a:r>
            <a:r>
              <a:rPr sz="1300" spc="-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основан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на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поиске </a:t>
            </a:r>
            <a:r>
              <a:rPr sz="1300" spc="-20" dirty="0">
                <a:latin typeface="Times New Roman"/>
                <a:cs typeface="Times New Roman"/>
              </a:rPr>
              <a:t>коллизий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с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использованием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«черепахи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и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зайца»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(алгоритм Флойда).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66596" y="9758882"/>
            <a:ext cx="99250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latin typeface="Times New Roman"/>
                <a:cs typeface="Times New Roman"/>
              </a:rPr>
              <a:t>Реализация</a:t>
            </a:r>
            <a:r>
              <a:rPr sz="1300" b="1" spc="-75" dirty="0">
                <a:latin typeface="Times New Roman"/>
                <a:cs typeface="Times New Roman"/>
              </a:rPr>
              <a:t> </a:t>
            </a:r>
            <a:r>
              <a:rPr sz="1300" b="1" spc="-50" dirty="0">
                <a:latin typeface="Times New Roman"/>
                <a:cs typeface="Times New Roman"/>
              </a:rPr>
              <a:t>: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6596" y="602640"/>
            <a:ext cx="5970270" cy="5937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3335">
              <a:lnSpc>
                <a:spcPct val="144600"/>
              </a:lnSpc>
              <a:spcBef>
                <a:spcPts val="100"/>
              </a:spcBef>
            </a:pPr>
            <a:r>
              <a:rPr sz="1300" dirty="0">
                <a:latin typeface="Times New Roman"/>
                <a:cs typeface="Times New Roman"/>
              </a:rPr>
              <a:t>Программа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написана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на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языке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Python.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В</a:t>
            </a:r>
            <a:r>
              <a:rPr sz="1300" spc="-5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ходе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работы</a:t>
            </a:r>
            <a:r>
              <a:rPr sz="1300" spc="-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были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реализованы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следующие функции:</a:t>
            </a:r>
            <a:endParaRPr sz="13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270"/>
              </a:spcBef>
              <a:buSzPct val="76923"/>
              <a:buFont typeface="Symbol"/>
              <a:buChar char=""/>
              <a:tabLst>
                <a:tab pos="469900" algn="l"/>
              </a:tabLst>
            </a:pPr>
            <a:r>
              <a:rPr sz="1300" spc="-10" dirty="0">
                <a:latin typeface="Times New Roman"/>
                <a:cs typeface="Times New Roman"/>
              </a:rPr>
              <a:t>pollard_rho_dlog(p,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a,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b,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r,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max_iter)</a:t>
            </a:r>
            <a:r>
              <a:rPr sz="1300" spc="-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— реализация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ρ-метода</a:t>
            </a:r>
            <a:r>
              <a:rPr sz="1300" spc="-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Полларда.</a:t>
            </a:r>
            <a:endParaRPr sz="13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00"/>
              </a:spcBef>
              <a:buSzPct val="76923"/>
              <a:buFont typeface="Symbol"/>
              <a:buChar char=""/>
              <a:tabLst>
                <a:tab pos="469900" algn="l"/>
              </a:tabLst>
            </a:pPr>
            <a:r>
              <a:rPr sz="1300" dirty="0">
                <a:latin typeface="Times New Roman"/>
                <a:cs typeface="Times New Roman"/>
              </a:rPr>
              <a:t>verify_dlog(p,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a,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b,</a:t>
            </a:r>
            <a:r>
              <a:rPr sz="1300" spc="-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x)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—</a:t>
            </a:r>
            <a:r>
              <a:rPr sz="1300" spc="-4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проверка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найденного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значения.</a:t>
            </a:r>
            <a:endParaRPr sz="13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275"/>
              </a:spcBef>
              <a:buSzPct val="76923"/>
              <a:buFont typeface="Symbol"/>
              <a:buChar char=""/>
              <a:tabLst>
                <a:tab pos="469900" algn="l"/>
              </a:tabLst>
            </a:pPr>
            <a:r>
              <a:rPr sz="1300" spc="-10" dirty="0">
                <a:latin typeface="Times New Roman"/>
                <a:cs typeface="Times New Roman"/>
              </a:rPr>
              <a:t>Вспомогательная</a:t>
            </a:r>
            <a:r>
              <a:rPr sz="130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итерационная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функция</a:t>
            </a:r>
            <a:r>
              <a:rPr sz="1300" spc="30" dirty="0">
                <a:latin typeface="Times New Roman"/>
                <a:cs typeface="Times New Roman"/>
              </a:rPr>
              <a:t> </a:t>
            </a:r>
            <a:r>
              <a:rPr sz="1300" spc="-25" dirty="0">
                <a:latin typeface="Times New Roman"/>
                <a:cs typeface="Times New Roman"/>
              </a:rPr>
              <a:t>f.</a:t>
            </a:r>
            <a:endParaRPr sz="1300">
              <a:latin typeface="Times New Roman"/>
              <a:cs typeface="Times New Roman"/>
            </a:endParaRPr>
          </a:p>
          <a:p>
            <a:pPr marL="12700" marR="5080">
              <a:lnSpc>
                <a:spcPct val="144700"/>
              </a:lnSpc>
              <a:spcBef>
                <a:spcPts val="570"/>
              </a:spcBef>
            </a:pPr>
            <a:r>
              <a:rPr sz="1300" dirty="0">
                <a:latin typeface="Times New Roman"/>
                <a:cs typeface="Times New Roman"/>
              </a:rPr>
              <a:t>Программа</a:t>
            </a:r>
            <a:r>
              <a:rPr sz="1300" spc="24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принимает</a:t>
            </a:r>
            <a:r>
              <a:rPr sz="1300" spc="25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на</a:t>
            </a:r>
            <a:r>
              <a:rPr sz="1300" spc="2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вход</a:t>
            </a:r>
            <a:r>
              <a:rPr sz="1300" spc="229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параметры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p,a,b,r</a:t>
            </a:r>
            <a:r>
              <a:rPr sz="1300" i="1" dirty="0">
                <a:latin typeface="Times New Roman"/>
                <a:cs typeface="Times New Roman"/>
              </a:rPr>
              <a:t>p</a:t>
            </a:r>
            <a:r>
              <a:rPr sz="1300" dirty="0">
                <a:latin typeface="Times New Roman"/>
                <a:cs typeface="Times New Roman"/>
              </a:rPr>
              <a:t>,</a:t>
            </a:r>
            <a:r>
              <a:rPr sz="1300" i="1" dirty="0">
                <a:latin typeface="Times New Roman"/>
                <a:cs typeface="Times New Roman"/>
              </a:rPr>
              <a:t>a</a:t>
            </a:r>
            <a:r>
              <a:rPr sz="1300" dirty="0">
                <a:latin typeface="Times New Roman"/>
                <a:cs typeface="Times New Roman"/>
              </a:rPr>
              <a:t>,</a:t>
            </a:r>
            <a:r>
              <a:rPr sz="1300" i="1" dirty="0">
                <a:latin typeface="Times New Roman"/>
                <a:cs typeface="Times New Roman"/>
              </a:rPr>
              <a:t>b</a:t>
            </a:r>
            <a:r>
              <a:rPr sz="1300" dirty="0">
                <a:latin typeface="Times New Roman"/>
                <a:cs typeface="Times New Roman"/>
              </a:rPr>
              <a:t>,</a:t>
            </a:r>
            <a:r>
              <a:rPr sz="1300" i="1" dirty="0">
                <a:latin typeface="Times New Roman"/>
                <a:cs typeface="Times New Roman"/>
              </a:rPr>
              <a:t>r</a:t>
            </a:r>
            <a:r>
              <a:rPr sz="1300" i="1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и</a:t>
            </a:r>
            <a:r>
              <a:rPr sz="1300" spc="19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возвращает</a:t>
            </a:r>
            <a:r>
              <a:rPr sz="1300" spc="229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значение</a:t>
            </a:r>
            <a:r>
              <a:rPr sz="1300" spc="-5" dirty="0">
                <a:latin typeface="Times New Roman"/>
                <a:cs typeface="Times New Roman"/>
              </a:rPr>
              <a:t> </a:t>
            </a:r>
            <a:r>
              <a:rPr sz="1300" spc="-25" dirty="0">
                <a:latin typeface="Times New Roman"/>
                <a:cs typeface="Times New Roman"/>
              </a:rPr>
              <a:t>x</a:t>
            </a:r>
            <a:r>
              <a:rPr sz="1300" i="1" spc="-25" dirty="0">
                <a:latin typeface="Times New Roman"/>
                <a:cs typeface="Times New Roman"/>
              </a:rPr>
              <a:t>x</a:t>
            </a:r>
            <a:r>
              <a:rPr sz="1300" spc="-25" dirty="0">
                <a:latin typeface="Times New Roman"/>
                <a:cs typeface="Times New Roman"/>
              </a:rPr>
              <a:t>, </a:t>
            </a:r>
            <a:r>
              <a:rPr sz="1300" dirty="0">
                <a:latin typeface="Times New Roman"/>
                <a:cs typeface="Times New Roman"/>
              </a:rPr>
              <a:t>если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оно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найдено,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либо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сообщение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об</a:t>
            </a:r>
            <a:r>
              <a:rPr sz="1300" spc="-4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ошибке.</a:t>
            </a: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1300" b="1" spc="-10" dirty="0">
                <a:latin typeface="Times New Roman"/>
                <a:cs typeface="Times New Roman"/>
              </a:rPr>
              <a:t>Вычислительный</a:t>
            </a:r>
            <a:r>
              <a:rPr sz="1300" b="1" spc="50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эксперимент</a:t>
            </a: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70"/>
              </a:spcBef>
            </a:pPr>
            <a:r>
              <a:rPr sz="1300" dirty="0">
                <a:latin typeface="Times New Roman"/>
                <a:cs typeface="Times New Roman"/>
              </a:rPr>
              <a:t>В</a:t>
            </a:r>
            <a:r>
              <a:rPr sz="1300" spc="-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качестве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тестового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примера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были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взяты</a:t>
            </a:r>
            <a:r>
              <a:rPr sz="1300" spc="-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параметры</a:t>
            </a:r>
            <a:r>
              <a:rPr sz="1300" spc="-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из</a:t>
            </a:r>
            <a:r>
              <a:rPr sz="1300" spc="-35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Times New Roman"/>
                <a:cs typeface="Times New Roman"/>
              </a:rPr>
              <a:t>методического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пособия:</a:t>
            </a:r>
            <a:endParaRPr sz="13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275"/>
              </a:spcBef>
              <a:buSzPct val="76923"/>
              <a:buFont typeface="Symbol"/>
              <a:buChar char=""/>
              <a:tabLst>
                <a:tab pos="469900" algn="l"/>
              </a:tabLst>
            </a:pPr>
            <a:r>
              <a:rPr sz="1300" spc="-10" dirty="0">
                <a:latin typeface="Times New Roman"/>
                <a:cs typeface="Times New Roman"/>
              </a:rPr>
              <a:t>p=107</a:t>
            </a:r>
            <a:r>
              <a:rPr sz="1300" i="1" spc="-10" dirty="0">
                <a:latin typeface="Times New Roman"/>
                <a:cs typeface="Times New Roman"/>
              </a:rPr>
              <a:t>p</a:t>
            </a:r>
            <a:r>
              <a:rPr sz="1300" spc="-10" dirty="0">
                <a:latin typeface="Times New Roman"/>
                <a:cs typeface="Times New Roman"/>
              </a:rPr>
              <a:t>=107</a:t>
            </a:r>
            <a:endParaRPr sz="13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295"/>
              </a:spcBef>
              <a:buSzPct val="76923"/>
              <a:buFont typeface="Symbol"/>
              <a:buChar char=""/>
              <a:tabLst>
                <a:tab pos="469900" algn="l"/>
              </a:tabLst>
            </a:pPr>
            <a:r>
              <a:rPr sz="1300" spc="-10" dirty="0">
                <a:latin typeface="Times New Roman"/>
                <a:cs typeface="Times New Roman"/>
              </a:rPr>
              <a:t>a=10</a:t>
            </a:r>
            <a:r>
              <a:rPr sz="1300" i="1" spc="-10" dirty="0">
                <a:latin typeface="Times New Roman"/>
                <a:cs typeface="Times New Roman"/>
              </a:rPr>
              <a:t>a</a:t>
            </a:r>
            <a:r>
              <a:rPr sz="1300" spc="-10" dirty="0">
                <a:latin typeface="Times New Roman"/>
                <a:cs typeface="Times New Roman"/>
              </a:rPr>
              <a:t>=10</a:t>
            </a:r>
            <a:endParaRPr sz="13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275"/>
              </a:spcBef>
              <a:buSzPct val="76923"/>
              <a:buFont typeface="Symbol"/>
              <a:buChar char=""/>
              <a:tabLst>
                <a:tab pos="469900" algn="l"/>
              </a:tabLst>
            </a:pPr>
            <a:r>
              <a:rPr sz="1300" spc="-10" dirty="0">
                <a:latin typeface="Times New Roman"/>
                <a:cs typeface="Times New Roman"/>
              </a:rPr>
              <a:t>b=64</a:t>
            </a:r>
            <a:r>
              <a:rPr sz="1300" i="1" spc="-10" dirty="0">
                <a:latin typeface="Times New Roman"/>
                <a:cs typeface="Times New Roman"/>
              </a:rPr>
              <a:t>b</a:t>
            </a:r>
            <a:r>
              <a:rPr sz="1300" spc="-10" dirty="0">
                <a:latin typeface="Times New Roman"/>
                <a:cs typeface="Times New Roman"/>
              </a:rPr>
              <a:t>=64</a:t>
            </a:r>
            <a:endParaRPr sz="13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270"/>
              </a:spcBef>
              <a:buSzPct val="76923"/>
              <a:buFont typeface="Symbol"/>
              <a:buChar char=""/>
              <a:tabLst>
                <a:tab pos="469900" algn="l"/>
              </a:tabLst>
            </a:pPr>
            <a:r>
              <a:rPr sz="1300" dirty="0">
                <a:latin typeface="Times New Roman"/>
                <a:cs typeface="Times New Roman"/>
              </a:rPr>
              <a:t>r=53</a:t>
            </a:r>
            <a:r>
              <a:rPr sz="1300" i="1" dirty="0">
                <a:latin typeface="Times New Roman"/>
                <a:cs typeface="Times New Roman"/>
              </a:rPr>
              <a:t>r</a:t>
            </a:r>
            <a:r>
              <a:rPr sz="1300" dirty="0">
                <a:latin typeface="Times New Roman"/>
                <a:cs typeface="Times New Roman"/>
              </a:rPr>
              <a:t>=53</a:t>
            </a:r>
            <a:r>
              <a:rPr sz="1300" spc="-5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(порядок</a:t>
            </a:r>
            <a:r>
              <a:rPr sz="1300" spc="-5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элемента</a:t>
            </a:r>
            <a:r>
              <a:rPr sz="1300" spc="-45" dirty="0">
                <a:latin typeface="Times New Roman"/>
                <a:cs typeface="Times New Roman"/>
              </a:rPr>
              <a:t> </a:t>
            </a:r>
            <a:r>
              <a:rPr sz="1300" spc="-25" dirty="0">
                <a:latin typeface="Times New Roman"/>
                <a:cs typeface="Times New Roman"/>
              </a:rPr>
              <a:t>a</a:t>
            </a:r>
            <a:r>
              <a:rPr sz="1300" i="1" spc="-25" dirty="0">
                <a:latin typeface="Times New Roman"/>
                <a:cs typeface="Times New Roman"/>
              </a:rPr>
              <a:t>a</a:t>
            </a:r>
            <a:r>
              <a:rPr sz="1300" spc="-25" dirty="0">
                <a:latin typeface="Times New Roman"/>
                <a:cs typeface="Times New Roman"/>
              </a:rPr>
              <a:t>)</a:t>
            </a: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300" b="1" spc="-20" dirty="0">
                <a:latin typeface="Times New Roman"/>
                <a:cs typeface="Times New Roman"/>
              </a:rPr>
              <a:t>Результат </a:t>
            </a:r>
            <a:r>
              <a:rPr sz="1300" b="1" spc="-10" dirty="0">
                <a:latin typeface="Times New Roman"/>
                <a:cs typeface="Times New Roman"/>
              </a:rPr>
              <a:t>работы</a:t>
            </a:r>
            <a:r>
              <a:rPr sz="1300" b="1" spc="-30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программы:</a:t>
            </a:r>
            <a:endParaRPr sz="13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250"/>
              </a:spcBef>
              <a:buSzPct val="76923"/>
              <a:buFont typeface="Symbol"/>
              <a:buChar char=""/>
              <a:tabLst>
                <a:tab pos="469900" algn="l"/>
              </a:tabLst>
            </a:pPr>
            <a:r>
              <a:rPr sz="1300" dirty="0">
                <a:latin typeface="Times New Roman"/>
                <a:cs typeface="Times New Roman"/>
              </a:rPr>
              <a:t>Найденный</a:t>
            </a:r>
            <a:r>
              <a:rPr sz="1300" spc="-8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x=20</a:t>
            </a:r>
            <a:r>
              <a:rPr sz="1300" i="1" spc="-10" dirty="0">
                <a:latin typeface="Times New Roman"/>
                <a:cs typeface="Times New Roman"/>
              </a:rPr>
              <a:t>x</a:t>
            </a:r>
            <a:r>
              <a:rPr sz="1300" spc="-10" dirty="0">
                <a:latin typeface="Times New Roman"/>
                <a:cs typeface="Times New Roman"/>
              </a:rPr>
              <a:t>=20</a:t>
            </a:r>
            <a:endParaRPr sz="1300">
              <a:latin typeface="Times New Roman"/>
              <a:cs typeface="Times New Roman"/>
            </a:endParaRPr>
          </a:p>
          <a:p>
            <a:pPr marL="12700" marR="1677035" indent="457200">
              <a:lnSpc>
                <a:spcPct val="181500"/>
              </a:lnSpc>
              <a:spcBef>
                <a:spcPts val="25"/>
              </a:spcBef>
              <a:buSzPct val="76923"/>
              <a:buFont typeface="Symbol"/>
              <a:buChar char=""/>
              <a:tabLst>
                <a:tab pos="469900" algn="l"/>
              </a:tabLst>
            </a:pPr>
            <a:r>
              <a:rPr sz="1300" dirty="0">
                <a:latin typeface="Times New Roman"/>
                <a:cs typeface="Times New Roman"/>
              </a:rPr>
              <a:t>Проверка:</a:t>
            </a:r>
            <a:r>
              <a:rPr sz="1300" spc="-5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1020mod</a:t>
            </a:r>
            <a:r>
              <a:rPr sz="1300" spc="10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107=641020mod107=64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—</a:t>
            </a:r>
            <a:r>
              <a:rPr sz="1300" spc="-7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верно. Также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был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проведён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перебор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для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подтверждения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результата.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6596" y="7402194"/>
            <a:ext cx="5965825" cy="14363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5244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latin typeface="Times New Roman"/>
                <a:cs typeface="Times New Roman"/>
              </a:rPr>
              <a:t>Выводы</a:t>
            </a:r>
            <a:endParaRPr sz="13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3600"/>
              </a:lnSpc>
              <a:spcBef>
                <a:spcPts val="590"/>
              </a:spcBef>
            </a:pPr>
            <a:r>
              <a:rPr sz="1300" dirty="0">
                <a:latin typeface="Times New Roman"/>
                <a:cs typeface="Times New Roman"/>
              </a:rPr>
              <a:t>В</a:t>
            </a:r>
            <a:r>
              <a:rPr sz="1300" spc="-50" dirty="0">
                <a:latin typeface="Times New Roman"/>
                <a:cs typeface="Times New Roman"/>
              </a:rPr>
              <a:t> </a:t>
            </a:r>
            <a:r>
              <a:rPr sz="1300" spc="-40" dirty="0">
                <a:latin typeface="Times New Roman"/>
                <a:cs typeface="Times New Roman"/>
              </a:rPr>
              <a:t>ходе </a:t>
            </a:r>
            <a:r>
              <a:rPr sz="1300" spc="-10" dirty="0">
                <a:latin typeface="Times New Roman"/>
                <a:cs typeface="Times New Roman"/>
              </a:rPr>
              <a:t>лабораторной</a:t>
            </a:r>
            <a:r>
              <a:rPr sz="1300" spc="-3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работы</a:t>
            </a:r>
            <a:r>
              <a:rPr sz="1300" spc="-5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был</a:t>
            </a:r>
            <a:r>
              <a:rPr sz="1300" spc="-4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изучен</a:t>
            </a:r>
            <a:r>
              <a:rPr sz="1300" spc="-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и</a:t>
            </a:r>
            <a:r>
              <a:rPr sz="1300" spc="-6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программно</a:t>
            </a:r>
            <a:r>
              <a:rPr sz="1300" spc="-4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реализован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ρ-</a:t>
            </a:r>
            <a:r>
              <a:rPr sz="1300" spc="-20" dirty="0">
                <a:latin typeface="Times New Roman"/>
                <a:cs typeface="Times New Roman"/>
              </a:rPr>
              <a:t>метод</a:t>
            </a:r>
            <a:r>
              <a:rPr sz="1300" spc="-5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Полларда </a:t>
            </a:r>
            <a:r>
              <a:rPr sz="1300" dirty="0">
                <a:latin typeface="Times New Roman"/>
                <a:cs typeface="Times New Roman"/>
              </a:rPr>
              <a:t>для</a:t>
            </a:r>
            <a:r>
              <a:rPr sz="1300" spc="28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решения</a:t>
            </a:r>
            <a:r>
              <a:rPr sz="1300" spc="29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задачи</a:t>
            </a:r>
            <a:r>
              <a:rPr sz="1300" spc="3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дискретного</a:t>
            </a:r>
            <a:r>
              <a:rPr sz="1300" spc="28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логарифмирования.</a:t>
            </a:r>
            <a:r>
              <a:rPr sz="1300" spc="30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Алгоритм</a:t>
            </a:r>
            <a:r>
              <a:rPr sz="1300" spc="28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успешно</a:t>
            </a:r>
            <a:r>
              <a:rPr sz="1300" spc="29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нашёл </a:t>
            </a:r>
            <a:r>
              <a:rPr sz="1300" dirty="0">
                <a:latin typeface="Times New Roman"/>
                <a:cs typeface="Times New Roman"/>
              </a:rPr>
              <a:t>дискретный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логарифм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для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заданных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параметров.</a:t>
            </a:r>
            <a:r>
              <a:rPr sz="1300" spc="-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Полученные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результаты</a:t>
            </a:r>
            <a:r>
              <a:rPr sz="1300" spc="-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совпали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spc="-50" dirty="0">
                <a:latin typeface="Times New Roman"/>
                <a:cs typeface="Times New Roman"/>
              </a:rPr>
              <a:t>с </a:t>
            </a:r>
            <a:r>
              <a:rPr sz="1300" spc="-10" dirty="0">
                <a:latin typeface="Times New Roman"/>
                <a:cs typeface="Times New Roman"/>
              </a:rPr>
              <a:t>примером</a:t>
            </a:r>
            <a:r>
              <a:rPr sz="1300" dirty="0">
                <a:latin typeface="Times New Roman"/>
                <a:cs typeface="Times New Roman"/>
              </a:rPr>
              <a:t> из</a:t>
            </a:r>
            <a:r>
              <a:rPr sz="1300" spc="-5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Times New Roman"/>
                <a:cs typeface="Times New Roman"/>
              </a:rPr>
              <a:t>методического</a:t>
            </a:r>
            <a:r>
              <a:rPr sz="1300" dirty="0">
                <a:latin typeface="Times New Roman"/>
                <a:cs typeface="Times New Roman"/>
              </a:rPr>
              <a:t> пособия,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что </a:t>
            </a:r>
            <a:r>
              <a:rPr sz="1300" spc="-10" dirty="0">
                <a:latin typeface="Times New Roman"/>
                <a:cs typeface="Times New Roman"/>
              </a:rPr>
              <a:t>подтверждает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корректность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реализации.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444</Words>
  <Application>Microsoft Office PowerPoint</Application>
  <PresentationFormat>Custom</PresentationFormat>
  <Paragraphs>40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Calibri</vt:lpstr>
      <vt:lpstr>Cambria Math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Ever</dc:creator>
  <cp:lastModifiedBy>Amine Moumene</cp:lastModifiedBy>
  <cp:revision>1</cp:revision>
  <dcterms:created xsi:type="dcterms:W3CDTF">2026-03-13T20:41:16Z</dcterms:created>
  <dcterms:modified xsi:type="dcterms:W3CDTF">2026-03-13T20:44:41Z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2026-03-13T00:00:00Z</vt:filetime>
  </property>
  <property fmtid="{D5CDD505-2E9C-101B-9397-08002B2CF9AE}" pid="3" name="Creator">
    <vt:lpwstr>Microsoft® Word 2016</vt:lpwstr>
  </property>
  <property fmtid="{D5CDD505-2E9C-101B-9397-08002B2CF9AE}" pid="4" name="LastSaved">
    <vt:filetime>2026-03-13T00:00:00Z</vt:filetime>
  </property>
  <property fmtid="{D5CDD505-2E9C-101B-9397-08002B2CF9AE}" pid="5" name="Producer">
    <vt:lpwstr>www.ilovepdf.com</vt:lpwstr>
  </property>
</Properties>
</file>