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9633" y="692911"/>
            <a:ext cx="520255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ДРУЖБЫ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0085" marR="107950" indent="74295">
              <a:lnSpc>
                <a:spcPct val="182300"/>
              </a:lnSpc>
              <a:spcBef>
                <a:spcPts val="195"/>
              </a:spcBef>
            </a:pPr>
            <a:r>
              <a:rPr sz="1300" b="1" spc="-20" dirty="0">
                <a:latin typeface="Times New Roman"/>
                <a:cs typeface="Times New Roman"/>
              </a:rPr>
              <a:t>Факультет</a:t>
            </a:r>
            <a:r>
              <a:rPr sz="1300" b="1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3058" y="2925825"/>
            <a:ext cx="5447665" cy="1544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9385"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7480" algn="ctr">
              <a:lnSpc>
                <a:spcPct val="100000"/>
              </a:lnSpc>
              <a:spcBef>
                <a:spcPts val="1445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40" dirty="0">
                <a:latin typeface="Times New Roman"/>
                <a:cs typeface="Times New Roman"/>
              </a:rPr>
              <a:t> ЛАБОРАТОРНОЙ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РАБОТЕ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u="sng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</a:t>
            </a:r>
            <a:endParaRPr sz="1600" dirty="0">
              <a:latin typeface="Times New Roman"/>
              <a:cs typeface="Times New Roman"/>
            </a:endParaRPr>
          </a:p>
          <a:p>
            <a:pPr marL="1515110" marR="5080" indent="-1503045">
              <a:lnSpc>
                <a:spcPct val="143800"/>
              </a:lnSpc>
              <a:spcBef>
                <a:spcPts val="116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296" y="7257668"/>
            <a:ext cx="161099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28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НФИмд-01-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410" y="9423603"/>
            <a:ext cx="1258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75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692911"/>
            <a:ext cx="5962650" cy="92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Цель </a:t>
            </a:r>
            <a:r>
              <a:rPr sz="1400" b="1" spc="-10" dirty="0">
                <a:latin typeface="Times New Roman"/>
                <a:cs typeface="Times New Roman"/>
              </a:rPr>
              <a:t>работы: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  <a:spcBef>
                <a:spcPts val="590"/>
              </a:spcBef>
            </a:pPr>
            <a:r>
              <a:rPr sz="1400" dirty="0">
                <a:latin typeface="Times New Roman"/>
                <a:cs typeface="Times New Roman"/>
              </a:rPr>
              <a:t>Программная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реализация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алгоритмов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сложения,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вычитания,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умножения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и </a:t>
            </a:r>
            <a:r>
              <a:rPr sz="1400" dirty="0">
                <a:latin typeface="Times New Roman"/>
                <a:cs typeface="Times New Roman"/>
              </a:rPr>
              <a:t>деления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больших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целых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чисел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заданной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системе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счисления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6669" y="2148585"/>
            <a:ext cx="2046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3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Теоретическая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часть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120" y="2912109"/>
            <a:ext cx="5963285" cy="246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Необходимо</a:t>
            </a:r>
            <a:r>
              <a:rPr sz="1400" spc="-10" dirty="0">
                <a:latin typeface="Times New Roman"/>
                <a:cs typeface="Times New Roman"/>
              </a:rPr>
              <a:t> реализовать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языке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Python</a:t>
            </a:r>
            <a:r>
              <a:rPr sz="1400" spc="-10" dirty="0">
                <a:latin typeface="Times New Roman"/>
                <a:cs typeface="Times New Roman"/>
              </a:rPr>
              <a:t> алгоритмы: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4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сложения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неотрицательных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целых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чисел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(Алгоритм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1);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вычитания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неотрицательных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целых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чисел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(Алгоритм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2);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умножения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чисел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столбиком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(Алгоритм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3);</a:t>
            </a: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деления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остатком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(Алгоритм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1.1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из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методички).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  <a:spcBef>
                <a:spcPts val="600"/>
              </a:spcBef>
            </a:pPr>
            <a:r>
              <a:rPr sz="1400" dirty="0">
                <a:latin typeface="Times New Roman"/>
                <a:cs typeface="Times New Roman"/>
              </a:rPr>
              <a:t>Все</a:t>
            </a:r>
            <a:r>
              <a:rPr sz="1400" spc="4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числа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представляются</a:t>
            </a:r>
            <a:r>
              <a:rPr sz="1400" spc="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виде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списка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цифр</a:t>
            </a:r>
            <a:r>
              <a:rPr sz="1400" spc="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системе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счисления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с </a:t>
            </a:r>
            <a:r>
              <a:rPr sz="1400" dirty="0">
                <a:latin typeface="Times New Roman"/>
                <a:cs typeface="Times New Roman"/>
              </a:rPr>
              <a:t>основанием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b≥2</a:t>
            </a:r>
            <a:r>
              <a:rPr sz="1400" i="1" spc="-10" dirty="0">
                <a:latin typeface="Times New Roman"/>
                <a:cs typeface="Times New Roman"/>
              </a:rPr>
              <a:t>b</a:t>
            </a:r>
            <a:r>
              <a:rPr sz="1400" spc="-10" dirty="0">
                <a:latin typeface="Times New Roman"/>
                <a:cs typeface="Times New Roman"/>
              </a:rPr>
              <a:t>≥2.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120" y="6606920"/>
            <a:ext cx="5965190" cy="3371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Реализация</a:t>
            </a:r>
            <a:r>
              <a:rPr sz="1300" b="1" spc="-8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  <a:p>
            <a:pPr marL="468630" indent="-227965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68630" algn="l"/>
              </a:tabLst>
            </a:pPr>
            <a:r>
              <a:rPr sz="1300" spc="-10" dirty="0">
                <a:latin typeface="Times New Roman"/>
                <a:cs typeface="Times New Roman"/>
              </a:rPr>
              <a:t>align_numbers(u,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v)</a:t>
            </a:r>
            <a:endParaRPr sz="13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80"/>
              </a:spcBef>
            </a:pPr>
            <a:r>
              <a:rPr sz="1300" spc="-10" dirty="0">
                <a:latin typeface="Times New Roman"/>
                <a:cs typeface="Times New Roman"/>
              </a:rPr>
              <a:t>Выравнивает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длины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двух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чисел,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добавляя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ведущие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нули.</a:t>
            </a:r>
            <a:endParaRPr sz="1300">
              <a:latin typeface="Times New Roman"/>
              <a:cs typeface="Times New Roman"/>
            </a:endParaRPr>
          </a:p>
          <a:p>
            <a:pPr marL="468630" indent="-227965">
              <a:lnSpc>
                <a:spcPct val="100000"/>
              </a:lnSpc>
              <a:spcBef>
                <a:spcPts val="1285"/>
              </a:spcBef>
              <a:buAutoNum type="arabicPeriod" startAt="2"/>
              <a:tabLst>
                <a:tab pos="468630" algn="l"/>
              </a:tabLst>
            </a:pPr>
            <a:r>
              <a:rPr sz="1300" spc="-10" dirty="0">
                <a:latin typeface="Times New Roman"/>
                <a:cs typeface="Times New Roman"/>
              </a:rPr>
              <a:t>remove_leading_zeros(num)</a:t>
            </a:r>
            <a:endParaRPr sz="13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90"/>
              </a:spcBef>
            </a:pPr>
            <a:r>
              <a:rPr sz="1300" spc="-25" dirty="0">
                <a:latin typeface="Times New Roman"/>
                <a:cs typeface="Times New Roman"/>
              </a:rPr>
              <a:t>Удаляет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ведущие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нули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из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списка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цифр.</a:t>
            </a:r>
            <a:endParaRPr sz="1300">
              <a:latin typeface="Times New Roman"/>
              <a:cs typeface="Times New Roman"/>
            </a:endParaRPr>
          </a:p>
          <a:p>
            <a:pPr marL="468630" indent="-227965">
              <a:lnSpc>
                <a:spcPct val="100000"/>
              </a:lnSpc>
              <a:spcBef>
                <a:spcPts val="1270"/>
              </a:spcBef>
              <a:buAutoNum type="arabicPeriod" startAt="3"/>
              <a:tabLst>
                <a:tab pos="468630" algn="l"/>
              </a:tabLst>
            </a:pPr>
            <a:r>
              <a:rPr sz="1300" dirty="0">
                <a:latin typeface="Times New Roman"/>
                <a:cs typeface="Times New Roman"/>
              </a:rPr>
              <a:t>big_add(u,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v,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b)</a:t>
            </a:r>
            <a:endParaRPr sz="1300">
              <a:latin typeface="Times New Roman"/>
              <a:cs typeface="Times New Roman"/>
            </a:endParaRPr>
          </a:p>
          <a:p>
            <a:pPr marL="469265" marR="2609215">
              <a:lnSpc>
                <a:spcPct val="143800"/>
              </a:lnSpc>
            </a:pPr>
            <a:r>
              <a:rPr sz="1300" spc="-10" dirty="0">
                <a:latin typeface="Times New Roman"/>
                <a:cs typeface="Times New Roman"/>
              </a:rPr>
              <a:t>Сложение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чисел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</a:t>
            </a:r>
            <a:r>
              <a:rPr sz="1300" i="1" dirty="0">
                <a:latin typeface="Times New Roman"/>
                <a:cs typeface="Times New Roman"/>
              </a:rPr>
              <a:t>u</a:t>
            </a:r>
            <a:r>
              <a:rPr sz="1300" i="1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</a:t>
            </a:r>
            <a:r>
              <a:rPr sz="1300" i="1" dirty="0">
                <a:latin typeface="Times New Roman"/>
                <a:cs typeface="Times New Roman"/>
              </a:rPr>
              <a:t>v</a:t>
            </a:r>
            <a:r>
              <a:rPr sz="1300" i="1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по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Алгоритму</a:t>
            </a:r>
            <a:r>
              <a:rPr sz="1300" spc="-25" dirty="0">
                <a:latin typeface="Times New Roman"/>
                <a:cs typeface="Times New Roman"/>
              </a:rPr>
              <a:t> 1. </a:t>
            </a:r>
            <a:r>
              <a:rPr sz="1300" spc="-10" dirty="0">
                <a:latin typeface="Times New Roman"/>
                <a:cs typeface="Times New Roman"/>
              </a:rPr>
              <a:t>Пример:</a:t>
            </a:r>
            <a:endParaRPr sz="13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85"/>
              </a:spcBef>
            </a:pPr>
            <a:r>
              <a:rPr sz="1300" spc="-10" dirty="0">
                <a:latin typeface="Times New Roman"/>
                <a:cs typeface="Times New Roman"/>
              </a:rPr>
              <a:t>u=[1,2,3],v=[4,5],b=10</a:t>
            </a:r>
            <a:r>
              <a:rPr sz="1300" i="1" spc="-10" dirty="0">
                <a:latin typeface="Times New Roman"/>
                <a:cs typeface="Times New Roman"/>
              </a:rPr>
              <a:t>u</a:t>
            </a:r>
            <a:r>
              <a:rPr sz="1300" spc="-10" dirty="0">
                <a:latin typeface="Times New Roman"/>
                <a:cs typeface="Times New Roman"/>
              </a:rPr>
              <a:t>=[1,2,3],</a:t>
            </a:r>
            <a:r>
              <a:rPr sz="1300" i="1" spc="-10" dirty="0">
                <a:latin typeface="Times New Roman"/>
                <a:cs typeface="Times New Roman"/>
              </a:rPr>
              <a:t>v</a:t>
            </a:r>
            <a:r>
              <a:rPr sz="1300" spc="-10" dirty="0">
                <a:latin typeface="Times New Roman"/>
                <a:cs typeface="Times New Roman"/>
              </a:rPr>
              <a:t>=[4,5],</a:t>
            </a:r>
            <a:r>
              <a:rPr sz="1300" i="1" spc="-10" dirty="0">
                <a:latin typeface="Times New Roman"/>
                <a:cs typeface="Times New Roman"/>
              </a:rPr>
              <a:t>b</a:t>
            </a:r>
            <a:r>
              <a:rPr sz="1300" spc="-10" dirty="0">
                <a:latin typeface="Times New Roman"/>
                <a:cs typeface="Times New Roman"/>
              </a:rPr>
              <a:t>=10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→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результат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[1,6,8][1,6,8]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(123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spc="-50" dirty="0">
                <a:latin typeface="Times New Roman"/>
                <a:cs typeface="Times New Roman"/>
              </a:rPr>
              <a:t>+</a:t>
            </a:r>
            <a:endParaRPr sz="13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85"/>
              </a:spcBef>
            </a:pPr>
            <a:r>
              <a:rPr sz="1300" dirty="0">
                <a:latin typeface="Times New Roman"/>
                <a:cs typeface="Times New Roman"/>
              </a:rPr>
              <a:t>45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=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168).</a:t>
            </a:r>
            <a:endParaRPr sz="1300">
              <a:latin typeface="Times New Roman"/>
              <a:cs typeface="Times New Roman"/>
            </a:endParaRPr>
          </a:p>
          <a:p>
            <a:pPr marL="468630" indent="-227965">
              <a:lnSpc>
                <a:spcPct val="100000"/>
              </a:lnSpc>
              <a:spcBef>
                <a:spcPts val="1280"/>
              </a:spcBef>
              <a:buAutoNum type="arabicPeriod" startAt="4"/>
              <a:tabLst>
                <a:tab pos="468630" algn="l"/>
              </a:tabLst>
            </a:pPr>
            <a:r>
              <a:rPr sz="1300" spc="-10" dirty="0">
                <a:latin typeface="Times New Roman"/>
                <a:cs typeface="Times New Roman"/>
              </a:rPr>
              <a:t>big_subtract(u,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v,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b)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6669" y="605179"/>
            <a:ext cx="5738495" cy="388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981835">
              <a:lnSpc>
                <a:spcPct val="1439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Вычитание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</a:t>
            </a:r>
            <a:r>
              <a:rPr sz="1300" i="1" dirty="0">
                <a:latin typeface="Times New Roman"/>
                <a:cs typeface="Times New Roman"/>
              </a:rPr>
              <a:t>v</a:t>
            </a:r>
            <a:r>
              <a:rPr sz="1300" i="1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из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</a:t>
            </a:r>
            <a:r>
              <a:rPr sz="1300" i="1" dirty="0">
                <a:latin typeface="Times New Roman"/>
                <a:cs typeface="Times New Roman"/>
              </a:rPr>
              <a:t>u</a:t>
            </a:r>
            <a:r>
              <a:rPr sz="1300" i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(u≥v</a:t>
            </a:r>
            <a:r>
              <a:rPr sz="1300" i="1" dirty="0">
                <a:latin typeface="Times New Roman"/>
                <a:cs typeface="Times New Roman"/>
              </a:rPr>
              <a:t>u</a:t>
            </a:r>
            <a:r>
              <a:rPr sz="1300" dirty="0">
                <a:latin typeface="Times New Roman"/>
                <a:cs typeface="Times New Roman"/>
              </a:rPr>
              <a:t>≥</a:t>
            </a:r>
            <a:r>
              <a:rPr sz="1300" i="1" dirty="0">
                <a:latin typeface="Times New Roman"/>
                <a:cs typeface="Times New Roman"/>
              </a:rPr>
              <a:t>v</a:t>
            </a:r>
            <a:r>
              <a:rPr sz="1300" dirty="0">
                <a:latin typeface="Times New Roman"/>
                <a:cs typeface="Times New Roman"/>
              </a:rPr>
              <a:t>)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по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Алгоритму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2. </a:t>
            </a:r>
            <a:r>
              <a:rPr sz="1300" spc="-10" dirty="0">
                <a:latin typeface="Times New Roman"/>
                <a:cs typeface="Times New Roman"/>
              </a:rPr>
              <a:t>Пример: u=[9,9,9,9],v=[2,5],b=10</a:t>
            </a:r>
            <a:r>
              <a:rPr sz="1300" i="1" spc="-10" dirty="0">
                <a:latin typeface="Times New Roman"/>
                <a:cs typeface="Times New Roman"/>
              </a:rPr>
              <a:t>u</a:t>
            </a:r>
            <a:r>
              <a:rPr sz="1300" spc="-10" dirty="0">
                <a:latin typeface="Times New Roman"/>
                <a:cs typeface="Times New Roman"/>
              </a:rPr>
              <a:t>=[9,9,9,9],</a:t>
            </a:r>
            <a:r>
              <a:rPr sz="1300" i="1" spc="-10" dirty="0">
                <a:latin typeface="Times New Roman"/>
                <a:cs typeface="Times New Roman"/>
              </a:rPr>
              <a:t>v</a:t>
            </a:r>
            <a:r>
              <a:rPr sz="1300" spc="-10" dirty="0">
                <a:latin typeface="Times New Roman"/>
                <a:cs typeface="Times New Roman"/>
              </a:rPr>
              <a:t>=[2,5],</a:t>
            </a:r>
            <a:r>
              <a:rPr sz="1300" i="1" spc="-10" dirty="0">
                <a:latin typeface="Times New Roman"/>
                <a:cs typeface="Times New Roman"/>
              </a:rPr>
              <a:t>b</a:t>
            </a:r>
            <a:r>
              <a:rPr sz="1300" spc="-10" dirty="0">
                <a:latin typeface="Times New Roman"/>
                <a:cs typeface="Times New Roman"/>
              </a:rPr>
              <a:t>=10</a:t>
            </a:r>
            <a:r>
              <a:rPr sz="1300" spc="26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→ </a:t>
            </a:r>
            <a:r>
              <a:rPr sz="1300" spc="-20" dirty="0">
                <a:latin typeface="Times New Roman"/>
                <a:cs typeface="Times New Roman"/>
              </a:rPr>
              <a:t>результат </a:t>
            </a:r>
            <a:r>
              <a:rPr sz="1300" dirty="0">
                <a:latin typeface="Times New Roman"/>
                <a:cs typeface="Times New Roman"/>
              </a:rPr>
              <a:t>[9,9,7,4][9,9,7,4]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(9999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−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25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=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9974).</a:t>
            </a:r>
            <a:endParaRPr sz="13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85"/>
              </a:spcBef>
              <a:buAutoNum type="arabicPeriod" startAt="5"/>
              <a:tabLst>
                <a:tab pos="240665" algn="l"/>
              </a:tabLst>
            </a:pPr>
            <a:r>
              <a:rPr sz="1300" spc="-10" dirty="0">
                <a:latin typeface="Times New Roman"/>
                <a:cs typeface="Times New Roman"/>
              </a:rPr>
              <a:t>big_multiply(u,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v,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b)</a:t>
            </a:r>
            <a:endParaRPr sz="1300">
              <a:latin typeface="Times New Roman"/>
              <a:cs typeface="Times New Roman"/>
            </a:endParaRPr>
          </a:p>
          <a:p>
            <a:pPr marL="241300" marR="1899285">
              <a:lnSpc>
                <a:spcPct val="143800"/>
              </a:lnSpc>
            </a:pPr>
            <a:r>
              <a:rPr sz="1300" spc="-25" dirty="0">
                <a:latin typeface="Times New Roman"/>
                <a:cs typeface="Times New Roman"/>
              </a:rPr>
              <a:t>Умножение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чисел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столбиком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(Алгоритм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3). </a:t>
            </a:r>
            <a:r>
              <a:rPr sz="1300" spc="-10" dirty="0">
                <a:latin typeface="Times New Roman"/>
                <a:cs typeface="Times New Roman"/>
              </a:rPr>
              <a:t>Пример: u=[1,0,1,1],v=[1,0,1],b=2</a:t>
            </a:r>
            <a:r>
              <a:rPr sz="1300" i="1" spc="-10" dirty="0">
                <a:latin typeface="Times New Roman"/>
                <a:cs typeface="Times New Roman"/>
              </a:rPr>
              <a:t>u</a:t>
            </a:r>
            <a:r>
              <a:rPr sz="1300" spc="-10" dirty="0">
                <a:latin typeface="Times New Roman"/>
                <a:cs typeface="Times New Roman"/>
              </a:rPr>
              <a:t>=[1,0,1,1],</a:t>
            </a:r>
            <a:r>
              <a:rPr sz="1300" i="1" spc="-10" dirty="0">
                <a:latin typeface="Times New Roman"/>
                <a:cs typeface="Times New Roman"/>
              </a:rPr>
              <a:t>v</a:t>
            </a:r>
            <a:r>
              <a:rPr sz="1300" spc="-10" dirty="0">
                <a:latin typeface="Times New Roman"/>
                <a:cs typeface="Times New Roman"/>
              </a:rPr>
              <a:t>=[1,0,1],</a:t>
            </a:r>
            <a:r>
              <a:rPr sz="1300" i="1" spc="-10" dirty="0">
                <a:latin typeface="Times New Roman"/>
                <a:cs typeface="Times New Roman"/>
              </a:rPr>
              <a:t>b</a:t>
            </a:r>
            <a:r>
              <a:rPr sz="1300" spc="-10" dirty="0">
                <a:latin typeface="Times New Roman"/>
                <a:cs typeface="Times New Roman"/>
              </a:rPr>
              <a:t>=2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→</a:t>
            </a:r>
            <a:endParaRPr sz="13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300" spc="-20" dirty="0">
                <a:latin typeface="Times New Roman"/>
                <a:cs typeface="Times New Roman"/>
              </a:rPr>
              <a:t>результат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[1,1,0,1,1,1][1,1,0,1,1,1]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(11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×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5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=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55 в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двоичной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системе).</a:t>
            </a:r>
            <a:endParaRPr sz="13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1290"/>
              </a:spcBef>
              <a:buAutoNum type="arabicPeriod" startAt="6"/>
              <a:tabLst>
                <a:tab pos="240665" algn="l"/>
              </a:tabLst>
            </a:pPr>
            <a:r>
              <a:rPr sz="1300" dirty="0">
                <a:latin typeface="Times New Roman"/>
                <a:cs typeface="Times New Roman"/>
              </a:rPr>
              <a:t>big_divide(u,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v,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b)</a:t>
            </a:r>
            <a:endParaRPr sz="13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43800"/>
              </a:lnSpc>
            </a:pPr>
            <a:r>
              <a:rPr sz="1300" dirty="0">
                <a:latin typeface="Times New Roman"/>
                <a:cs typeface="Times New Roman"/>
              </a:rPr>
              <a:t>Деление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остатком.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упрощения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использовано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преобразование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целое </a:t>
            </a:r>
            <a:r>
              <a:rPr sz="1300" dirty="0">
                <a:latin typeface="Times New Roman"/>
                <a:cs typeface="Times New Roman"/>
              </a:rPr>
              <a:t>число</a:t>
            </a:r>
            <a:r>
              <a:rPr sz="1300" spc="17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с</a:t>
            </a:r>
            <a:r>
              <a:rPr sz="1300" spc="18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последующим</a:t>
            </a:r>
            <a:r>
              <a:rPr sz="1300" spc="17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обратным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переводом</a:t>
            </a:r>
            <a:r>
              <a:rPr sz="1300" spc="18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систему</a:t>
            </a:r>
            <a:r>
              <a:rPr sz="1300" spc="16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счисления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</a:t>
            </a:r>
            <a:r>
              <a:rPr sz="1300" i="1" spc="-25" dirty="0">
                <a:latin typeface="Times New Roman"/>
                <a:cs typeface="Times New Roman"/>
              </a:rPr>
              <a:t>b</a:t>
            </a:r>
            <a:r>
              <a:rPr sz="1300" spc="-25" dirty="0">
                <a:latin typeface="Times New Roman"/>
                <a:cs typeface="Times New Roman"/>
              </a:rPr>
              <a:t>. </a:t>
            </a:r>
            <a:r>
              <a:rPr sz="1300" dirty="0">
                <a:latin typeface="Times New Roman"/>
                <a:cs typeface="Times New Roman"/>
              </a:rPr>
              <a:t>Возвращает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частное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остаток.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350890"/>
            <a:ext cx="5963920" cy="864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Тестирование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43800"/>
              </a:lnSpc>
              <a:spcBef>
                <a:spcPts val="565"/>
              </a:spcBef>
            </a:pPr>
            <a:r>
              <a:rPr sz="1300" dirty="0">
                <a:latin typeface="Times New Roman"/>
                <a:cs typeface="Times New Roman"/>
              </a:rPr>
              <a:t>Программа</a:t>
            </a:r>
            <a:r>
              <a:rPr sz="1300" spc="3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содержит</a:t>
            </a:r>
            <a:r>
              <a:rPr sz="1300" spc="3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функцию</a:t>
            </a:r>
            <a:r>
              <a:rPr sz="1300" spc="3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test_arithmetic(),</a:t>
            </a:r>
            <a:r>
              <a:rPr sz="1300" spc="3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которая</a:t>
            </a:r>
            <a:r>
              <a:rPr sz="1300" spc="3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проверяет</a:t>
            </a:r>
            <a:r>
              <a:rPr sz="1300" spc="3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работу</a:t>
            </a:r>
            <a:r>
              <a:rPr sz="1300" spc="34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всех </a:t>
            </a:r>
            <a:r>
              <a:rPr sz="1300" dirty="0">
                <a:latin typeface="Times New Roman"/>
                <a:cs typeface="Times New Roman"/>
              </a:rPr>
              <a:t>операций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следующих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наборах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данных: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120" y="6715125"/>
            <a:ext cx="19672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645" algn="l"/>
              </a:tabLst>
            </a:pPr>
            <a:r>
              <a:rPr sz="1300" spc="-20" dirty="0">
                <a:latin typeface="Times New Roman"/>
                <a:cs typeface="Times New Roman"/>
              </a:rPr>
              <a:t>Тест</a:t>
            </a:r>
            <a:r>
              <a:rPr sz="1300" dirty="0">
                <a:latin typeface="Times New Roman"/>
                <a:cs typeface="Times New Roman"/>
              </a:rPr>
              <a:t>	Числа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(u,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v)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Система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6351" y="6715125"/>
            <a:ext cx="7264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Times New Roman"/>
                <a:cs typeface="Times New Roman"/>
              </a:rPr>
              <a:t>Операции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49070" y="7106934"/>
          <a:ext cx="2611755" cy="902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415"/>
                        </a:lnSpc>
                      </a:pP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ts val="1415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[1,2,3],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[4,5]</a:t>
                      </a:r>
                      <a:r>
                        <a:rPr sz="13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415"/>
                        </a:lnSpc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все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480"/>
                        </a:lnSpc>
                        <a:spcBef>
                          <a:spcPts val="560"/>
                        </a:spcBef>
                      </a:pP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ts val="1480"/>
                        </a:lnSpc>
                        <a:spcBef>
                          <a:spcPts val="56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[9,9,9,9],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[2,5]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480"/>
                        </a:lnSpc>
                        <a:spcBef>
                          <a:spcPts val="56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80"/>
                        </a:lnSpc>
                        <a:spcBef>
                          <a:spcPts val="560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все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31750">
                        <a:lnSpc>
                          <a:spcPts val="1480"/>
                        </a:lnSpc>
                        <a:spcBef>
                          <a:spcPts val="1255"/>
                        </a:spcBef>
                      </a:pP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480"/>
                        </a:lnSpc>
                        <a:spcBef>
                          <a:spcPts val="125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[7,8,9],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480"/>
                        </a:lnSpc>
                        <a:spcBef>
                          <a:spcPts val="1255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59385" marB="0"/>
                </a:tc>
                <a:tc gridSpan="2">
                  <a:txBody>
                    <a:bodyPr/>
                    <a:lstStyle/>
                    <a:p>
                      <a:pPr marL="142240">
                        <a:lnSpc>
                          <a:spcPts val="1480"/>
                        </a:lnSpc>
                        <a:spcBef>
                          <a:spcPts val="1255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деление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593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68120" y="8158733"/>
            <a:ext cx="4456430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645" algn="l"/>
                <a:tab pos="1811020" algn="l"/>
                <a:tab pos="2260600" algn="l"/>
              </a:tabLst>
            </a:pPr>
            <a:r>
              <a:rPr sz="1300" spc="-50" dirty="0">
                <a:latin typeface="Times New Roman"/>
                <a:cs typeface="Times New Roman"/>
              </a:rPr>
              <a:t>4</a:t>
            </a:r>
            <a:r>
              <a:rPr sz="1300" dirty="0">
                <a:latin typeface="Times New Roman"/>
                <a:cs typeface="Times New Roman"/>
              </a:rPr>
              <a:t>	[1,0,1,1],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[1,0,1]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50" dirty="0">
                <a:latin typeface="Times New Roman"/>
                <a:cs typeface="Times New Roman"/>
              </a:rPr>
              <a:t>2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сложение,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умножение,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деление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dirty="0">
                <a:latin typeface="Times New Roman"/>
                <a:cs typeface="Times New Roman"/>
              </a:rPr>
              <a:t>Все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результаты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совпадают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ожидаемыми.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697484"/>
            <a:ext cx="5965190" cy="208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340" algn="just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Выводы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ходе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лабораторной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работы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были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реализованы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базовые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алгоритмы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многократной </a:t>
            </a:r>
            <a:r>
              <a:rPr sz="1300" dirty="0">
                <a:latin typeface="Times New Roman"/>
                <a:cs typeface="Times New Roman"/>
              </a:rPr>
              <a:t>точности</a:t>
            </a:r>
            <a:r>
              <a:rPr sz="1300" spc="45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4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целых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чисел.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Программа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корректно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выполняет</a:t>
            </a:r>
            <a:r>
              <a:rPr sz="1300" spc="459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арифметические </a:t>
            </a:r>
            <a:r>
              <a:rPr sz="1300" dirty="0">
                <a:latin typeface="Times New Roman"/>
                <a:cs typeface="Times New Roman"/>
              </a:rPr>
              <a:t>операции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различных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системах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счисления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может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быть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использована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как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основа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реализации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более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сложных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криптографических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алгоритмов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(RSA,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хеширование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др.).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488</Words>
  <Application>Microsoft Office PowerPoint</Application>
  <PresentationFormat>Custom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2026-03-13T20:41:41Z</dcterms:created>
  <dcterms:modified xsi:type="dcterms:W3CDTF">2026-03-13T20:44:58Z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