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212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9633" y="692911"/>
            <a:ext cx="5202555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РОССИЙСКИЙ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УНИВЕРСИТЕТ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ДРУЖБЫ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680085" marR="107950" indent="74295">
              <a:lnSpc>
                <a:spcPct val="182300"/>
              </a:lnSpc>
              <a:spcBef>
                <a:spcPts val="195"/>
              </a:spcBef>
            </a:pPr>
            <a:r>
              <a:rPr sz="1300" b="1" spc="-20" dirty="0">
                <a:latin typeface="Times New Roman"/>
                <a:cs typeface="Times New Roman"/>
              </a:rPr>
              <a:t>Факультет</a:t>
            </a:r>
            <a:r>
              <a:rPr sz="1300" b="1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физико-</a:t>
            </a:r>
            <a:r>
              <a:rPr sz="1300" b="1" spc="-10" dirty="0">
                <a:latin typeface="Times New Roman"/>
                <a:cs typeface="Times New Roman"/>
              </a:rPr>
              <a:t>математических</a:t>
            </a:r>
            <a:r>
              <a:rPr sz="1300" b="1" spc="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и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естественных</a:t>
            </a:r>
            <a:r>
              <a:rPr sz="1300" b="1" spc="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наук </a:t>
            </a:r>
            <a:r>
              <a:rPr sz="1300" b="1" spc="-10" dirty="0">
                <a:latin typeface="Times New Roman"/>
                <a:cs typeface="Times New Roman"/>
              </a:rPr>
              <a:t>Кафедра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прикладной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информатики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и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теории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3058" y="2925825"/>
            <a:ext cx="5447665" cy="1544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59385" algn="ctr">
              <a:lnSpc>
                <a:spcPct val="100000"/>
              </a:lnSpc>
              <a:spcBef>
                <a:spcPts val="95"/>
              </a:spcBef>
            </a:pPr>
            <a:r>
              <a:rPr lang="ru-RU" sz="1600" b="1" spc="-10" dirty="0" err="1">
                <a:latin typeface="Times New Roman"/>
                <a:cs typeface="Times New Roman"/>
              </a:rPr>
              <a:t>Призенитаций</a:t>
            </a:r>
            <a:r>
              <a:rPr lang="ru-RU" sz="1600" b="1" spc="-10">
                <a:latin typeface="Times New Roman"/>
                <a:cs typeface="Times New Roman"/>
              </a:rPr>
              <a:t> </a:t>
            </a:r>
            <a:endParaRPr sz="1600" dirty="0">
              <a:latin typeface="Times New Roman"/>
              <a:cs typeface="Times New Roman"/>
            </a:endParaRPr>
          </a:p>
          <a:p>
            <a:pPr marR="157480" algn="ctr">
              <a:lnSpc>
                <a:spcPct val="100000"/>
              </a:lnSpc>
              <a:spcBef>
                <a:spcPts val="1445"/>
              </a:spcBef>
            </a:pPr>
            <a:r>
              <a:rPr sz="1600" b="1" dirty="0">
                <a:latin typeface="Times New Roman"/>
                <a:cs typeface="Times New Roman"/>
              </a:rPr>
              <a:t>ПО</a:t>
            </a:r>
            <a:r>
              <a:rPr sz="1600" b="1" spc="-40" dirty="0">
                <a:latin typeface="Times New Roman"/>
                <a:cs typeface="Times New Roman"/>
              </a:rPr>
              <a:t> ЛАБОРАТОРНОЙ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РАБОТЕ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№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u="sng" spc="-2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</a:t>
            </a:r>
            <a:endParaRPr sz="1600" dirty="0">
              <a:latin typeface="Times New Roman"/>
              <a:cs typeface="Times New Roman"/>
            </a:endParaRPr>
          </a:p>
          <a:p>
            <a:pPr marL="1515110" marR="5080" indent="-1503045">
              <a:lnSpc>
                <a:spcPct val="143800"/>
              </a:lnSpc>
              <a:spcBef>
                <a:spcPts val="1160"/>
              </a:spcBef>
            </a:pP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sz="160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Математические</a:t>
            </a:r>
            <a:r>
              <a:rPr sz="160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основы</a:t>
            </a:r>
            <a:r>
              <a:rPr sz="160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защиты</a:t>
            </a:r>
            <a:r>
              <a:rPr sz="160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информации</a:t>
            </a:r>
            <a:r>
              <a:rPr sz="160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</a:t>
            </a:r>
            <a:r>
              <a:rPr sz="1600" i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информационной</a:t>
            </a:r>
            <a:r>
              <a:rPr sz="1600" i="1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безопасности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4296" y="7257668"/>
            <a:ext cx="1610995" cy="58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Мумэн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Амин</a:t>
            </a:r>
            <a:endParaRPr sz="13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1285"/>
              </a:spcBef>
            </a:pP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НФИмд-01-</a:t>
            </a:r>
            <a:r>
              <a:rPr sz="1300" spc="-25" dirty="0"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5410" y="9423603"/>
            <a:ext cx="12585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latin typeface="Times New Roman"/>
                <a:cs typeface="Times New Roman"/>
              </a:rPr>
              <a:t>МОСКВА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2026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spc="-75" dirty="0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692911"/>
            <a:ext cx="5964555" cy="1310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Цель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работы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43600"/>
              </a:lnSpc>
            </a:pP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Реализовать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программно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три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вероятностных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алгоритма</a:t>
            </a:r>
            <a:r>
              <a:rPr sz="1400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проверки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целых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чисел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на</a:t>
            </a:r>
            <a:r>
              <a:rPr sz="14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простоту:</a:t>
            </a:r>
            <a:r>
              <a:rPr sz="14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тест</a:t>
            </a:r>
            <a:r>
              <a:rPr sz="14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Ферма, тест</a:t>
            </a:r>
            <a:r>
              <a:rPr sz="14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Соловэя-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Штрассена</a:t>
            </a:r>
            <a:r>
              <a:rPr sz="14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</a:t>
            </a:r>
            <a:r>
              <a:rPr sz="14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тест</a:t>
            </a:r>
            <a:r>
              <a:rPr sz="14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Миллера-Рабина.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6898" y="3927982"/>
            <a:ext cx="237744" cy="1691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68120" y="2915157"/>
            <a:ext cx="5967730" cy="3002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Теоретическая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часть:</a:t>
            </a:r>
            <a:endParaRPr sz="1400">
              <a:latin typeface="Times New Roman"/>
              <a:cs typeface="Times New Roman"/>
            </a:endParaRPr>
          </a:p>
          <a:p>
            <a:pPr marL="461645">
              <a:lnSpc>
                <a:spcPct val="100000"/>
              </a:lnSpc>
              <a:spcBef>
                <a:spcPts val="1335"/>
              </a:spcBef>
            </a:pP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2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работе</a:t>
            </a:r>
            <a:r>
              <a:rPr sz="12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используются следующие</a:t>
            </a:r>
            <a:r>
              <a:rPr sz="12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математические</a:t>
            </a:r>
            <a:r>
              <a:rPr sz="12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основы</a:t>
            </a:r>
            <a:r>
              <a:rPr sz="12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 алгоритмы:</a:t>
            </a:r>
            <a:endParaRPr sz="1200">
              <a:latin typeface="Times New Roman"/>
              <a:cs typeface="Times New Roman"/>
            </a:endParaRPr>
          </a:p>
          <a:p>
            <a:pPr marL="469265" marR="8255">
              <a:lnSpc>
                <a:spcPct val="143300"/>
              </a:lnSpc>
              <a:spcBef>
                <a:spcPts val="610"/>
              </a:spcBef>
            </a:pP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Тест</a:t>
            </a:r>
            <a:r>
              <a:rPr sz="1200" b="1" spc="30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Ферма:</a:t>
            </a:r>
            <a:r>
              <a:rPr sz="12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Основан</a:t>
            </a:r>
            <a:r>
              <a:rPr sz="1200" spc="30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на</a:t>
            </a:r>
            <a:r>
              <a:rPr sz="1200" spc="30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малой</a:t>
            </a:r>
            <a:r>
              <a:rPr sz="1200" spc="3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теореме</a:t>
            </a:r>
            <a:r>
              <a:rPr sz="1200" spc="30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Ферма.</a:t>
            </a:r>
            <a:r>
              <a:rPr sz="1200" spc="30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Если</a:t>
            </a:r>
            <a:r>
              <a:rPr sz="1200" spc="3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200" spc="30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числа</a:t>
            </a:r>
            <a:r>
              <a:rPr sz="1200" spc="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n</a:t>
            </a:r>
            <a:r>
              <a:rPr sz="1200" i="1" dirty="0">
                <a:solidFill>
                  <a:srgbClr val="0E1115"/>
                </a:solidFill>
                <a:latin typeface="Times New Roman"/>
                <a:cs typeface="Times New Roman"/>
              </a:rPr>
              <a:t>n</a:t>
            </a:r>
            <a:r>
              <a:rPr sz="1200" i="1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существует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такое</a:t>
            </a:r>
            <a:r>
              <a:rPr sz="12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a</a:t>
            </a:r>
            <a:r>
              <a:rPr sz="1200" i="1" dirty="0">
                <a:solidFill>
                  <a:srgbClr val="0E1115"/>
                </a:solidFill>
                <a:latin typeface="Times New Roman"/>
                <a:cs typeface="Times New Roman"/>
              </a:rPr>
              <a:t>a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,</a:t>
            </a:r>
            <a:r>
              <a:rPr sz="12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что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an−1≢1(modn)</a:t>
            </a:r>
            <a:r>
              <a:rPr sz="1200" i="1" dirty="0">
                <a:solidFill>
                  <a:srgbClr val="0E1115"/>
                </a:solidFill>
                <a:latin typeface="Times New Roman"/>
                <a:cs typeface="Times New Roman"/>
              </a:rPr>
              <a:t>an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−1</a:t>
            </a:r>
            <a:r>
              <a:rPr sz="1200" spc="14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≡1(mod</a:t>
            </a:r>
            <a:r>
              <a:rPr sz="1200" i="1" dirty="0">
                <a:solidFill>
                  <a:srgbClr val="0E1115"/>
                </a:solidFill>
                <a:latin typeface="Times New Roman"/>
                <a:cs typeface="Times New Roman"/>
              </a:rPr>
              <a:t>n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),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то</a:t>
            </a:r>
            <a:r>
              <a:rPr sz="12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n</a:t>
            </a:r>
            <a:r>
              <a:rPr sz="1200" i="1" dirty="0">
                <a:solidFill>
                  <a:srgbClr val="0E1115"/>
                </a:solidFill>
                <a:latin typeface="Times New Roman"/>
                <a:cs typeface="Times New Roman"/>
              </a:rPr>
              <a:t>n</a:t>
            </a:r>
            <a:r>
              <a:rPr sz="1200" i="1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—</a:t>
            </a:r>
            <a:r>
              <a:rPr sz="12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составное.</a:t>
            </a:r>
            <a:endParaRPr sz="1200">
              <a:latin typeface="Times New Roman"/>
              <a:cs typeface="Times New Roman"/>
            </a:endParaRPr>
          </a:p>
          <a:p>
            <a:pPr marL="469265" marR="5080">
              <a:lnSpc>
                <a:spcPct val="143300"/>
              </a:lnSpc>
              <a:spcBef>
                <a:spcPts val="615"/>
              </a:spcBef>
            </a:pP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Символ</a:t>
            </a:r>
            <a:r>
              <a:rPr sz="1200" b="1" spc="2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Якоби:</a:t>
            </a:r>
            <a:r>
              <a:rPr sz="1200" b="1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Обобщение</a:t>
            </a:r>
            <a:r>
              <a:rPr sz="1200" spc="2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символа</a:t>
            </a:r>
            <a:r>
              <a:rPr sz="1200" spc="2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Лежандра,</a:t>
            </a:r>
            <a:r>
              <a:rPr sz="1200" spc="2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используемый</a:t>
            </a:r>
            <a:r>
              <a:rPr sz="1200" spc="2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200" spc="2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тесте</a:t>
            </a:r>
            <a:r>
              <a:rPr sz="1200" spc="2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Соловэя-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Штрассена.</a:t>
            </a:r>
            <a:r>
              <a:rPr sz="12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Вычисляется</a:t>
            </a:r>
            <a:r>
              <a:rPr sz="12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рекурсивно</a:t>
            </a:r>
            <a:r>
              <a:rPr sz="12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на</a:t>
            </a:r>
            <a:r>
              <a:rPr sz="12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основе</a:t>
            </a:r>
            <a:r>
              <a:rPr sz="1200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свойств</a:t>
            </a:r>
            <a:r>
              <a:rPr sz="12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квадратичных</a:t>
            </a:r>
            <a:r>
              <a:rPr sz="12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вычетов.</a:t>
            </a:r>
            <a:endParaRPr sz="1200">
              <a:latin typeface="Times New Roman"/>
              <a:cs typeface="Times New Roman"/>
            </a:endParaRPr>
          </a:p>
          <a:p>
            <a:pPr marL="469265" marR="5080">
              <a:lnSpc>
                <a:spcPct val="143300"/>
              </a:lnSpc>
              <a:spcBef>
                <a:spcPts val="610"/>
              </a:spcBef>
            </a:pP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Тест</a:t>
            </a:r>
            <a:r>
              <a:rPr sz="1200" b="1" spc="1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Соловэя-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Штрассена:</a:t>
            </a:r>
            <a:r>
              <a:rPr sz="1200" b="1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Использует</a:t>
            </a:r>
            <a:r>
              <a:rPr sz="1200" spc="1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критерий</a:t>
            </a:r>
            <a:r>
              <a:rPr sz="1200" spc="1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Эйлера:</a:t>
            </a:r>
            <a:r>
              <a:rPr sz="1200" spc="1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200" spc="1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простого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n</a:t>
            </a:r>
            <a:r>
              <a:rPr sz="1200" i="1" dirty="0">
                <a:solidFill>
                  <a:srgbClr val="0E1115"/>
                </a:solidFill>
                <a:latin typeface="Times New Roman"/>
                <a:cs typeface="Times New Roman"/>
              </a:rPr>
              <a:t>n</a:t>
            </a:r>
            <a:r>
              <a:rPr sz="1200" i="1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должно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выполняться</a:t>
            </a:r>
            <a:r>
              <a:rPr sz="1200" spc="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a(n−1)/2≡(an)(modn)</a:t>
            </a:r>
            <a:r>
              <a:rPr sz="1200" i="1" spc="-10" dirty="0">
                <a:solidFill>
                  <a:srgbClr val="0E1115"/>
                </a:solidFill>
                <a:latin typeface="Times New Roman"/>
                <a:cs typeface="Times New Roman"/>
              </a:rPr>
              <a:t>a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(</a:t>
            </a:r>
            <a:r>
              <a:rPr sz="1200" i="1" spc="-10" dirty="0">
                <a:solidFill>
                  <a:srgbClr val="0E1115"/>
                </a:solidFill>
                <a:latin typeface="Times New Roman"/>
                <a:cs typeface="Times New Roman"/>
              </a:rPr>
              <a:t>n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−1)/2≡(</a:t>
            </a:r>
            <a:r>
              <a:rPr sz="1200" i="1" spc="-10" dirty="0">
                <a:solidFill>
                  <a:srgbClr val="0E1115"/>
                </a:solidFill>
                <a:latin typeface="Times New Roman"/>
                <a:cs typeface="Times New Roman"/>
              </a:rPr>
              <a:t>na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)(mod</a:t>
            </a:r>
            <a:r>
              <a:rPr sz="1200" i="1" spc="-10" dirty="0">
                <a:solidFill>
                  <a:srgbClr val="0E1115"/>
                </a:solidFill>
                <a:latin typeface="Times New Roman"/>
                <a:cs typeface="Times New Roman"/>
              </a:rPr>
              <a:t>n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),</a:t>
            </a:r>
            <a:r>
              <a:rPr sz="12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где</a:t>
            </a:r>
            <a:r>
              <a:rPr sz="1200" spc="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(an)(</a:t>
            </a:r>
            <a:r>
              <a:rPr sz="1200" i="1" dirty="0">
                <a:solidFill>
                  <a:srgbClr val="0E1115"/>
                </a:solidFill>
                <a:latin typeface="Times New Roman"/>
                <a:cs typeface="Times New Roman"/>
              </a:rPr>
              <a:t>na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)</a:t>
            </a:r>
            <a:r>
              <a:rPr sz="12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—</a:t>
            </a:r>
            <a:r>
              <a:rPr sz="12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символ</a:t>
            </a:r>
            <a:r>
              <a:rPr sz="12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Якоби.</a:t>
            </a:r>
            <a:endParaRPr sz="1200">
              <a:latin typeface="Times New Roman"/>
              <a:cs typeface="Times New Roman"/>
            </a:endParaRPr>
          </a:p>
          <a:p>
            <a:pPr marL="469265" marR="10160">
              <a:lnSpc>
                <a:spcPct val="145000"/>
              </a:lnSpc>
              <a:spcBef>
                <a:spcPts val="590"/>
              </a:spcBef>
              <a:tabLst>
                <a:tab pos="955040" algn="l"/>
                <a:tab pos="2772410" algn="l"/>
                <a:tab pos="3536950" algn="l"/>
                <a:tab pos="4017010" algn="l"/>
                <a:tab pos="4979035" algn="l"/>
                <a:tab pos="5302250" algn="l"/>
              </a:tabLst>
            </a:pPr>
            <a:r>
              <a:rPr sz="1200" b="1" spc="-20" dirty="0">
                <a:solidFill>
                  <a:srgbClr val="0E1115"/>
                </a:solidFill>
                <a:latin typeface="Times New Roman"/>
                <a:cs typeface="Times New Roman"/>
              </a:rPr>
              <a:t>Тест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Миллера-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Рабина:</a:t>
            </a:r>
            <a:r>
              <a:rPr sz="12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0E1115"/>
                </a:solidFill>
                <a:latin typeface="Times New Roman"/>
                <a:cs typeface="Times New Roman"/>
              </a:rPr>
              <a:t>Более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сложный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тест,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основанный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spc="-25" dirty="0">
                <a:solidFill>
                  <a:srgbClr val="0E1115"/>
                </a:solidFill>
                <a:latin typeface="Times New Roman"/>
                <a:cs typeface="Times New Roman"/>
              </a:rPr>
              <a:t>на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свойствах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разложения</a:t>
            </a:r>
            <a:r>
              <a:rPr sz="12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n−1=2s</a:t>
            </a:r>
            <a:r>
              <a:rPr sz="1200" dirty="0">
                <a:solidFill>
                  <a:srgbClr val="0E1115"/>
                </a:solidFill>
                <a:latin typeface="Cambria Math"/>
                <a:cs typeface="Cambria Math"/>
              </a:rPr>
              <a:t>⋅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r</a:t>
            </a:r>
            <a:r>
              <a:rPr sz="1200" i="1" dirty="0">
                <a:solidFill>
                  <a:srgbClr val="0E1115"/>
                </a:solidFill>
                <a:latin typeface="Times New Roman"/>
                <a:cs typeface="Times New Roman"/>
              </a:rPr>
              <a:t>n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−1=2</a:t>
            </a:r>
            <a:r>
              <a:rPr sz="1200" i="1" dirty="0">
                <a:solidFill>
                  <a:srgbClr val="0E1115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E1115"/>
                </a:solidFill>
                <a:latin typeface="Cambria Math"/>
                <a:cs typeface="Cambria Math"/>
              </a:rPr>
              <a:t>⋅</a:t>
            </a:r>
            <a:r>
              <a:rPr sz="1200" i="1" dirty="0">
                <a:solidFill>
                  <a:srgbClr val="0E1115"/>
                </a:solidFill>
                <a:latin typeface="Times New Roman"/>
                <a:cs typeface="Times New Roman"/>
              </a:rPr>
              <a:t>r</a:t>
            </a:r>
            <a:r>
              <a:rPr sz="1200" i="1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2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проверке</a:t>
            </a:r>
            <a:r>
              <a:rPr sz="12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корней</a:t>
            </a:r>
            <a:r>
              <a:rPr sz="12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из</a:t>
            </a:r>
            <a:r>
              <a:rPr sz="12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единицы</a:t>
            </a:r>
            <a:r>
              <a:rPr sz="12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по</a:t>
            </a:r>
            <a:r>
              <a:rPr sz="12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модулю</a:t>
            </a:r>
            <a:r>
              <a:rPr sz="12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0E1115"/>
                </a:solidFill>
                <a:latin typeface="Times New Roman"/>
                <a:cs typeface="Times New Roman"/>
              </a:rPr>
              <a:t>n</a:t>
            </a:r>
            <a:r>
              <a:rPr sz="1200" i="1" spc="-25" dirty="0">
                <a:solidFill>
                  <a:srgbClr val="0E1115"/>
                </a:solidFill>
                <a:latin typeface="Times New Roman"/>
                <a:cs typeface="Times New Roman"/>
              </a:rPr>
              <a:t>n</a:t>
            </a:r>
            <a:r>
              <a:rPr sz="1200" spc="-25" dirty="0">
                <a:solidFill>
                  <a:srgbClr val="0E1115"/>
                </a:solidFill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6669" y="7155560"/>
            <a:ext cx="5737225" cy="2534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5595" algn="just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Анализ</a:t>
            </a:r>
            <a:r>
              <a:rPr sz="1400" b="1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0E1115"/>
                </a:solidFill>
                <a:latin typeface="Times New Roman"/>
                <a:cs typeface="Times New Roman"/>
              </a:rPr>
              <a:t>результатов</a:t>
            </a: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50" dirty="0">
                <a:solidFill>
                  <a:srgbClr val="0E1115"/>
                </a:solid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241300" marR="8890" indent="449580" algn="just">
              <a:lnSpc>
                <a:spcPct val="143800"/>
              </a:lnSpc>
              <a:spcBef>
                <a:spcPts val="570"/>
              </a:spcBef>
            </a:pP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-9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ходе</a:t>
            </a:r>
            <a:r>
              <a:rPr sz="1400" spc="-9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тестирования</a:t>
            </a:r>
            <a:r>
              <a:rPr sz="1400" spc="-10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бы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л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-8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проверены</a:t>
            </a:r>
            <a:r>
              <a:rPr sz="1400" spc="-8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как</a:t>
            </a:r>
            <a:r>
              <a:rPr sz="1400" spc="-8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простые</a:t>
            </a:r>
            <a:r>
              <a:rPr sz="1400" spc="-10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числа</a:t>
            </a:r>
            <a:r>
              <a:rPr sz="1400" spc="-9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(7,</a:t>
            </a:r>
            <a:r>
              <a:rPr sz="1400" spc="-10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17,</a:t>
            </a:r>
            <a:r>
              <a:rPr sz="1400" spc="-10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2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9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), </a:t>
            </a:r>
            <a:r>
              <a:rPr sz="1400" spc="5" dirty="0">
                <a:solidFill>
                  <a:srgbClr val="0E1115"/>
                </a:solidFill>
                <a:latin typeface="Times New Roman"/>
                <a:cs typeface="Times New Roman"/>
              </a:rPr>
              <a:t>т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ак и составные (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1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5,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2</a:t>
            </a:r>
            <a:r>
              <a:rPr sz="1400" spc="5" dirty="0">
                <a:solidFill>
                  <a:srgbClr val="0E1115"/>
                </a:solidFill>
                <a:latin typeface="Times New Roman"/>
                <a:cs typeface="Times New Roman"/>
              </a:rPr>
              <a:t>1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),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а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также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число</a:t>
            </a:r>
            <a:r>
              <a:rPr sz="1400" spc="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Кармайкла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(561).</a:t>
            </a:r>
            <a:endParaRPr sz="14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43600"/>
              </a:lnSpc>
              <a:spcBef>
                <a:spcPts val="610"/>
              </a:spcBef>
              <a:buSzPct val="71428"/>
              <a:buFont typeface="Symbol"/>
              <a:buChar char=""/>
              <a:tabLst>
                <a:tab pos="241300" algn="l"/>
              </a:tabLst>
            </a:pP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Тест</a:t>
            </a:r>
            <a:r>
              <a:rPr sz="1400" b="1" spc="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Ферма:</a:t>
            </a:r>
            <a:r>
              <a:rPr sz="1400" b="1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Успешно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определил</a:t>
            </a:r>
            <a:r>
              <a:rPr sz="1400" spc="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составные</a:t>
            </a:r>
            <a:r>
              <a:rPr sz="1400" spc="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числа</a:t>
            </a:r>
            <a:r>
              <a:rPr sz="1400" spc="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15</a:t>
            </a:r>
            <a:r>
              <a:rPr sz="1400" spc="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21.</a:t>
            </a:r>
            <a:r>
              <a:rPr sz="1400" spc="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Однако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для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числа</a:t>
            </a:r>
            <a:r>
              <a:rPr sz="1400" spc="17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Кармайкла</a:t>
            </a:r>
            <a:r>
              <a:rPr sz="1400" spc="18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561</a:t>
            </a:r>
            <a:r>
              <a:rPr sz="1400" spc="18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тест</a:t>
            </a:r>
            <a:r>
              <a:rPr sz="1400" spc="17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может</a:t>
            </a:r>
            <a:r>
              <a:rPr sz="1400" spc="18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ошибочно</a:t>
            </a:r>
            <a:r>
              <a:rPr sz="1400" spc="18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дать</a:t>
            </a:r>
            <a:r>
              <a:rPr sz="1400" spc="17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результат</a:t>
            </a:r>
            <a:r>
              <a:rPr sz="1400" spc="17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"вероятно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простое",</a:t>
            </a:r>
            <a:r>
              <a:rPr sz="1400" spc="3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так</a:t>
            </a:r>
            <a:r>
              <a:rPr sz="1400" spc="3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как</a:t>
            </a:r>
            <a:r>
              <a:rPr sz="1400" spc="3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400" spc="3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него</a:t>
            </a:r>
            <a:r>
              <a:rPr sz="1400" spc="3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выполняется</a:t>
            </a:r>
            <a:r>
              <a:rPr sz="1400" spc="3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сравнение</a:t>
            </a:r>
            <a:r>
              <a:rPr sz="1400" spc="3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Ферма</a:t>
            </a:r>
            <a:r>
              <a:rPr sz="1400" spc="3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400" spc="3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всех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оснований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a</a:t>
            </a:r>
            <a:r>
              <a:rPr sz="1400" i="1" dirty="0">
                <a:solidFill>
                  <a:srgbClr val="0E1115"/>
                </a:solidFill>
                <a:latin typeface="Times New Roman"/>
                <a:cs typeface="Times New Roman"/>
              </a:rPr>
              <a:t>a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,</a:t>
            </a:r>
            <a:r>
              <a:rPr sz="1400" spc="49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взаимно</a:t>
            </a:r>
            <a:r>
              <a:rPr sz="1400" spc="49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простых</a:t>
            </a:r>
            <a:r>
              <a:rPr sz="1400" spc="49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n</a:t>
            </a:r>
            <a:r>
              <a:rPr sz="1400" i="1" dirty="0">
                <a:solidFill>
                  <a:srgbClr val="0E1115"/>
                </a:solidFill>
                <a:latin typeface="Times New Roman"/>
                <a:cs typeface="Times New Roman"/>
              </a:rPr>
              <a:t>n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.</a:t>
            </a:r>
            <a:r>
              <a:rPr sz="1400" spc="47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Это</a:t>
            </a:r>
            <a:r>
              <a:rPr sz="1400" spc="49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демонстрирует</a:t>
            </a:r>
            <a:r>
              <a:rPr sz="1400" spc="49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основной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недостаток</a:t>
            </a:r>
            <a:r>
              <a:rPr sz="1400" spc="-7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теста.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6669" y="595731"/>
            <a:ext cx="5738495" cy="1945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1300" marR="5080" indent="-228600" algn="just">
              <a:lnSpc>
                <a:spcPct val="143800"/>
              </a:lnSpc>
              <a:spcBef>
                <a:spcPts val="110"/>
              </a:spcBef>
              <a:buSzPct val="71428"/>
              <a:buFont typeface="Symbol"/>
              <a:buChar char=""/>
              <a:tabLst>
                <a:tab pos="241300" algn="l"/>
              </a:tabLst>
            </a:pP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Тест</a:t>
            </a:r>
            <a:r>
              <a:rPr sz="1400" b="1" spc="3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0E1115"/>
                </a:solidFill>
                <a:latin typeface="Times New Roman"/>
                <a:cs typeface="Times New Roman"/>
              </a:rPr>
              <a:t>Соловэя-</a:t>
            </a: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Штрассена:</a:t>
            </a:r>
            <a:r>
              <a:rPr sz="1400" b="1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Более</a:t>
            </a:r>
            <a:r>
              <a:rPr sz="1400" spc="3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надежен.</a:t>
            </a:r>
            <a:r>
              <a:rPr sz="1400" spc="3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Число</a:t>
            </a:r>
            <a:r>
              <a:rPr sz="1400" spc="3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Кармайкла</a:t>
            </a:r>
            <a:r>
              <a:rPr sz="1400" spc="3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561</a:t>
            </a:r>
            <a:r>
              <a:rPr sz="1400" spc="3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не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проходит</a:t>
            </a:r>
            <a:r>
              <a:rPr sz="1400" spc="49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этот</a:t>
            </a:r>
            <a:r>
              <a:rPr sz="1400" spc="49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тест</a:t>
            </a:r>
            <a:r>
              <a:rPr sz="1400" spc="49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400" spc="49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большинства</a:t>
            </a:r>
            <a:r>
              <a:rPr sz="1400" spc="215" dirty="0">
                <a:solidFill>
                  <a:srgbClr val="0E1115"/>
                </a:solidFill>
                <a:latin typeface="Times New Roman"/>
                <a:cs typeface="Times New Roman"/>
              </a:rPr>
              <a:t> 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оснований,</a:t>
            </a:r>
            <a:r>
              <a:rPr sz="1400" spc="49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так</a:t>
            </a:r>
            <a:r>
              <a:rPr sz="1400" spc="215" dirty="0">
                <a:solidFill>
                  <a:srgbClr val="0E1115"/>
                </a:solidFill>
                <a:latin typeface="Times New Roman"/>
                <a:cs typeface="Times New Roman"/>
              </a:rPr>
              <a:t>  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как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равенство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a(n−1)/2≡(an)(modn)</a:t>
            </a:r>
            <a:r>
              <a:rPr sz="1400" i="1" spc="-10" dirty="0">
                <a:solidFill>
                  <a:srgbClr val="0E1115"/>
                </a:solidFill>
                <a:latin typeface="Times New Roman"/>
                <a:cs typeface="Times New Roman"/>
              </a:rPr>
              <a:t>a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(</a:t>
            </a:r>
            <a:r>
              <a:rPr sz="1400" i="1" spc="-10" dirty="0">
                <a:solidFill>
                  <a:srgbClr val="0E1115"/>
                </a:solidFill>
                <a:latin typeface="Times New Roman"/>
                <a:cs typeface="Times New Roman"/>
              </a:rPr>
              <a:t>n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−1)/2≡(</a:t>
            </a:r>
            <a:r>
              <a:rPr sz="1400" i="1" spc="-10" dirty="0">
                <a:solidFill>
                  <a:srgbClr val="0E1115"/>
                </a:solidFill>
                <a:latin typeface="Times New Roman"/>
                <a:cs typeface="Times New Roman"/>
              </a:rPr>
              <a:t>na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)(mod</a:t>
            </a:r>
            <a:r>
              <a:rPr sz="1400" i="1" spc="-10" dirty="0">
                <a:solidFill>
                  <a:srgbClr val="0E1115"/>
                </a:solidFill>
                <a:latin typeface="Times New Roman"/>
                <a:cs typeface="Times New Roman"/>
              </a:rPr>
              <a:t>n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)</a:t>
            </a:r>
            <a:r>
              <a:rPr sz="1400" spc="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400" spc="10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него</a:t>
            </a:r>
            <a:r>
              <a:rPr sz="1400" spc="10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не</a:t>
            </a:r>
            <a:r>
              <a:rPr sz="1400" spc="10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всегда выполняется.</a:t>
            </a:r>
            <a:endParaRPr sz="14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44300"/>
              </a:lnSpc>
              <a:spcBef>
                <a:spcPts val="585"/>
              </a:spcBef>
              <a:buSzPct val="71428"/>
              <a:buFont typeface="Symbol"/>
              <a:buChar char=""/>
              <a:tabLst>
                <a:tab pos="241300" algn="l"/>
              </a:tabLst>
            </a:pPr>
            <a:r>
              <a:rPr sz="1400" b="1" spc="-20" dirty="0">
                <a:solidFill>
                  <a:srgbClr val="0E1115"/>
                </a:solidFill>
                <a:latin typeface="Times New Roman"/>
                <a:cs typeface="Times New Roman"/>
              </a:rPr>
              <a:t>Тест</a:t>
            </a:r>
            <a:r>
              <a:rPr sz="1400" b="1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Миллера-</a:t>
            </a: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Рабина:</a:t>
            </a:r>
            <a:r>
              <a:rPr sz="1400" b="1" spc="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Показал</a:t>
            </a:r>
            <a:r>
              <a:rPr sz="1400" spc="-7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наилучшие</a:t>
            </a:r>
            <a:r>
              <a:rPr sz="1400" spc="-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результаты.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Даже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400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чисел Кармайкла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он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высокой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вероятностью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определяет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их как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составные.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8120" y="4601082"/>
            <a:ext cx="5966460" cy="368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164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Вывод</a:t>
            </a:r>
            <a:r>
              <a:rPr sz="1400" b="1" spc="-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50" dirty="0">
                <a:solidFill>
                  <a:srgbClr val="0E1115"/>
                </a:solid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12700" marR="10160" indent="448945" algn="just">
              <a:lnSpc>
                <a:spcPct val="144300"/>
              </a:lnSpc>
              <a:spcBef>
                <a:spcPts val="560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ходе</a:t>
            </a:r>
            <a:r>
              <a:rPr sz="1400" spc="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лабораторной</a:t>
            </a:r>
            <a:r>
              <a:rPr sz="1400" spc="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работы</a:t>
            </a:r>
            <a:r>
              <a:rPr sz="1400" spc="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были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изучены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программно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реализованы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три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вероятностных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алгоритма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проверки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чисел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на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 простоту.</a:t>
            </a:r>
            <a:endParaRPr sz="1400">
              <a:latin typeface="Times New Roman"/>
              <a:cs typeface="Times New Roman"/>
            </a:endParaRPr>
          </a:p>
          <a:p>
            <a:pPr marL="468630" indent="-227965" algn="just">
              <a:lnSpc>
                <a:spcPct val="100000"/>
              </a:lnSpc>
              <a:spcBef>
                <a:spcPts val="1335"/>
              </a:spcBef>
              <a:buSzPct val="71428"/>
              <a:buFont typeface="Symbol"/>
              <a:buChar char=""/>
              <a:tabLst>
                <a:tab pos="468630" algn="l"/>
              </a:tabLst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Тест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Ферма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прост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реализации,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но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уязвим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чисел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Кармайкла.</a:t>
            </a:r>
            <a:endParaRPr sz="1400">
              <a:latin typeface="Times New Roman"/>
              <a:cs typeface="Times New Roman"/>
            </a:endParaRPr>
          </a:p>
          <a:p>
            <a:pPr marL="468630" indent="-227965" algn="just">
              <a:lnSpc>
                <a:spcPct val="100000"/>
              </a:lnSpc>
              <a:spcBef>
                <a:spcPts val="1330"/>
              </a:spcBef>
              <a:buSzPct val="71428"/>
              <a:buFont typeface="Symbol"/>
              <a:buChar char=""/>
              <a:tabLst>
                <a:tab pos="468630" algn="l"/>
              </a:tabLst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Тест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Соловэя-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Штрассена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сложнее,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но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надежнее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теста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Ферма.</a:t>
            </a:r>
            <a:endParaRPr sz="1400">
              <a:latin typeface="Times New Roman"/>
              <a:cs typeface="Times New Roman"/>
            </a:endParaRPr>
          </a:p>
          <a:p>
            <a:pPr marL="469265" marR="6350" indent="-228600" algn="just">
              <a:lnSpc>
                <a:spcPct val="143900"/>
              </a:lnSpc>
              <a:spcBef>
                <a:spcPts val="595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Тест</a:t>
            </a:r>
            <a:r>
              <a:rPr sz="1400" spc="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Миллера-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Рабина</a:t>
            </a:r>
            <a:r>
              <a:rPr sz="1400" spc="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является</a:t>
            </a:r>
            <a:r>
              <a:rPr sz="1400" spc="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наиболее</a:t>
            </a:r>
            <a:r>
              <a:rPr sz="1400" spc="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предпочтительным,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так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как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он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эффективен,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широко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используется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на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практике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не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имеет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"слепых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 зон",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подобных</a:t>
            </a:r>
            <a:r>
              <a:rPr sz="1400" spc="-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числам</a:t>
            </a:r>
            <a:r>
              <a:rPr sz="1400" spc="-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Кармайкла.</a:t>
            </a:r>
            <a:endParaRPr sz="1400">
              <a:latin typeface="Times New Roman"/>
              <a:cs typeface="Times New Roman"/>
            </a:endParaRPr>
          </a:p>
          <a:p>
            <a:pPr marL="12700" marR="5080" indent="448945" algn="just">
              <a:lnSpc>
                <a:spcPct val="143700"/>
              </a:lnSpc>
              <a:spcBef>
                <a:spcPts val="600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400" spc="3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повышения</a:t>
            </a:r>
            <a:r>
              <a:rPr sz="1400" spc="3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достоверности</a:t>
            </a:r>
            <a:r>
              <a:rPr sz="1400" spc="3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результатов</a:t>
            </a:r>
            <a:r>
              <a:rPr sz="1400" spc="3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на</a:t>
            </a:r>
            <a:r>
              <a:rPr sz="1400" spc="3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практике</a:t>
            </a:r>
            <a:r>
              <a:rPr sz="1400" spc="3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необходимо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проводить</a:t>
            </a:r>
            <a:r>
              <a:rPr sz="1400" spc="17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несколько</a:t>
            </a:r>
            <a:r>
              <a:rPr sz="1400" spc="18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итераций</a:t>
            </a:r>
            <a:r>
              <a:rPr sz="1400" spc="17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каждого</a:t>
            </a:r>
            <a:r>
              <a:rPr sz="1400" spc="18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теста</a:t>
            </a:r>
            <a:r>
              <a:rPr sz="1400" spc="17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1400" spc="17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разными</a:t>
            </a:r>
            <a:r>
              <a:rPr sz="1400" spc="17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случайными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основаниями</a:t>
            </a:r>
            <a:r>
              <a:rPr sz="1400" spc="-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a</a:t>
            </a:r>
            <a:r>
              <a:rPr sz="1400" i="1" spc="-25" dirty="0">
                <a:solidFill>
                  <a:srgbClr val="0E1115"/>
                </a:solidFill>
                <a:latin typeface="Times New Roman"/>
                <a:cs typeface="Times New Roman"/>
              </a:rPr>
              <a:t>a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455</Words>
  <Application>Microsoft Office PowerPoint</Application>
  <PresentationFormat>Custom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Calibri</vt:lpstr>
      <vt:lpstr>Cambria Math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Ever</dc:creator>
  <cp:lastModifiedBy>Amine Moumene</cp:lastModifiedBy>
  <cp:revision>1</cp:revision>
  <dcterms:created xsi:type="dcterms:W3CDTF">2026-03-13T20:40:07Z</dcterms:created>
  <dcterms:modified xsi:type="dcterms:W3CDTF">2026-03-13T20:44:10Z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2026-03-13T00:00:00Z</vt:filetime>
  </property>
  <property fmtid="{D5CDD505-2E9C-101B-9397-08002B2CF9AE}" pid="5" name="Producer">
    <vt:lpwstr>www.ilovepdf.com</vt:lpwstr>
  </property>
</Properties>
</file>