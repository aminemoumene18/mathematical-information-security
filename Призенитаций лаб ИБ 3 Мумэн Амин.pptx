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1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86966" y="691641"/>
            <a:ext cx="5207635" cy="1016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dirty="0">
                <a:latin typeface="Times New Roman"/>
                <a:cs typeface="Times New Roman"/>
              </a:rPr>
              <a:t>РОССИЙСКИЙ</a:t>
            </a:r>
            <a:r>
              <a:rPr sz="1600" b="1" spc="-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УНИВЕРСИТЕТ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ДРУЖБЫ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683260" marR="111125" indent="73025">
              <a:lnSpc>
                <a:spcPct val="183300"/>
              </a:lnSpc>
              <a:spcBef>
                <a:spcPts val="155"/>
              </a:spcBef>
            </a:pPr>
            <a:r>
              <a:rPr sz="1300" b="1" spc="-10" dirty="0">
                <a:latin typeface="Times New Roman"/>
                <a:cs typeface="Times New Roman"/>
              </a:rPr>
              <a:t>Факультет</a:t>
            </a:r>
            <a:r>
              <a:rPr sz="1300" b="1" spc="-1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физико-</a:t>
            </a:r>
            <a:r>
              <a:rPr sz="1300" b="1" spc="-10" dirty="0">
                <a:latin typeface="Times New Roman"/>
                <a:cs typeface="Times New Roman"/>
              </a:rPr>
              <a:t>математических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естественных</a:t>
            </a:r>
            <a:r>
              <a:rPr sz="1300" b="1" spc="-45" dirty="0">
                <a:latin typeface="Times New Roman"/>
                <a:cs typeface="Times New Roman"/>
              </a:rPr>
              <a:t> </a:t>
            </a:r>
            <a:r>
              <a:rPr sz="1300" b="1" spc="-20" dirty="0">
                <a:latin typeface="Times New Roman"/>
                <a:cs typeface="Times New Roman"/>
              </a:rPr>
              <a:t>наук </a:t>
            </a:r>
            <a:r>
              <a:rPr sz="1300" b="1" spc="-10" dirty="0">
                <a:latin typeface="Times New Roman"/>
                <a:cs typeface="Times New Roman"/>
              </a:rPr>
              <a:t>Кафедра</a:t>
            </a:r>
            <a:r>
              <a:rPr sz="1300" b="1" spc="-40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прикладной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информатики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dirty="0">
                <a:latin typeface="Times New Roman"/>
                <a:cs typeface="Times New Roman"/>
              </a:rPr>
              <a:t>теории</a:t>
            </a:r>
            <a:r>
              <a:rPr sz="1300" b="1" spc="-35" dirty="0">
                <a:latin typeface="Times New Roman"/>
                <a:cs typeface="Times New Roman"/>
              </a:rPr>
              <a:t> </a:t>
            </a:r>
            <a:r>
              <a:rPr sz="1300" b="1" spc="-10" dirty="0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0391" y="2923412"/>
            <a:ext cx="5447030" cy="154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54940" algn="ctr">
              <a:lnSpc>
                <a:spcPct val="100000"/>
              </a:lnSpc>
              <a:spcBef>
                <a:spcPts val="105"/>
              </a:spcBef>
            </a:pPr>
            <a:r>
              <a:rPr lang="ru-RU" sz="1600" b="1" spc="-10" dirty="0" err="1">
                <a:latin typeface="Times New Roman"/>
                <a:cs typeface="Times New Roman"/>
              </a:rPr>
              <a:t>Призенитаций</a:t>
            </a:r>
            <a:r>
              <a:rPr lang="ru-RU" sz="1600" b="1" spc="-10">
                <a:latin typeface="Times New Roman"/>
                <a:cs typeface="Times New Roman"/>
              </a:rPr>
              <a:t> </a:t>
            </a:r>
            <a:endParaRPr sz="1600" dirty="0">
              <a:latin typeface="Times New Roman"/>
              <a:cs typeface="Times New Roman"/>
            </a:endParaRPr>
          </a:p>
          <a:p>
            <a:pPr marR="152400" algn="ctr">
              <a:lnSpc>
                <a:spcPct val="100000"/>
              </a:lnSpc>
              <a:spcBef>
                <a:spcPts val="1440"/>
              </a:spcBef>
            </a:pPr>
            <a:r>
              <a:rPr sz="1600" b="1" dirty="0">
                <a:latin typeface="Times New Roman"/>
                <a:cs typeface="Times New Roman"/>
              </a:rPr>
              <a:t>ПО</a:t>
            </a:r>
            <a:r>
              <a:rPr sz="1600" b="1" spc="-5" dirty="0">
                <a:latin typeface="Times New Roman"/>
                <a:cs typeface="Times New Roman"/>
              </a:rPr>
              <a:t> </a:t>
            </a:r>
            <a:r>
              <a:rPr sz="1600" b="1" spc="-40" dirty="0">
                <a:latin typeface="Times New Roman"/>
                <a:cs typeface="Times New Roman"/>
              </a:rPr>
              <a:t>ЛАБОРАТОРНОЙ</a:t>
            </a:r>
            <a:r>
              <a:rPr sz="1600" b="1" spc="-35" dirty="0">
                <a:latin typeface="Times New Roman"/>
                <a:cs typeface="Times New Roman"/>
              </a:rPr>
              <a:t> РАБОТЕ</a:t>
            </a:r>
            <a:r>
              <a:rPr sz="1600" b="1" spc="-1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№ </a:t>
            </a:r>
            <a:r>
              <a:rPr sz="1600" b="1" u="sng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b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</a:t>
            </a:r>
            <a:endParaRPr sz="1600" dirty="0">
              <a:latin typeface="Times New Roman"/>
              <a:cs typeface="Times New Roman"/>
            </a:endParaRPr>
          </a:p>
          <a:p>
            <a:pPr marL="1515745" marR="5080" indent="-1503680">
              <a:lnSpc>
                <a:spcPct val="143700"/>
              </a:lnSpc>
              <a:spcBef>
                <a:spcPts val="1180"/>
              </a:spcBef>
            </a:pP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sz="1600" i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Математические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основы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защиты</a:t>
            </a:r>
            <a:r>
              <a:rPr sz="1600" i="1" u="sng" spc="-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информации</a:t>
            </a:r>
            <a:r>
              <a:rPr sz="1600" i="1" u="sng" spc="-3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</a:t>
            </a:r>
            <a:r>
              <a:rPr sz="1600" i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spc="-25" dirty="0"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информационной</a:t>
            </a:r>
            <a:r>
              <a:rPr sz="1600" i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безопасности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4042" y="7258938"/>
            <a:ext cx="1610995" cy="582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Мумэн</a:t>
            </a:r>
            <a:r>
              <a:rPr sz="1300" spc="-6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Амин</a:t>
            </a:r>
            <a:endParaRPr sz="13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1270"/>
              </a:spcBef>
            </a:pPr>
            <a:r>
              <a:rPr sz="1300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sz="1300" spc="45" dirty="0">
                <a:latin typeface="Times New Roman"/>
                <a:cs typeface="Times New Roman"/>
              </a:rPr>
              <a:t> </a:t>
            </a:r>
            <a:r>
              <a:rPr sz="1300" spc="-20" dirty="0">
                <a:latin typeface="Times New Roman"/>
                <a:cs typeface="Times New Roman"/>
              </a:rPr>
              <a:t>НФИмд-</a:t>
            </a:r>
            <a:r>
              <a:rPr sz="1300" spc="-10" dirty="0">
                <a:latin typeface="Times New Roman"/>
                <a:cs typeface="Times New Roman"/>
              </a:rPr>
              <a:t>01-</a:t>
            </a:r>
            <a:r>
              <a:rPr sz="1300" spc="-25" dirty="0"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14521" y="9423603"/>
            <a:ext cx="126174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latin typeface="Times New Roman"/>
                <a:cs typeface="Times New Roman"/>
              </a:rPr>
              <a:t>МОСКВА</a:t>
            </a:r>
            <a:r>
              <a:rPr sz="1300" b="1" spc="-20" dirty="0">
                <a:latin typeface="Times New Roman"/>
                <a:cs typeface="Times New Roman"/>
              </a:rPr>
              <a:t> </a:t>
            </a:r>
            <a:r>
              <a:rPr sz="1300" dirty="0">
                <a:latin typeface="Times New Roman"/>
                <a:cs typeface="Times New Roman"/>
              </a:rPr>
              <a:t>2026</a:t>
            </a:r>
            <a:r>
              <a:rPr sz="1300" spc="-20" dirty="0">
                <a:latin typeface="Times New Roman"/>
                <a:cs typeface="Times New Roman"/>
              </a:rPr>
              <a:t> </a:t>
            </a:r>
            <a:r>
              <a:rPr sz="1300" spc="-80" dirty="0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6596" y="694689"/>
            <a:ext cx="5346065" cy="27419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Цель</a:t>
            </a:r>
            <a:r>
              <a:rPr sz="1400"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работы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ct val="95800"/>
              </a:lnSpc>
              <a:spcBef>
                <a:spcPts val="139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Реализовать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шифрования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дешифрования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методом гаммирования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использованием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 конечной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гаммы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(ключа)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операции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сложения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(XOR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модуль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33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русского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алфавита).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14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Теоретическая</a:t>
            </a:r>
            <a:r>
              <a:rPr sz="1400" b="1" u="sng" spc="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часть:</a:t>
            </a:r>
            <a:r>
              <a:rPr sz="1400" b="1" u="sng" spc="5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endParaRPr sz="1400">
              <a:latin typeface="Times New Roman"/>
              <a:cs typeface="Times New Roman"/>
            </a:endParaRPr>
          </a:p>
          <a:p>
            <a:pPr marL="469900" indent="-228600">
              <a:lnSpc>
                <a:spcPts val="1405"/>
              </a:lnSpc>
              <a:spcBef>
                <a:spcPts val="1330"/>
              </a:spcBef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Исходный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текст: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ПРИКАЗ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Ключ</a:t>
            </a:r>
            <a:r>
              <a:rPr sz="12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(гамма):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ГАММА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Алфавит: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заглавные</a:t>
            </a:r>
            <a:r>
              <a:rPr sz="1200" spc="-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русские</a:t>
            </a:r>
            <a:r>
              <a:rPr sz="12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буквы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(33</a:t>
            </a:r>
            <a:r>
              <a:rPr sz="12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символа,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включая</a:t>
            </a:r>
            <a:r>
              <a:rPr sz="12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Ё)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405"/>
              </a:lnSpc>
              <a:buSzPct val="83333"/>
              <a:buFont typeface="Symbol"/>
              <a:buChar char=""/>
              <a:tabLst>
                <a:tab pos="469900" algn="l"/>
              </a:tabLst>
            </a:pP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Методы:</a:t>
            </a:r>
            <a:endParaRPr sz="1200">
              <a:latin typeface="Times New Roman"/>
              <a:cs typeface="Times New Roman"/>
            </a:endParaRPr>
          </a:p>
          <a:p>
            <a:pPr marL="926465" lvl="1" indent="-227965">
              <a:lnSpc>
                <a:spcPts val="1405"/>
              </a:lnSpc>
              <a:spcBef>
                <a:spcPts val="550"/>
              </a:spcBef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Побитовое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XOR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(универсальное,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для</a:t>
            </a:r>
            <a:r>
              <a:rPr sz="12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любых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символов)</a:t>
            </a:r>
            <a:endParaRPr sz="1200">
              <a:latin typeface="Times New Roman"/>
              <a:cs typeface="Times New Roman"/>
            </a:endParaRPr>
          </a:p>
          <a:p>
            <a:pPr marL="926465" lvl="1" indent="-227965">
              <a:lnSpc>
                <a:spcPts val="1405"/>
              </a:lnSpc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Сложение</a:t>
            </a:r>
            <a:r>
              <a:rPr sz="12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номеров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букв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по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2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33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(для</a:t>
            </a:r>
            <a:r>
              <a:rPr sz="12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0E1115"/>
                </a:solidFill>
                <a:latin typeface="Times New Roman"/>
                <a:cs typeface="Times New Roman"/>
              </a:rPr>
              <a:t>русского</a:t>
            </a:r>
            <a:r>
              <a:rPr sz="12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алфавита)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030" y="3941825"/>
            <a:ext cx="2699385" cy="619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3.</a:t>
            </a:r>
            <a:r>
              <a:rPr sz="1400" b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Реализация</a:t>
            </a:r>
            <a:r>
              <a:rPr sz="1400" b="1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Программа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состоит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из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двух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частей: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6596" y="4707127"/>
            <a:ext cx="5184775" cy="12319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3.1.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помощью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XOR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(универсальное)</a:t>
            </a:r>
            <a:endParaRPr sz="1400">
              <a:latin typeface="Times New Roman"/>
              <a:cs typeface="Times New Roman"/>
            </a:endParaRPr>
          </a:p>
          <a:p>
            <a:pPr marL="12700" marR="5080" indent="450850">
              <a:lnSpc>
                <a:spcPct val="143600"/>
              </a:lnSpc>
              <a:spcBef>
                <a:spcPts val="590"/>
              </a:spcBef>
              <a:tabLst>
                <a:tab pos="3512185" algn="l"/>
                <a:tab pos="445008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Функции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encrypt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decrypt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выполняют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побитовое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сложение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символа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соответствующим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символом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ключа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(циклически). Результат: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81163" y="5088127"/>
            <a:ext cx="64706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каждого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6596" y="6085077"/>
            <a:ext cx="5962650" cy="3533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63550">
              <a:lnSpc>
                <a:spcPct val="100000"/>
              </a:lnSpc>
              <a:spcBef>
                <a:spcPts val="90"/>
              </a:spcBef>
            </a:pP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text</a:t>
            </a:r>
            <a:endParaRPr sz="1400">
              <a:latin typeface="Times New Roman"/>
              <a:cs typeface="Times New Roman"/>
            </a:endParaRPr>
          </a:p>
          <a:p>
            <a:pPr marL="463550" marR="2498725">
              <a:lnSpc>
                <a:spcPct val="178700"/>
              </a:lnSpc>
              <a:spcBef>
                <a:spcPts val="2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Зашифрованный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текст: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Ђ</a:t>
            </a:r>
            <a:r>
              <a:rPr sz="1400" spc="3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Ђ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Ђ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Ђ</a:t>
            </a:r>
            <a:r>
              <a:rPr sz="1400" spc="3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Ђ</a:t>
            </a:r>
            <a:r>
              <a:rPr sz="1400" spc="3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Ђ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Расшифрованный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текст: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ПРИКАЗ</a:t>
            </a:r>
            <a:endParaRPr sz="1400">
              <a:latin typeface="Times New Roman"/>
              <a:cs typeface="Times New Roman"/>
            </a:endParaRPr>
          </a:p>
          <a:p>
            <a:pPr marL="463550" marR="9525">
              <a:lnSpc>
                <a:spcPct val="180000"/>
              </a:lnSpc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3.2.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Шифрование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помощью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алфавитного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сложения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33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Каждая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буква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текста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254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ключа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заменяется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её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порядковым</a:t>
            </a:r>
            <a:r>
              <a:rPr sz="1400" spc="2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номером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endParaRPr sz="1400">
              <a:latin typeface="Times New Roman"/>
              <a:cs typeface="Times New Roman"/>
            </a:endParaRPr>
          </a:p>
          <a:p>
            <a:pPr marL="12700" marR="5080">
              <a:lnSpc>
                <a:spcPts val="2420"/>
              </a:lnSpc>
              <a:spcBef>
                <a:spcPts val="19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алфавите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(от</a:t>
            </a:r>
            <a:r>
              <a:rPr sz="1400" spc="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до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33).</a:t>
            </a:r>
            <a:r>
              <a:rPr sz="1400" spc="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Затем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выполняется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сложение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400" spc="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33,</a:t>
            </a:r>
            <a:r>
              <a:rPr sz="1400" spc="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 преобразуется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обратно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букву.</a:t>
            </a:r>
            <a:endParaRPr sz="1400">
              <a:latin typeface="Times New Roman"/>
              <a:cs typeface="Times New Roman"/>
            </a:endParaRPr>
          </a:p>
          <a:p>
            <a:pPr marL="463550">
              <a:lnSpc>
                <a:spcPct val="100000"/>
              </a:lnSpc>
              <a:spcBef>
                <a:spcPts val="1120"/>
              </a:spcBef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Вывод</a:t>
            </a:r>
            <a:r>
              <a:rPr sz="1400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программы:</a:t>
            </a:r>
            <a:endParaRPr sz="1400">
              <a:latin typeface="Times New Roman"/>
              <a:cs typeface="Times New Roman"/>
            </a:endParaRPr>
          </a:p>
          <a:p>
            <a:pPr marL="463550" marR="4335780">
              <a:lnSpc>
                <a:spcPct val="180000"/>
              </a:lnSpc>
            </a:pP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text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Гаммирование: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5527" y="691642"/>
            <a:ext cx="5734050" cy="49117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34950">
              <a:lnSpc>
                <a:spcPct val="100000"/>
              </a:lnSpc>
              <a:spcBef>
                <a:spcPts val="9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16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4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20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34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17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18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320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9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13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22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34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11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13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 24</a:t>
            </a:r>
            <a:endParaRPr sz="1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134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1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2</a:t>
            </a:r>
            <a:endParaRPr sz="1400">
              <a:latin typeface="Times New Roman"/>
              <a:cs typeface="Times New Roman"/>
            </a:endParaRPr>
          </a:p>
          <a:p>
            <a:pPr marL="234950" marR="3888740">
              <a:lnSpc>
                <a:spcPts val="3020"/>
              </a:lnSpc>
              <a:spcBef>
                <a:spcPts val="305"/>
              </a:spcBef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first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8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+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second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4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=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12 Результат: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УСХЧБК</a:t>
            </a:r>
            <a:endParaRPr sz="1400">
              <a:latin typeface="Times New Roman"/>
              <a:cs typeface="Times New Roman"/>
            </a:endParaRPr>
          </a:p>
          <a:p>
            <a:pPr marL="234950" algn="just">
              <a:lnSpc>
                <a:spcPct val="100000"/>
              </a:lnSpc>
              <a:spcBef>
                <a:spcPts val="105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4.</a:t>
            </a:r>
            <a:r>
              <a:rPr sz="1400" b="1" spc="-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Результаты</a:t>
            </a:r>
            <a:r>
              <a:rPr sz="1400" b="1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241300" marR="5715" indent="-228600" algn="just">
              <a:lnSpc>
                <a:spcPct val="143600"/>
              </a:lnSpc>
              <a:spcBef>
                <a:spcPts val="565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При</a:t>
            </a:r>
            <a:r>
              <a:rPr sz="1400" spc="-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использовании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XOR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текст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зашифровывается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-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нечитаемые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символы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(бинарные</a:t>
            </a:r>
            <a:r>
              <a:rPr sz="1400" spc="2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коды),</a:t>
            </a:r>
            <a:r>
              <a:rPr sz="1400" spc="3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что</a:t>
            </a:r>
            <a:r>
              <a:rPr sz="1400" spc="29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соответствует</a:t>
            </a:r>
            <a:r>
              <a:rPr sz="1400" spc="30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классическому</a:t>
            </a:r>
            <a:r>
              <a:rPr sz="1400" spc="2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потоковому шифрованию.</a:t>
            </a:r>
            <a:endParaRPr sz="14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143600"/>
              </a:lnSpc>
              <a:spcBef>
                <a:spcPts val="615"/>
              </a:spcBef>
              <a:buSzPct val="71428"/>
              <a:buFont typeface="Symbol"/>
              <a:buChar char=""/>
              <a:tabLst>
                <a:tab pos="24130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</a:t>
            </a:r>
            <a:r>
              <a:rPr sz="1400" spc="4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использовании</a:t>
            </a:r>
            <a:r>
              <a:rPr sz="1400" spc="4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алфавитного</a:t>
            </a:r>
            <a:r>
              <a:rPr sz="1400" spc="4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сложения</a:t>
            </a:r>
            <a:r>
              <a:rPr sz="1400" spc="459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4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400" spc="4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33</a:t>
            </a:r>
            <a:r>
              <a:rPr sz="1400" spc="4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получен шифротекст</a:t>
            </a:r>
            <a:r>
              <a:rPr sz="1400" spc="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«УСХЧБК»,</a:t>
            </a:r>
            <a:r>
              <a:rPr sz="1400" spc="17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что</a:t>
            </a:r>
            <a:r>
              <a:rPr sz="1400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полностью</a:t>
            </a:r>
            <a:r>
              <a:rPr sz="1400" spc="16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совпадает</a:t>
            </a:r>
            <a:r>
              <a:rPr sz="1400" spc="16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170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примером</a:t>
            </a:r>
            <a:r>
              <a:rPr sz="1400" spc="185" dirty="0">
                <a:solidFill>
                  <a:srgbClr val="0E1115"/>
                </a:solidFill>
                <a:latin typeface="Times New Roman"/>
                <a:cs typeface="Times New Roman"/>
              </a:rPr>
              <a:t>  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в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методических</a:t>
            </a:r>
            <a:r>
              <a:rPr sz="1400" spc="1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указаниях.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030" y="6133845"/>
            <a:ext cx="3768725" cy="927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solidFill>
                  <a:srgbClr val="0E1115"/>
                </a:solidFill>
                <a:latin typeface="Times New Roman"/>
                <a:cs typeface="Times New Roman"/>
              </a:rPr>
              <a:t>5.</a:t>
            </a:r>
            <a:r>
              <a:rPr sz="1400" b="1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10" dirty="0">
                <a:solidFill>
                  <a:srgbClr val="0E1115"/>
                </a:solidFill>
                <a:latin typeface="Times New Roman"/>
                <a:cs typeface="Times New Roman"/>
              </a:rPr>
              <a:t>Выводы</a:t>
            </a:r>
            <a:r>
              <a:rPr sz="1400" b="1" spc="-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b="1" spc="-50" dirty="0">
                <a:solidFill>
                  <a:srgbClr val="0E1115"/>
                </a:solidFill>
                <a:latin typeface="Times New Roman"/>
                <a:cs typeface="Times New Roman"/>
              </a:rPr>
              <a:t>:</a:t>
            </a:r>
            <a:endParaRPr sz="1400">
              <a:latin typeface="Times New Roman"/>
              <a:cs typeface="Times New Roman"/>
            </a:endParaRPr>
          </a:p>
          <a:p>
            <a:pPr marL="18415" marR="5080">
              <a:lnSpc>
                <a:spcPct val="144500"/>
              </a:lnSpc>
              <a:spcBef>
                <a:spcPts val="575"/>
              </a:spcBef>
              <a:tabLst>
                <a:tab pos="238125" algn="l"/>
                <a:tab pos="1370965" algn="l"/>
                <a:tab pos="1784985" algn="l"/>
                <a:tab pos="2622550" algn="l"/>
              </a:tabLst>
            </a:pP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-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Реализованы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два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варианта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гаммирования: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алфавитное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сложение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</a:t>
            </a:r>
            <a:r>
              <a:rPr sz="1400" spc="-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модулю</a:t>
            </a:r>
            <a:r>
              <a:rPr sz="1400" spc="-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33.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22187" y="6514845"/>
            <a:ext cx="16103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5200" algn="l"/>
                <a:tab pos="1502410" algn="l"/>
              </a:tabLst>
            </a:pP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побитовое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XOR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	</a:t>
            </a:r>
            <a:r>
              <a:rPr sz="1400" spc="-5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4127" y="7108367"/>
            <a:ext cx="5509895" cy="1330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2065" indent="154940">
              <a:lnSpc>
                <a:spcPct val="144300"/>
              </a:lnSpc>
              <a:spcBef>
                <a:spcPts val="100"/>
              </a:spcBef>
              <a:buChar char="-"/>
              <a:tabLst>
                <a:tab pos="16764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Алгоритм</a:t>
            </a:r>
            <a:r>
              <a:rPr sz="1400" spc="34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обратим:</a:t>
            </a:r>
            <a:r>
              <a:rPr sz="1400" spc="3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повторное</a:t>
            </a:r>
            <a:r>
              <a:rPr sz="1400" spc="3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применение</a:t>
            </a:r>
            <a:r>
              <a:rPr sz="1400" spc="3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ключа</a:t>
            </a:r>
            <a:r>
              <a:rPr sz="1400" spc="34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восстанавливает 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исходный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текст.</a:t>
            </a:r>
            <a:endParaRPr sz="1400">
              <a:latin typeface="Times New Roman"/>
              <a:cs typeface="Times New Roman"/>
            </a:endParaRPr>
          </a:p>
          <a:p>
            <a:pPr marL="12700" marR="5080" indent="118110">
              <a:lnSpc>
                <a:spcPct val="142900"/>
              </a:lnSpc>
              <a:spcBef>
                <a:spcPts val="625"/>
              </a:spcBef>
              <a:buChar char="-"/>
              <a:tabLst>
                <a:tab pos="130810" algn="l"/>
              </a:tabLst>
            </a:pP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Метод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гаммирования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конечным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ключом</a:t>
            </a:r>
            <a:r>
              <a:rPr sz="1400" spc="6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прост</a:t>
            </a:r>
            <a:r>
              <a:rPr sz="1400" spc="5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в</a:t>
            </a:r>
            <a:r>
              <a:rPr sz="1400" spc="5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реализации,</a:t>
            </a:r>
            <a:r>
              <a:rPr sz="1400" spc="6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но</a:t>
            </a:r>
            <a:r>
              <a:rPr sz="1400" spc="3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25" dirty="0">
                <a:solidFill>
                  <a:srgbClr val="0E1115"/>
                </a:solidFill>
                <a:latin typeface="Times New Roman"/>
                <a:cs typeface="Times New Roman"/>
              </a:rPr>
              <a:t>его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криптостойкость</a:t>
            </a:r>
            <a:r>
              <a:rPr sz="1400" spc="-3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зависит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от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длины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и</a:t>
            </a:r>
            <a:r>
              <a:rPr sz="1400" spc="-20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0E1115"/>
                </a:solidFill>
                <a:latin typeface="Times New Roman"/>
                <a:cs typeface="Times New Roman"/>
              </a:rPr>
              <a:t>случайности</a:t>
            </a:r>
            <a:r>
              <a:rPr sz="1400" spc="-15" dirty="0">
                <a:solidFill>
                  <a:srgbClr val="0E1115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0E1115"/>
                </a:solidFill>
                <a:latin typeface="Times New Roman"/>
                <a:cs typeface="Times New Roman"/>
              </a:rPr>
              <a:t>гаммы.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360</Words>
  <Application>Microsoft Office PowerPoint</Application>
  <PresentationFormat>Custom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Calibri</vt:lpstr>
      <vt:lpstr>Courier New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Ever</dc:creator>
  <cp:lastModifiedBy>Amine Moumene</cp:lastModifiedBy>
  <cp:revision>1</cp:revision>
  <dcterms:created xsi:type="dcterms:W3CDTF">2026-03-13T20:38:52Z</dcterms:created>
  <dcterms:modified xsi:type="dcterms:W3CDTF">2026-03-13T20:43:48Z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2026-03-13T00:00:00Z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2026-03-13T00:00:00Z</vt:filetime>
  </property>
  <property fmtid="{D5CDD505-2E9C-101B-9397-08002B2CF9AE}" pid="5" name="Producer">
    <vt:lpwstr>www.ilovepdf.com</vt:lpwstr>
  </property>
</Properties>
</file>