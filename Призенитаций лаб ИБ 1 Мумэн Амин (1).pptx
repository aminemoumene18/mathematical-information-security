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4A72-7236-36B5-800A-AF75A63CE1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154940" algn="ctr">
              <a:lnSpc>
                <a:spcPct val="100000"/>
              </a:lnSpc>
              <a:spcBef>
                <a:spcPts val="105"/>
              </a:spcBef>
            </a:pPr>
            <a:r>
              <a:rPr lang="ru-RU" sz="2400" b="1" spc="-10" dirty="0">
                <a:latin typeface="Times New Roman"/>
                <a:cs typeface="Times New Roman"/>
              </a:rPr>
              <a:t> </a:t>
            </a:r>
            <a:br>
              <a:rPr lang="ru-RU" sz="2400" dirty="0">
                <a:latin typeface="Times New Roman"/>
                <a:cs typeface="Times New Roman"/>
              </a:rPr>
            </a:br>
            <a:br>
              <a:rPr lang="ru-RU" sz="2400" dirty="0">
                <a:latin typeface="Times New Roman"/>
                <a:cs typeface="Times New Roman"/>
              </a:rPr>
            </a:br>
            <a:br>
              <a:rPr lang="ru-RU" sz="2400" dirty="0">
                <a:latin typeface="Times New Roman"/>
                <a:cs typeface="Times New Roman"/>
              </a:rPr>
            </a:br>
            <a:r>
              <a:rPr lang="ru-RU" sz="24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2400" b="1" spc="-10" dirty="0">
                <a:latin typeface="Times New Roman"/>
                <a:cs typeface="Times New Roman"/>
              </a:rPr>
              <a:t> </a:t>
            </a:r>
            <a:br>
              <a:rPr lang="ru-RU" sz="2400" dirty="0">
                <a:latin typeface="Times New Roman"/>
                <a:cs typeface="Times New Roman"/>
              </a:rPr>
            </a:br>
            <a:r>
              <a:rPr lang="ru-RU" sz="2400" b="1" dirty="0">
                <a:latin typeface="Times New Roman"/>
                <a:cs typeface="Times New Roman"/>
              </a:rPr>
              <a:t>ПО</a:t>
            </a:r>
            <a:r>
              <a:rPr lang="ru-RU" sz="2400" b="1" spc="-5" dirty="0">
                <a:latin typeface="Times New Roman"/>
                <a:cs typeface="Times New Roman"/>
              </a:rPr>
              <a:t> </a:t>
            </a:r>
            <a:r>
              <a:rPr lang="ru-RU" sz="2400" b="1" spc="-40" dirty="0">
                <a:latin typeface="Times New Roman"/>
                <a:cs typeface="Times New Roman"/>
              </a:rPr>
              <a:t>ЛАБОРАТОРНОЙ</a:t>
            </a:r>
            <a:r>
              <a:rPr lang="ru-RU" sz="2400" b="1" spc="-35" dirty="0">
                <a:latin typeface="Times New Roman"/>
                <a:cs typeface="Times New Roman"/>
              </a:rPr>
              <a:t> РАБОТЕ</a:t>
            </a:r>
            <a:r>
              <a:rPr lang="ru-RU" sz="2400" b="1" spc="-10" dirty="0">
                <a:latin typeface="Times New Roman"/>
                <a:cs typeface="Times New Roman"/>
              </a:rPr>
              <a:t> </a:t>
            </a:r>
            <a:r>
              <a:rPr lang="ru-RU" sz="2400" b="1" dirty="0">
                <a:latin typeface="Times New Roman"/>
                <a:cs typeface="Times New Roman"/>
              </a:rPr>
              <a:t>№ </a:t>
            </a:r>
            <a:r>
              <a:rPr lang="ru-RU" sz="2400" b="1" u="sng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br>
              <a:rPr lang="ru-RU" sz="2400" dirty="0">
                <a:latin typeface="Times New Roman"/>
                <a:cs typeface="Times New Roman"/>
              </a:rPr>
            </a:br>
            <a:r>
              <a:rPr lang="ru-RU" sz="2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lang="ru-RU" sz="2400" i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lang="ru-RU" sz="2400" i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lang="ru-RU" sz="24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lang="ru-RU" sz="2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lang="ru-RU" sz="24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lang="ru-RU" sz="24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i="1" spc="-25" dirty="0">
                <a:latin typeface="Times New Roman"/>
                <a:cs typeface="Times New Roman"/>
              </a:rPr>
              <a:t> </a:t>
            </a:r>
            <a:r>
              <a:rPr lang="ru-RU" sz="24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lang="ru-RU" sz="2400" i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24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br>
              <a:rPr lang="ru-RU" sz="2400" dirty="0">
                <a:latin typeface="Times New Roman"/>
                <a:cs typeface="Times New Roman"/>
              </a:rPr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7A7DD-0F72-2953-CF7E-1C8F787FF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ru-RU"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lang="ru-RU" sz="2400" spc="-65" dirty="0">
                <a:latin typeface="Times New Roman"/>
                <a:cs typeface="Times New Roman"/>
              </a:rPr>
              <a:t> </a:t>
            </a:r>
            <a:r>
              <a:rPr lang="ru-RU" sz="2400" dirty="0" err="1">
                <a:latin typeface="Times New Roman"/>
                <a:cs typeface="Times New Roman"/>
              </a:rPr>
              <a:t>Мумэн</a:t>
            </a:r>
            <a:r>
              <a:rPr lang="ru-RU" sz="2400" spc="-65" dirty="0">
                <a:latin typeface="Times New Roman"/>
                <a:cs typeface="Times New Roman"/>
              </a:rPr>
              <a:t> </a:t>
            </a:r>
            <a:r>
              <a:rPr lang="ru-RU" sz="2400" spc="-20" dirty="0">
                <a:latin typeface="Times New Roman"/>
                <a:cs typeface="Times New Roman"/>
              </a:rPr>
              <a:t>Амин</a:t>
            </a:r>
            <a:endParaRPr lang="ru-RU" sz="2400" dirty="0">
              <a:latin typeface="Times New Roman"/>
              <a:cs typeface="Times New Roman"/>
            </a:endParaRPr>
          </a:p>
          <a:p>
            <a:pPr marL="18415" algn="r">
              <a:lnSpc>
                <a:spcPct val="100000"/>
              </a:lnSpc>
              <a:spcBef>
                <a:spcPts val="1270"/>
              </a:spcBef>
            </a:pPr>
            <a:r>
              <a:rPr lang="ru-RU" sz="24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lang="ru-RU" sz="2400" spc="45" dirty="0">
                <a:latin typeface="Times New Roman"/>
                <a:cs typeface="Times New Roman"/>
              </a:rPr>
              <a:t> </a:t>
            </a:r>
            <a:r>
              <a:rPr lang="ru-RU" sz="2400" spc="-20" dirty="0">
                <a:latin typeface="Times New Roman"/>
                <a:cs typeface="Times New Roman"/>
              </a:rPr>
              <a:t>НФИмд-</a:t>
            </a:r>
            <a:r>
              <a:rPr lang="ru-RU" sz="2400" spc="-10" dirty="0">
                <a:latin typeface="Times New Roman"/>
                <a:cs typeface="Times New Roman"/>
              </a:rPr>
              <a:t>01-</a:t>
            </a:r>
            <a:r>
              <a:rPr lang="ru-RU" sz="2400" spc="-25" dirty="0">
                <a:latin typeface="Times New Roman"/>
                <a:cs typeface="Times New Roman"/>
              </a:rPr>
              <a:t>25</a:t>
            </a:r>
            <a:endParaRPr lang="ru-RU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36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F753-DEFE-F200-B515-5547E652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Цель</a:t>
            </a:r>
            <a:r>
              <a:rPr lang="ru-RU" sz="44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4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работы</a:t>
            </a:r>
            <a:br>
              <a:rPr lang="ru-RU" sz="4400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1DA2-E408-C9DF-0882-D0B7DDFD0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243840">
              <a:lnSpc>
                <a:spcPts val="1610"/>
              </a:lnSpc>
              <a:spcBef>
                <a:spcPts val="1435"/>
              </a:spcBef>
            </a:pP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Изучить</a:t>
            </a:r>
            <a:r>
              <a:rPr lang="ru-RU" sz="2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исторические</a:t>
            </a:r>
            <a:r>
              <a:rPr lang="ru-RU" sz="2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примеры</a:t>
            </a:r>
            <a:r>
              <a:rPr lang="ru-RU" sz="2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шифров</a:t>
            </a:r>
            <a:r>
              <a:rPr lang="ru-RU" sz="2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подстановки</a:t>
            </a:r>
            <a:r>
              <a:rPr lang="ru-RU" sz="2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(на</a:t>
            </a:r>
            <a:r>
              <a:rPr lang="ru-RU" sz="2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примере</a:t>
            </a:r>
            <a:r>
              <a:rPr lang="ru-RU" sz="2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spc="-10" dirty="0">
                <a:solidFill>
                  <a:srgbClr val="0E1115"/>
                </a:solidFill>
                <a:latin typeface="Times New Roman"/>
                <a:cs typeface="Times New Roman"/>
              </a:rPr>
              <a:t>шифров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Юлия</a:t>
            </a:r>
            <a:r>
              <a:rPr lang="ru-RU" sz="2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Цезаря</a:t>
            </a:r>
            <a:r>
              <a:rPr lang="ru-RU" sz="2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lang="ru-RU" sz="2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императора</a:t>
            </a:r>
            <a:r>
              <a:rPr lang="ru-RU" sz="2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spc="-10" dirty="0">
                <a:solidFill>
                  <a:srgbClr val="0E1115"/>
                </a:solidFill>
                <a:latin typeface="Times New Roman"/>
                <a:cs typeface="Times New Roman"/>
              </a:rPr>
              <a:t>Августа).</a:t>
            </a:r>
            <a:endParaRPr lang="ru-RU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lang="ru-RU" sz="2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Реализовать</a:t>
            </a:r>
            <a:r>
              <a:rPr lang="ru-RU" sz="2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их</a:t>
            </a:r>
            <a:r>
              <a:rPr lang="ru-RU" sz="2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 err="1">
                <a:solidFill>
                  <a:srgbClr val="0E1115"/>
                </a:solidFill>
                <a:latin typeface="Times New Roman"/>
                <a:cs typeface="Times New Roman"/>
              </a:rPr>
              <a:t>программно</a:t>
            </a:r>
            <a:r>
              <a:rPr lang="ru-RU" sz="2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lang="ru-RU" sz="2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языке</a:t>
            </a:r>
            <a:r>
              <a:rPr lang="ru-RU" sz="2400" spc="-10" dirty="0">
                <a:solidFill>
                  <a:srgbClr val="0E1115"/>
                </a:solidFill>
                <a:latin typeface="Times New Roman"/>
                <a:cs typeface="Times New Roman"/>
              </a:rPr>
              <a:t> Python.</a:t>
            </a:r>
            <a:endParaRPr lang="ru-RU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Проверить</a:t>
            </a:r>
            <a:r>
              <a:rPr lang="ru-RU" sz="2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корректность</a:t>
            </a:r>
            <a:r>
              <a:rPr lang="ru-RU" sz="2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lang="ru-RU" sz="2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lang="ru-RU" sz="2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исторических</a:t>
            </a:r>
            <a:r>
              <a:rPr lang="ru-RU" sz="2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примерах</a:t>
            </a:r>
            <a:endParaRPr lang="ru-RU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2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F753-DEFE-F200-B515-5547E652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Теоретическая</a:t>
            </a:r>
            <a:r>
              <a:rPr lang="ru-RU" sz="44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4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часть:</a:t>
            </a:r>
            <a:r>
              <a:rPr lang="ru-RU" sz="4400" b="1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br>
              <a:rPr lang="ru-RU" sz="4400" dirty="0">
                <a:latin typeface="Times New Roman"/>
                <a:cs typeface="Times New Roman"/>
              </a:rPr>
            </a:br>
            <a:br>
              <a:rPr lang="ru-RU" sz="4400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1DA2-E408-C9DF-0882-D0B7DDFD0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378460" marR="5080" indent="-366395">
              <a:lnSpc>
                <a:spcPct val="142900"/>
              </a:lnSpc>
              <a:spcBef>
                <a:spcPts val="1145"/>
              </a:spcBef>
            </a:pPr>
            <a:r>
              <a:rPr lang="ru-RU" sz="5600" dirty="0">
                <a:latin typeface="Times New Roman"/>
                <a:cs typeface="Times New Roman"/>
              </a:rPr>
              <a:t>Шифр</a:t>
            </a:r>
            <a:r>
              <a:rPr lang="ru-RU" sz="5600" spc="38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Цезаря</a:t>
            </a:r>
            <a:r>
              <a:rPr lang="ru-RU" sz="5600" spc="-1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—</a:t>
            </a:r>
            <a:r>
              <a:rPr lang="ru-RU" sz="5600" spc="36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каждый</a:t>
            </a:r>
            <a:r>
              <a:rPr lang="ru-RU" sz="5600" spc="36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символ</a:t>
            </a:r>
            <a:r>
              <a:rPr lang="ru-RU" sz="5600" spc="36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открытого</a:t>
            </a:r>
            <a:r>
              <a:rPr lang="ru-RU" sz="5600" spc="36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текста</a:t>
            </a:r>
            <a:r>
              <a:rPr lang="ru-RU" sz="5600" spc="37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заменяется</a:t>
            </a:r>
            <a:r>
              <a:rPr lang="ru-RU" sz="5600" spc="370" dirty="0">
                <a:latin typeface="Times New Roman"/>
                <a:cs typeface="Times New Roman"/>
              </a:rPr>
              <a:t> </a:t>
            </a:r>
            <a:r>
              <a:rPr lang="ru-RU" sz="5600" spc="-10" dirty="0">
                <a:latin typeface="Times New Roman"/>
                <a:cs typeface="Times New Roman"/>
              </a:rPr>
              <a:t>символом, находящимся</a:t>
            </a:r>
            <a:r>
              <a:rPr lang="ru-RU" sz="5600" spc="-3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на</a:t>
            </a:r>
            <a:r>
              <a:rPr lang="ru-RU" sz="5600" spc="-30" dirty="0">
                <a:latin typeface="Times New Roman"/>
                <a:cs typeface="Times New Roman"/>
              </a:rPr>
              <a:t> </a:t>
            </a:r>
            <a:r>
              <a:rPr lang="ru-RU" sz="5600" spc="-10" dirty="0">
                <a:latin typeface="Times New Roman"/>
                <a:cs typeface="Times New Roman"/>
              </a:rPr>
              <a:t>фиксированное</a:t>
            </a:r>
            <a:r>
              <a:rPr lang="ru-RU" sz="5600" spc="-3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число</a:t>
            </a:r>
            <a:r>
              <a:rPr lang="ru-RU" sz="5600" spc="-3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позиций</a:t>
            </a:r>
            <a:r>
              <a:rPr lang="ru-RU" sz="5600" spc="-10" dirty="0">
                <a:latin typeface="Times New Roman"/>
                <a:cs typeface="Times New Roman"/>
              </a:rPr>
              <a:t> </a:t>
            </a:r>
            <a:r>
              <a:rPr lang="ru-RU" sz="5600" dirty="0" err="1">
                <a:latin typeface="Times New Roman"/>
                <a:cs typeface="Times New Roman"/>
              </a:rPr>
              <a:t>k</a:t>
            </a:r>
            <a:r>
              <a:rPr lang="ru-RU" sz="5600" i="1" dirty="0" err="1">
                <a:latin typeface="Times New Roman"/>
                <a:cs typeface="Times New Roman"/>
              </a:rPr>
              <a:t>k</a:t>
            </a:r>
            <a:r>
              <a:rPr lang="ru-RU" sz="5600" i="1" spc="-2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правее</a:t>
            </a:r>
            <a:r>
              <a:rPr lang="ru-RU" sz="5600" spc="-3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в</a:t>
            </a:r>
            <a:r>
              <a:rPr lang="ru-RU" sz="5600" spc="-40" dirty="0">
                <a:latin typeface="Times New Roman"/>
                <a:cs typeface="Times New Roman"/>
              </a:rPr>
              <a:t> </a:t>
            </a:r>
            <a:r>
              <a:rPr lang="ru-RU" sz="5600" spc="-10" dirty="0">
                <a:latin typeface="Times New Roman"/>
                <a:cs typeface="Times New Roman"/>
              </a:rPr>
              <a:t>алфавите.</a:t>
            </a:r>
            <a:endParaRPr lang="ru-RU" sz="5600" dirty="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  <a:spcBef>
                <a:spcPts val="750"/>
              </a:spcBef>
            </a:pPr>
            <a:r>
              <a:rPr lang="ru-RU" sz="5600" spc="-10" dirty="0">
                <a:latin typeface="Times New Roman"/>
                <a:cs typeface="Times New Roman"/>
              </a:rPr>
              <a:t>Математическая</a:t>
            </a:r>
            <a:r>
              <a:rPr lang="ru-RU" sz="5600" spc="-65" dirty="0">
                <a:latin typeface="Times New Roman"/>
                <a:cs typeface="Times New Roman"/>
              </a:rPr>
              <a:t> </a:t>
            </a:r>
            <a:r>
              <a:rPr lang="ru-RU" sz="5600" spc="-10" dirty="0">
                <a:latin typeface="Times New Roman"/>
                <a:cs typeface="Times New Roman"/>
              </a:rPr>
              <a:t>модель:</a:t>
            </a:r>
            <a:endParaRPr lang="ru-RU" sz="5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lang="ru-RU" sz="5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ru-RU" sz="5600" dirty="0">
                <a:latin typeface="Times New Roman"/>
                <a:cs typeface="Times New Roman"/>
              </a:rPr>
              <a:t>E(i)=(</a:t>
            </a:r>
            <a:r>
              <a:rPr lang="ru-RU" sz="5600" dirty="0" err="1">
                <a:latin typeface="Times New Roman"/>
                <a:cs typeface="Times New Roman"/>
              </a:rPr>
              <a:t>i+k</a:t>
            </a:r>
            <a:r>
              <a:rPr lang="ru-RU" sz="5600" dirty="0">
                <a:latin typeface="Times New Roman"/>
                <a:cs typeface="Times New Roman"/>
              </a:rPr>
              <a:t>)</a:t>
            </a:r>
            <a:r>
              <a:rPr lang="ru-RU" sz="5600" dirty="0" err="1">
                <a:latin typeface="Times New Roman"/>
                <a:cs typeface="Times New Roman"/>
              </a:rPr>
              <a:t>mod</a:t>
            </a:r>
            <a:r>
              <a:rPr lang="ru-RU" sz="5600" spc="155" dirty="0">
                <a:latin typeface="Times New Roman"/>
                <a:cs typeface="Times New Roman"/>
              </a:rPr>
              <a:t> </a:t>
            </a:r>
            <a:r>
              <a:rPr lang="ru-RU" sz="5600" spc="-10" dirty="0">
                <a:latin typeface="Times New Roman"/>
                <a:cs typeface="Times New Roman"/>
              </a:rPr>
              <a:t>26</a:t>
            </a:r>
            <a:r>
              <a:rPr lang="ru-RU" sz="5600" i="1" spc="-10" dirty="0">
                <a:latin typeface="Times New Roman"/>
                <a:cs typeface="Times New Roman"/>
              </a:rPr>
              <a:t>E</a:t>
            </a:r>
            <a:r>
              <a:rPr lang="ru-RU" sz="5600" spc="-10" dirty="0">
                <a:latin typeface="Times New Roman"/>
                <a:cs typeface="Times New Roman"/>
              </a:rPr>
              <a:t>(</a:t>
            </a:r>
            <a:r>
              <a:rPr lang="ru-RU" sz="5600" i="1" spc="-10" dirty="0">
                <a:latin typeface="Times New Roman"/>
                <a:cs typeface="Times New Roman"/>
              </a:rPr>
              <a:t>i</a:t>
            </a:r>
            <a:r>
              <a:rPr lang="ru-RU" sz="5600" spc="-10" dirty="0">
                <a:latin typeface="Times New Roman"/>
                <a:cs typeface="Times New Roman"/>
              </a:rPr>
              <a:t>)=(</a:t>
            </a:r>
            <a:r>
              <a:rPr lang="ru-RU" sz="5600" i="1" spc="-10" dirty="0" err="1">
                <a:latin typeface="Times New Roman"/>
                <a:cs typeface="Times New Roman"/>
              </a:rPr>
              <a:t>i</a:t>
            </a:r>
            <a:r>
              <a:rPr lang="ru-RU" sz="5600" spc="-10" dirty="0" err="1">
                <a:latin typeface="Times New Roman"/>
                <a:cs typeface="Times New Roman"/>
              </a:rPr>
              <a:t>+</a:t>
            </a:r>
            <a:r>
              <a:rPr lang="ru-RU" sz="5600" i="1" spc="-10" dirty="0" err="1">
                <a:latin typeface="Times New Roman"/>
                <a:cs typeface="Times New Roman"/>
              </a:rPr>
              <a:t>k</a:t>
            </a:r>
            <a:r>
              <a:rPr lang="ru-RU" sz="5600" spc="-10" dirty="0">
                <a:latin typeface="Times New Roman"/>
                <a:cs typeface="Times New Roman"/>
              </a:rPr>
              <a:t>)mod26</a:t>
            </a:r>
            <a:endParaRPr lang="ru-RU" sz="5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lang="ru-RU" sz="5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ru-RU" sz="5600" dirty="0">
                <a:latin typeface="Times New Roman"/>
                <a:cs typeface="Times New Roman"/>
              </a:rPr>
              <a:t>где</a:t>
            </a:r>
            <a:r>
              <a:rPr lang="ru-RU" sz="5600" spc="-20" dirty="0">
                <a:latin typeface="Times New Roman"/>
                <a:cs typeface="Times New Roman"/>
              </a:rPr>
              <a:t> </a:t>
            </a:r>
            <a:r>
              <a:rPr lang="ru-RU" sz="5600" dirty="0" err="1">
                <a:latin typeface="Times New Roman"/>
                <a:cs typeface="Times New Roman"/>
              </a:rPr>
              <a:t>i</a:t>
            </a:r>
            <a:r>
              <a:rPr lang="ru-RU" sz="5600" i="1" dirty="0" err="1">
                <a:latin typeface="Times New Roman"/>
                <a:cs typeface="Times New Roman"/>
              </a:rPr>
              <a:t>i</a:t>
            </a:r>
            <a:r>
              <a:rPr lang="ru-RU" sz="5600" i="1" spc="-3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—</a:t>
            </a:r>
            <a:r>
              <a:rPr lang="ru-RU" sz="5600" spc="-2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номер</a:t>
            </a:r>
            <a:r>
              <a:rPr lang="ru-RU" sz="5600" spc="-3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буквы</a:t>
            </a:r>
            <a:r>
              <a:rPr lang="ru-RU" sz="5600" spc="-3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в</a:t>
            </a:r>
            <a:r>
              <a:rPr lang="ru-RU" sz="5600" spc="-4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алфавите</a:t>
            </a:r>
            <a:r>
              <a:rPr lang="ru-RU" sz="5600" spc="-2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(A=0,</a:t>
            </a:r>
            <a:r>
              <a:rPr lang="ru-RU" sz="5600" spc="-2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B=1,</a:t>
            </a:r>
            <a:r>
              <a:rPr lang="ru-RU" sz="5600" spc="-2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...,</a:t>
            </a:r>
            <a:r>
              <a:rPr lang="ru-RU" sz="5600" spc="-3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Z=25),</a:t>
            </a:r>
            <a:r>
              <a:rPr lang="ru-RU" sz="5600" spc="-15" dirty="0">
                <a:latin typeface="Times New Roman"/>
                <a:cs typeface="Times New Roman"/>
              </a:rPr>
              <a:t> </a:t>
            </a:r>
            <a:r>
              <a:rPr lang="ru-RU" sz="5600" dirty="0" err="1">
                <a:latin typeface="Times New Roman"/>
                <a:cs typeface="Times New Roman"/>
              </a:rPr>
              <a:t>k</a:t>
            </a:r>
            <a:r>
              <a:rPr lang="ru-RU" sz="5600" i="1" dirty="0" err="1">
                <a:latin typeface="Times New Roman"/>
                <a:cs typeface="Times New Roman"/>
              </a:rPr>
              <a:t>k</a:t>
            </a:r>
            <a:r>
              <a:rPr lang="ru-RU" sz="5600" i="1" spc="-2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—</a:t>
            </a:r>
            <a:r>
              <a:rPr lang="ru-RU" sz="5600" spc="-25" dirty="0">
                <a:latin typeface="Times New Roman"/>
                <a:cs typeface="Times New Roman"/>
              </a:rPr>
              <a:t> </a:t>
            </a:r>
            <a:r>
              <a:rPr lang="ru-RU" sz="5600" spc="-10" dirty="0">
                <a:latin typeface="Times New Roman"/>
                <a:cs typeface="Times New Roman"/>
              </a:rPr>
              <a:t>ключ.</a:t>
            </a:r>
            <a:endParaRPr lang="ru-RU" sz="5600" dirty="0">
              <a:latin typeface="Times New Roman"/>
              <a:cs typeface="Times New Roman"/>
            </a:endParaRPr>
          </a:p>
          <a:p>
            <a:pPr marL="378460" marR="5080" indent="-366395">
              <a:lnSpc>
                <a:spcPct val="142900"/>
              </a:lnSpc>
              <a:spcBef>
                <a:spcPts val="1220"/>
              </a:spcBef>
            </a:pPr>
            <a:r>
              <a:rPr lang="ru-RU" sz="5600" dirty="0">
                <a:latin typeface="Times New Roman"/>
                <a:cs typeface="Times New Roman"/>
              </a:rPr>
              <a:t>Шифр</a:t>
            </a:r>
            <a:r>
              <a:rPr lang="ru-RU" sz="5600" spc="90" dirty="0">
                <a:latin typeface="Times New Roman"/>
                <a:cs typeface="Times New Roman"/>
              </a:rPr>
              <a:t>  </a:t>
            </a:r>
            <a:r>
              <a:rPr lang="ru-RU" sz="5600" spc="-10" dirty="0" err="1">
                <a:latin typeface="Times New Roman"/>
                <a:cs typeface="Times New Roman"/>
              </a:rPr>
              <a:t>Атбаш</a:t>
            </a:r>
            <a:r>
              <a:rPr lang="ru-RU" sz="5600" spc="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—</a:t>
            </a:r>
            <a:r>
              <a:rPr lang="ru-RU" sz="5600" spc="85" dirty="0">
                <a:latin typeface="Times New Roman"/>
                <a:cs typeface="Times New Roman"/>
              </a:rPr>
              <a:t>  </a:t>
            </a:r>
            <a:r>
              <a:rPr lang="ru-RU" sz="5600" dirty="0">
                <a:latin typeface="Times New Roman"/>
                <a:cs typeface="Times New Roman"/>
              </a:rPr>
              <a:t>зеркальная</a:t>
            </a:r>
            <a:r>
              <a:rPr lang="ru-RU" sz="5600" spc="85" dirty="0">
                <a:latin typeface="Times New Roman"/>
                <a:cs typeface="Times New Roman"/>
              </a:rPr>
              <a:t>  </a:t>
            </a:r>
            <a:r>
              <a:rPr lang="ru-RU" sz="5600" dirty="0">
                <a:latin typeface="Times New Roman"/>
                <a:cs typeface="Times New Roman"/>
              </a:rPr>
              <a:t>замена:</a:t>
            </a:r>
            <a:r>
              <a:rPr lang="ru-RU" sz="5600" spc="85" dirty="0">
                <a:latin typeface="Times New Roman"/>
                <a:cs typeface="Times New Roman"/>
              </a:rPr>
              <a:t>  </a:t>
            </a:r>
            <a:r>
              <a:rPr lang="ru-RU" sz="5600" dirty="0">
                <a:latin typeface="Times New Roman"/>
                <a:cs typeface="Times New Roman"/>
              </a:rPr>
              <a:t>первая</a:t>
            </a:r>
            <a:r>
              <a:rPr lang="ru-RU" sz="5600" spc="85" dirty="0">
                <a:latin typeface="Times New Roman"/>
                <a:cs typeface="Times New Roman"/>
              </a:rPr>
              <a:t>  </a:t>
            </a:r>
            <a:r>
              <a:rPr lang="ru-RU" sz="5600" dirty="0">
                <a:latin typeface="Times New Roman"/>
                <a:cs typeface="Times New Roman"/>
              </a:rPr>
              <a:t>буква</a:t>
            </a:r>
            <a:r>
              <a:rPr lang="ru-RU" sz="5600" spc="85" dirty="0">
                <a:latin typeface="Times New Roman"/>
                <a:cs typeface="Times New Roman"/>
              </a:rPr>
              <a:t>  </a:t>
            </a:r>
            <a:r>
              <a:rPr lang="ru-RU" sz="5600" dirty="0">
                <a:latin typeface="Times New Roman"/>
                <a:cs typeface="Times New Roman"/>
              </a:rPr>
              <a:t>алфавита</a:t>
            </a:r>
            <a:r>
              <a:rPr lang="ru-RU" sz="5600" spc="85" dirty="0">
                <a:latin typeface="Times New Roman"/>
                <a:cs typeface="Times New Roman"/>
              </a:rPr>
              <a:t>  </a:t>
            </a:r>
            <a:r>
              <a:rPr lang="ru-RU" sz="5600" dirty="0">
                <a:latin typeface="Times New Roman"/>
                <a:cs typeface="Times New Roman"/>
              </a:rPr>
              <a:t>меняется</a:t>
            </a:r>
            <a:r>
              <a:rPr lang="ru-RU" sz="5600" spc="90" dirty="0">
                <a:latin typeface="Times New Roman"/>
                <a:cs typeface="Times New Roman"/>
              </a:rPr>
              <a:t>  </a:t>
            </a:r>
            <a:r>
              <a:rPr lang="ru-RU" sz="5600" spc="-50" dirty="0">
                <a:latin typeface="Times New Roman"/>
                <a:cs typeface="Times New Roman"/>
              </a:rPr>
              <a:t>с </a:t>
            </a:r>
            <a:r>
              <a:rPr lang="ru-RU" sz="5600" dirty="0">
                <a:latin typeface="Times New Roman"/>
                <a:cs typeface="Times New Roman"/>
              </a:rPr>
              <a:t>последней,</a:t>
            </a:r>
            <a:r>
              <a:rPr lang="ru-RU" sz="5600" spc="-1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вторая</a:t>
            </a:r>
            <a:r>
              <a:rPr lang="ru-RU" sz="5600" spc="-5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—</a:t>
            </a:r>
            <a:r>
              <a:rPr lang="ru-RU" sz="5600" spc="-2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с</a:t>
            </a:r>
            <a:r>
              <a:rPr lang="ru-RU" sz="5600" spc="-20" dirty="0">
                <a:latin typeface="Times New Roman"/>
                <a:cs typeface="Times New Roman"/>
              </a:rPr>
              <a:t> </a:t>
            </a:r>
            <a:r>
              <a:rPr lang="ru-RU" sz="5600" spc="-10" dirty="0">
                <a:latin typeface="Times New Roman"/>
                <a:cs typeface="Times New Roman"/>
              </a:rPr>
              <a:t>предпоследней</a:t>
            </a:r>
            <a:r>
              <a:rPr lang="ru-RU" sz="5600" spc="-20" dirty="0">
                <a:latin typeface="Times New Roman"/>
                <a:cs typeface="Times New Roman"/>
              </a:rPr>
              <a:t> </a:t>
            </a:r>
            <a:r>
              <a:rPr lang="ru-RU" sz="5600" dirty="0">
                <a:latin typeface="Times New Roman"/>
                <a:cs typeface="Times New Roman"/>
              </a:rPr>
              <a:t>и</a:t>
            </a:r>
            <a:r>
              <a:rPr lang="ru-RU" sz="5600" spc="-25" dirty="0">
                <a:latin typeface="Times New Roman"/>
                <a:cs typeface="Times New Roman"/>
              </a:rPr>
              <a:t> </a:t>
            </a:r>
            <a:r>
              <a:rPr lang="ru-RU" sz="5600" spc="-20" dirty="0">
                <a:latin typeface="Times New Roman"/>
                <a:cs typeface="Times New Roman"/>
              </a:rPr>
              <a:t>т.д.</a:t>
            </a:r>
            <a:endParaRPr lang="ru-RU" sz="5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lang="ru-RU" sz="5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ru-RU" sz="5600" spc="-10" dirty="0">
                <a:latin typeface="Times New Roman"/>
                <a:cs typeface="Times New Roman"/>
              </a:rPr>
              <a:t>E(i)=25−i</a:t>
            </a:r>
            <a:r>
              <a:rPr lang="ru-RU" sz="5600" i="1" spc="-10" dirty="0">
                <a:latin typeface="Times New Roman"/>
                <a:cs typeface="Times New Roman"/>
              </a:rPr>
              <a:t>E</a:t>
            </a:r>
            <a:r>
              <a:rPr lang="ru-RU" sz="5600" spc="-10" dirty="0">
                <a:latin typeface="Times New Roman"/>
                <a:cs typeface="Times New Roman"/>
              </a:rPr>
              <a:t>(</a:t>
            </a:r>
            <a:r>
              <a:rPr lang="ru-RU" sz="5600" i="1" spc="-10" dirty="0">
                <a:latin typeface="Times New Roman"/>
                <a:cs typeface="Times New Roman"/>
              </a:rPr>
              <a:t>i</a:t>
            </a:r>
            <a:r>
              <a:rPr lang="ru-RU" sz="5600" spc="-10" dirty="0">
                <a:latin typeface="Times New Roman"/>
                <a:cs typeface="Times New Roman"/>
              </a:rPr>
              <a:t>)=25−</a:t>
            </a:r>
            <a:r>
              <a:rPr lang="ru-RU" sz="5600" i="1" spc="-10" dirty="0">
                <a:latin typeface="Times New Roman"/>
                <a:cs typeface="Times New Roman"/>
              </a:rPr>
              <a:t>i</a:t>
            </a:r>
            <a:endParaRPr lang="ru-RU" sz="56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250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F753-DEFE-F200-B515-5547E652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spc="-10" dirty="0">
                <a:solidFill>
                  <a:srgbClr val="0E1115"/>
                </a:solidFill>
                <a:latin typeface="Times New Roman"/>
                <a:cs typeface="Times New Roman"/>
              </a:rPr>
            </a:br>
            <a:r>
              <a:rPr lang="ru-RU" sz="44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Программная</a:t>
            </a:r>
            <a:r>
              <a:rPr lang="ru-RU" sz="4400" b="1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44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реализация</a:t>
            </a:r>
            <a:br>
              <a:rPr lang="ru-RU" sz="4400" dirty="0">
                <a:latin typeface="Times New Roman"/>
                <a:cs typeface="Times New Roman"/>
              </a:rPr>
            </a:br>
            <a:r>
              <a:rPr lang="ru-RU" sz="44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ru-RU" sz="4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часть:</a:t>
            </a:r>
            <a:r>
              <a:rPr lang="ru-RU" sz="4400" b="1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br>
              <a:rPr lang="ru-RU" sz="4400" dirty="0">
                <a:latin typeface="Times New Roman"/>
                <a:cs typeface="Times New Roman"/>
              </a:rPr>
            </a:br>
            <a:br>
              <a:rPr lang="ru-RU" sz="4400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1DA2-E408-C9DF-0882-D0B7DDFD0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lang="ru-RU" sz="1200" b="1" dirty="0">
                <a:solidFill>
                  <a:srgbClr val="0E1115"/>
                </a:solidFill>
                <a:latin typeface="Segoe UI"/>
                <a:cs typeface="Segoe UI"/>
              </a:rPr>
              <a:t>Инструменты:</a:t>
            </a:r>
            <a:r>
              <a:rPr lang="ru-RU" sz="1200" b="1" spc="-2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0E1115"/>
                </a:solidFill>
                <a:latin typeface="Segoe UI"/>
                <a:cs typeface="Segoe UI"/>
              </a:rPr>
              <a:t>Python</a:t>
            </a:r>
            <a:r>
              <a:rPr lang="en-US" sz="1200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0E1115"/>
                </a:solidFill>
                <a:latin typeface="Segoe UI"/>
                <a:cs typeface="Segoe UI"/>
              </a:rPr>
              <a:t>3,</a:t>
            </a:r>
            <a:r>
              <a:rPr lang="en-US" sz="1200" spc="-3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200" dirty="0">
                <a:solidFill>
                  <a:srgbClr val="0E1115"/>
                </a:solidFill>
                <a:latin typeface="Segoe UI"/>
                <a:cs typeface="Segoe UI"/>
              </a:rPr>
              <a:t>модуль</a:t>
            </a:r>
            <a:r>
              <a:rPr lang="ru-RU" sz="1200" spc="-4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en-US" sz="1050" spc="-10" dirty="0">
                <a:solidFill>
                  <a:srgbClr val="0E1115"/>
                </a:solidFill>
                <a:latin typeface="Consolas"/>
                <a:cs typeface="Consolas"/>
              </a:rPr>
              <a:t>string</a:t>
            </a:r>
            <a:r>
              <a:rPr lang="en-US" sz="1200" spc="-10" dirty="0">
                <a:solidFill>
                  <a:srgbClr val="0E1115"/>
                </a:solidFill>
                <a:latin typeface="Segoe UI"/>
                <a:cs typeface="Segoe UI"/>
              </a:rPr>
              <a:t>.</a:t>
            </a:r>
            <a:endParaRPr lang="en-US" sz="12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lang="ru-RU" sz="1200" dirty="0">
                <a:solidFill>
                  <a:srgbClr val="0E1115"/>
                </a:solidFill>
                <a:latin typeface="Segoe UI"/>
                <a:cs typeface="Segoe UI"/>
              </a:rPr>
              <a:t>Алфавит:</a:t>
            </a:r>
            <a:r>
              <a:rPr lang="ru-RU" sz="1200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200" dirty="0">
                <a:solidFill>
                  <a:srgbClr val="0E1115"/>
                </a:solidFill>
                <a:latin typeface="Segoe UI"/>
                <a:cs typeface="Segoe UI"/>
              </a:rPr>
              <a:t>заглавные</a:t>
            </a:r>
            <a:r>
              <a:rPr lang="ru-RU" sz="1200" spc="-2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200" dirty="0">
                <a:solidFill>
                  <a:srgbClr val="0E1115"/>
                </a:solidFill>
                <a:latin typeface="Segoe UI"/>
                <a:cs typeface="Segoe UI"/>
              </a:rPr>
              <a:t>латинские</a:t>
            </a:r>
            <a:r>
              <a:rPr lang="ru-RU" sz="1200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200" dirty="0">
                <a:solidFill>
                  <a:srgbClr val="0E1115"/>
                </a:solidFill>
                <a:latin typeface="Segoe UI"/>
                <a:cs typeface="Segoe UI"/>
              </a:rPr>
              <a:t>буквы</a:t>
            </a:r>
            <a:r>
              <a:rPr lang="ru-RU" sz="1200" spc="-3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0E1115"/>
                </a:solidFill>
                <a:latin typeface="Segoe UI"/>
                <a:cs typeface="Segoe UI"/>
              </a:rPr>
              <a:t>A–Z</a:t>
            </a:r>
            <a:r>
              <a:rPr lang="en-US" sz="1200" spc="-3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en-US" sz="1200" dirty="0">
                <a:solidFill>
                  <a:srgbClr val="0E1115"/>
                </a:solidFill>
                <a:latin typeface="Segoe UI"/>
                <a:cs typeface="Segoe UI"/>
              </a:rPr>
              <a:t>(</a:t>
            </a:r>
            <a:r>
              <a:rPr lang="ru-RU" sz="1200" dirty="0">
                <a:solidFill>
                  <a:srgbClr val="0E1115"/>
                </a:solidFill>
                <a:latin typeface="Segoe UI"/>
                <a:cs typeface="Segoe UI"/>
              </a:rPr>
              <a:t>для</a:t>
            </a:r>
            <a:r>
              <a:rPr lang="ru-RU" sz="1200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200" dirty="0" err="1">
                <a:solidFill>
                  <a:srgbClr val="0E1115"/>
                </a:solidFill>
                <a:latin typeface="Segoe UI"/>
                <a:cs typeface="Segoe UI"/>
              </a:rPr>
              <a:t>Атбаш</a:t>
            </a:r>
            <a:r>
              <a:rPr lang="ru-RU" sz="1200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200" dirty="0">
                <a:solidFill>
                  <a:srgbClr val="0E1115"/>
                </a:solidFill>
                <a:latin typeface="Segoe UI"/>
                <a:cs typeface="Segoe UI"/>
              </a:rPr>
              <a:t>добавлен</a:t>
            </a:r>
            <a:r>
              <a:rPr lang="ru-RU" sz="1200" spc="-4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200" spc="-10" dirty="0">
                <a:solidFill>
                  <a:srgbClr val="0E1115"/>
                </a:solidFill>
                <a:latin typeface="Segoe UI"/>
                <a:cs typeface="Segoe UI"/>
              </a:rPr>
              <a:t>пробел).</a:t>
            </a:r>
            <a:endParaRPr lang="ru-RU"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lang="ru-RU" sz="1200" dirty="0">
              <a:latin typeface="Segoe UI"/>
              <a:cs typeface="Segoe UI"/>
            </a:endParaRPr>
          </a:p>
          <a:p>
            <a:pPr marL="721360" lvl="1" indent="-257810">
              <a:lnSpc>
                <a:spcPct val="100000"/>
              </a:lnSpc>
              <a:buClr>
                <a:srgbClr val="0E1115"/>
              </a:buClr>
              <a:buFont typeface="Segoe UI"/>
              <a:buAutoNum type="arabicPeriod"/>
              <a:tabLst>
                <a:tab pos="721360" algn="l"/>
              </a:tabLst>
            </a:pPr>
            <a:r>
              <a:rPr lang="ru-RU" sz="1300" i="1" dirty="0">
                <a:solidFill>
                  <a:srgbClr val="0E1115"/>
                </a:solidFill>
                <a:latin typeface="Segoe UI"/>
                <a:cs typeface="Segoe UI"/>
              </a:rPr>
              <a:t>Функция</a:t>
            </a:r>
            <a:r>
              <a:rPr lang="ru-RU" sz="1300" i="1" spc="-4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300" i="1" dirty="0">
                <a:solidFill>
                  <a:srgbClr val="0E1115"/>
                </a:solidFill>
                <a:latin typeface="Segoe UI"/>
                <a:cs typeface="Segoe UI"/>
              </a:rPr>
              <a:t>шифра</a:t>
            </a:r>
            <a:r>
              <a:rPr lang="ru-RU" sz="1300" i="1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1300" i="1" spc="-10" dirty="0">
                <a:solidFill>
                  <a:srgbClr val="0E1115"/>
                </a:solidFill>
                <a:latin typeface="Segoe UI"/>
                <a:cs typeface="Segoe UI"/>
              </a:rPr>
              <a:t>Цезаря</a:t>
            </a:r>
            <a:endParaRPr lang="ru-RU" sz="1300" dirty="0">
              <a:latin typeface="Segoe UI"/>
              <a:cs typeface="Segoe UI"/>
            </a:endParaRPr>
          </a:p>
          <a:p>
            <a:pPr marL="463550">
              <a:lnSpc>
                <a:spcPct val="100000"/>
              </a:lnSpc>
              <a:spcBef>
                <a:spcPts val="1170"/>
              </a:spcBef>
            </a:pPr>
            <a:r>
              <a:rPr lang="en-US" sz="900" spc="-10" dirty="0">
                <a:solidFill>
                  <a:srgbClr val="0E1115"/>
                </a:solidFill>
                <a:latin typeface="Consolas"/>
                <a:cs typeface="Consolas"/>
              </a:rPr>
              <a:t>python</a:t>
            </a:r>
            <a:endParaRPr lang="en-US" sz="9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lang="en-US" sz="1000" dirty="0">
                <a:solidFill>
                  <a:srgbClr val="A625A3"/>
                </a:solidFill>
                <a:latin typeface="Consolas"/>
                <a:cs typeface="Consolas"/>
              </a:rPr>
              <a:t>import</a:t>
            </a:r>
            <a:r>
              <a:rPr lang="en-US" sz="1000" spc="-25" dirty="0">
                <a:solidFill>
                  <a:srgbClr val="A625A3"/>
                </a:solidFill>
                <a:latin typeface="Consolas"/>
                <a:cs typeface="Consolas"/>
              </a:rPr>
              <a:t> </a:t>
            </a:r>
            <a:r>
              <a:rPr lang="en-US" sz="1000" spc="-10" dirty="0">
                <a:solidFill>
                  <a:srgbClr val="0E1115"/>
                </a:solidFill>
                <a:latin typeface="Consolas"/>
                <a:cs typeface="Consolas"/>
              </a:rPr>
              <a:t>string</a:t>
            </a:r>
            <a:endParaRPr lang="en-US" sz="1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lang="en-US" sz="1000" dirty="0">
                <a:solidFill>
                  <a:srgbClr val="0E1115"/>
                </a:solidFill>
                <a:latin typeface="Consolas"/>
                <a:cs typeface="Consolas"/>
              </a:rPr>
              <a:t>alphabet</a:t>
            </a:r>
            <a:r>
              <a:rPr lang="en-US" sz="1000" spc="-20" dirty="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lang="en-US" sz="1000" dirty="0">
                <a:solidFill>
                  <a:srgbClr val="4078F1"/>
                </a:solidFill>
                <a:latin typeface="Consolas"/>
                <a:cs typeface="Consolas"/>
              </a:rPr>
              <a:t>=</a:t>
            </a:r>
            <a:r>
              <a:rPr lang="en-US" sz="1000" spc="-15" dirty="0">
                <a:solidFill>
                  <a:srgbClr val="4078F1"/>
                </a:solidFill>
                <a:latin typeface="Consolas"/>
                <a:cs typeface="Consolas"/>
              </a:rPr>
              <a:t> </a:t>
            </a:r>
            <a:r>
              <a:rPr lang="en-US" sz="1000" spc="-10" dirty="0">
                <a:solidFill>
                  <a:srgbClr val="50A04F"/>
                </a:solidFill>
                <a:latin typeface="Consolas"/>
                <a:cs typeface="Consolas"/>
              </a:rPr>
              <a:t>list</a:t>
            </a:r>
            <a:r>
              <a:rPr lang="en-US" sz="1000" spc="-10" dirty="0">
                <a:solidFill>
                  <a:srgbClr val="383942"/>
                </a:solidFill>
                <a:latin typeface="Consolas"/>
                <a:cs typeface="Consolas"/>
              </a:rPr>
              <a:t>(</a:t>
            </a:r>
            <a:r>
              <a:rPr lang="en-US" sz="1000" spc="-10" dirty="0" err="1">
                <a:solidFill>
                  <a:srgbClr val="0E1115"/>
                </a:solidFill>
                <a:latin typeface="Consolas"/>
                <a:cs typeface="Consolas"/>
              </a:rPr>
              <a:t>string</a:t>
            </a:r>
            <a:r>
              <a:rPr lang="en-US" sz="1000" spc="-10" dirty="0" err="1">
                <a:solidFill>
                  <a:srgbClr val="383942"/>
                </a:solidFill>
                <a:latin typeface="Consolas"/>
                <a:cs typeface="Consolas"/>
              </a:rPr>
              <a:t>.</a:t>
            </a:r>
            <a:r>
              <a:rPr lang="en-US" sz="1000" spc="-10" dirty="0" err="1">
                <a:solidFill>
                  <a:srgbClr val="0E1115"/>
                </a:solidFill>
                <a:latin typeface="Consolas"/>
                <a:cs typeface="Consolas"/>
              </a:rPr>
              <a:t>ascii_uppercase</a:t>
            </a:r>
            <a:r>
              <a:rPr lang="en-US" sz="1000" spc="-10" dirty="0">
                <a:solidFill>
                  <a:srgbClr val="383942"/>
                </a:solidFill>
                <a:latin typeface="Consolas"/>
                <a:cs typeface="Consolas"/>
              </a:rPr>
              <a:t>)</a:t>
            </a:r>
            <a:endParaRPr lang="en-US" sz="1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lang="en-US" sz="1000" dirty="0">
              <a:latin typeface="Consolas"/>
              <a:cs typeface="Consolas"/>
            </a:endParaRPr>
          </a:p>
          <a:p>
            <a:pPr marL="293370" marR="3256279" indent="-281305">
              <a:lnSpc>
                <a:spcPct val="138000"/>
              </a:lnSpc>
            </a:pPr>
            <a:r>
              <a:rPr lang="en-US" sz="1000" dirty="0">
                <a:solidFill>
                  <a:srgbClr val="A625A3"/>
                </a:solidFill>
                <a:latin typeface="Consolas"/>
                <a:cs typeface="Consolas"/>
              </a:rPr>
              <a:t>def</a:t>
            </a:r>
            <a:r>
              <a:rPr lang="en-US" sz="1000" spc="-50" dirty="0">
                <a:solidFill>
                  <a:srgbClr val="A625A3"/>
                </a:solidFill>
                <a:latin typeface="Consolas"/>
                <a:cs typeface="Consolas"/>
              </a:rPr>
              <a:t> </a:t>
            </a:r>
            <a:r>
              <a:rPr lang="en-US" sz="1000" dirty="0" err="1">
                <a:solidFill>
                  <a:srgbClr val="4078F1"/>
                </a:solidFill>
                <a:latin typeface="Consolas"/>
                <a:cs typeface="Consolas"/>
              </a:rPr>
              <a:t>cesar_cipher</a:t>
            </a:r>
            <a:r>
              <a:rPr lang="en-US" sz="1000" dirty="0">
                <a:solidFill>
                  <a:srgbClr val="383942"/>
                </a:solidFill>
                <a:latin typeface="Consolas"/>
                <a:cs typeface="Consolas"/>
              </a:rPr>
              <a:t>(</a:t>
            </a:r>
            <a:r>
              <a:rPr lang="en-US" sz="1000" dirty="0">
                <a:solidFill>
                  <a:srgbClr val="0E1115"/>
                </a:solidFill>
                <a:latin typeface="Consolas"/>
                <a:cs typeface="Consolas"/>
              </a:rPr>
              <a:t>k</a:t>
            </a:r>
            <a:r>
              <a:rPr lang="en-US" sz="1000" dirty="0">
                <a:solidFill>
                  <a:srgbClr val="383942"/>
                </a:solidFill>
                <a:latin typeface="Consolas"/>
                <a:cs typeface="Consolas"/>
              </a:rPr>
              <a:t>,</a:t>
            </a:r>
            <a:r>
              <a:rPr lang="en-US" sz="1000" spc="-50" dirty="0">
                <a:solidFill>
                  <a:srgbClr val="383942"/>
                </a:solidFill>
                <a:latin typeface="Consolas"/>
                <a:cs typeface="Consolas"/>
              </a:rPr>
              <a:t> </a:t>
            </a:r>
            <a:r>
              <a:rPr lang="en-US" sz="1000" spc="-10" dirty="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r>
              <a:rPr lang="en-US" sz="1000" spc="-10" dirty="0">
                <a:solidFill>
                  <a:srgbClr val="383942"/>
                </a:solidFill>
                <a:latin typeface="Consolas"/>
                <a:cs typeface="Consolas"/>
              </a:rPr>
              <a:t>): </a:t>
            </a:r>
            <a:r>
              <a:rPr lang="en-US" sz="1000" dirty="0">
                <a:solidFill>
                  <a:srgbClr val="0E1115"/>
                </a:solidFill>
                <a:latin typeface="Consolas"/>
                <a:cs typeface="Consolas"/>
              </a:rPr>
              <a:t>result</a:t>
            </a:r>
            <a:r>
              <a:rPr lang="en-US" sz="1000" spc="-15" dirty="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lang="en-US" sz="1000" dirty="0">
                <a:solidFill>
                  <a:srgbClr val="4078F1"/>
                </a:solidFill>
                <a:latin typeface="Consolas"/>
                <a:cs typeface="Consolas"/>
              </a:rPr>
              <a:t>=</a:t>
            </a:r>
            <a:r>
              <a:rPr lang="en-US" sz="1000" spc="-10" dirty="0">
                <a:solidFill>
                  <a:srgbClr val="4078F1"/>
                </a:solidFill>
                <a:latin typeface="Consolas"/>
                <a:cs typeface="Consolas"/>
              </a:rPr>
              <a:t> </a:t>
            </a:r>
            <a:r>
              <a:rPr lang="en-US" sz="1000" spc="-25" dirty="0">
                <a:solidFill>
                  <a:srgbClr val="50A04F"/>
                </a:solidFill>
                <a:latin typeface="Consolas"/>
                <a:cs typeface="Consolas"/>
              </a:rPr>
              <a:t>""</a:t>
            </a:r>
            <a:endParaRPr lang="en-US" sz="1000" dirty="0">
              <a:latin typeface="Consolas"/>
              <a:cs typeface="Consolas"/>
            </a:endParaRPr>
          </a:p>
          <a:p>
            <a:pPr marL="293370">
              <a:lnSpc>
                <a:spcPct val="100000"/>
              </a:lnSpc>
              <a:spcBef>
                <a:spcPts val="459"/>
              </a:spcBef>
            </a:pPr>
            <a:r>
              <a:rPr lang="en-US" sz="1000" dirty="0">
                <a:solidFill>
                  <a:srgbClr val="A625A3"/>
                </a:solidFill>
                <a:latin typeface="Consolas"/>
                <a:cs typeface="Consolas"/>
              </a:rPr>
              <a:t>for</a:t>
            </a:r>
            <a:r>
              <a:rPr lang="en-US" sz="1000" spc="-25" dirty="0">
                <a:solidFill>
                  <a:srgbClr val="A625A3"/>
                </a:solidFill>
                <a:latin typeface="Consolas"/>
                <a:cs typeface="Consolas"/>
              </a:rPr>
              <a:t> </a:t>
            </a:r>
            <a:r>
              <a:rPr lang="en-US" sz="1000" dirty="0">
                <a:solidFill>
                  <a:srgbClr val="0E1115"/>
                </a:solidFill>
                <a:latin typeface="Consolas"/>
                <a:cs typeface="Consolas"/>
              </a:rPr>
              <a:t>letter</a:t>
            </a:r>
            <a:r>
              <a:rPr lang="en-US" sz="1000" spc="-40" dirty="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lang="en-US" sz="1000" dirty="0">
                <a:solidFill>
                  <a:srgbClr val="A625A3"/>
                </a:solidFill>
                <a:latin typeface="Consolas"/>
                <a:cs typeface="Consolas"/>
              </a:rPr>
              <a:t>in</a:t>
            </a:r>
            <a:r>
              <a:rPr lang="en-US" sz="1000" spc="-10" dirty="0">
                <a:solidFill>
                  <a:srgbClr val="A625A3"/>
                </a:solidFill>
                <a:latin typeface="Consolas"/>
                <a:cs typeface="Consolas"/>
              </a:rPr>
              <a:t> </a:t>
            </a:r>
            <a:r>
              <a:rPr lang="en-US" sz="1000" spc="-10" dirty="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r>
              <a:rPr lang="en-US" sz="1000" spc="-10" dirty="0">
                <a:solidFill>
                  <a:srgbClr val="383942"/>
                </a:solidFill>
                <a:latin typeface="Consolas"/>
                <a:cs typeface="Consolas"/>
              </a:rPr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0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F753-DEFE-F200-B515-5547E652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400" b="1" spc="-10" dirty="0">
                <a:solidFill>
                  <a:srgbClr val="0E1115"/>
                </a:solidFill>
                <a:latin typeface="Segoe UI"/>
                <a:cs typeface="Segoe UI"/>
              </a:rPr>
            </a:br>
            <a:br>
              <a:rPr lang="en-US" sz="4400" b="1" spc="-10" dirty="0">
                <a:solidFill>
                  <a:srgbClr val="0E1115"/>
                </a:solidFill>
                <a:latin typeface="Segoe UI"/>
                <a:cs typeface="Segoe UI"/>
              </a:rPr>
            </a:br>
            <a:r>
              <a:rPr lang="ru-RU" sz="4400" b="1" spc="-10" dirty="0">
                <a:solidFill>
                  <a:srgbClr val="0E1115"/>
                </a:solidFill>
                <a:latin typeface="Segoe UI"/>
                <a:cs typeface="Segoe UI"/>
              </a:rPr>
              <a:t>Выводы</a:t>
            </a:r>
            <a:r>
              <a:rPr lang="ru-RU" sz="4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lang="ru-RU" sz="4400" b="1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br>
              <a:rPr lang="ru-RU" sz="4400" dirty="0">
                <a:latin typeface="Times New Roman"/>
                <a:cs typeface="Times New Roman"/>
              </a:rPr>
            </a:br>
            <a:br>
              <a:rPr lang="ru-RU" sz="4400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1DA2-E408-C9DF-0882-D0B7DDFD0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25450" indent="-226695">
              <a:lnSpc>
                <a:spcPct val="100000"/>
              </a:lnSpc>
              <a:spcBef>
                <a:spcPts val="1560"/>
              </a:spcBef>
              <a:buAutoNum type="arabicPeriod"/>
              <a:tabLst>
                <a:tab pos="425450" algn="l"/>
              </a:tabLst>
            </a:pPr>
            <a:r>
              <a:rPr lang="ru-RU" sz="4000" spc="-10" dirty="0">
                <a:solidFill>
                  <a:srgbClr val="0E1115"/>
                </a:solidFill>
                <a:latin typeface="Segoe UI"/>
                <a:cs typeface="Segoe UI"/>
              </a:rPr>
              <a:t>Реализованы</a:t>
            </a:r>
            <a:r>
              <a:rPr lang="ru-RU" sz="4000" spc="-4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два</a:t>
            </a:r>
            <a:r>
              <a:rPr lang="ru-RU" sz="4000" spc="-3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классических</a:t>
            </a:r>
            <a:r>
              <a:rPr lang="ru-RU" sz="4000" spc="-2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шифра</a:t>
            </a:r>
            <a:r>
              <a:rPr lang="ru-RU" sz="4000" spc="-3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spc="-10" dirty="0">
                <a:solidFill>
                  <a:srgbClr val="0E1115"/>
                </a:solidFill>
                <a:latin typeface="Segoe UI"/>
                <a:cs typeface="Segoe UI"/>
              </a:rPr>
              <a:t>подстановки.</a:t>
            </a:r>
            <a:endParaRPr lang="ru-RU" sz="4000" dirty="0">
              <a:latin typeface="Segoe UI"/>
              <a:cs typeface="Segoe UI"/>
            </a:endParaRPr>
          </a:p>
          <a:p>
            <a:pPr marL="425450" indent="-22669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425450" algn="l"/>
              </a:tabLst>
            </a:pP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Освоена</a:t>
            </a:r>
            <a:r>
              <a:rPr lang="ru-RU" sz="4000" spc="-3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математическая</a:t>
            </a:r>
            <a:r>
              <a:rPr lang="ru-RU" sz="4000" spc="-3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модель</a:t>
            </a:r>
            <a:r>
              <a:rPr lang="ru-RU" sz="4000" spc="-3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модульного</a:t>
            </a:r>
            <a:r>
              <a:rPr lang="ru-RU" sz="4000" spc="-3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spc="-10" dirty="0">
                <a:solidFill>
                  <a:srgbClr val="0E1115"/>
                </a:solidFill>
                <a:latin typeface="Segoe UI"/>
                <a:cs typeface="Segoe UI"/>
              </a:rPr>
              <a:t>сдвига.</a:t>
            </a:r>
            <a:endParaRPr lang="ru-RU" sz="4000" dirty="0">
              <a:latin typeface="Segoe UI"/>
              <a:cs typeface="Segoe UI"/>
            </a:endParaRPr>
          </a:p>
          <a:p>
            <a:pPr marL="425450" marR="5080" indent="-226695">
              <a:lnSpc>
                <a:spcPct val="110200"/>
              </a:lnSpc>
              <a:spcBef>
                <a:spcPts val="25"/>
              </a:spcBef>
              <a:buAutoNum type="arabicPeriod"/>
              <a:tabLst>
                <a:tab pos="427355" algn="l"/>
              </a:tabLst>
            </a:pP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Исправлены</a:t>
            </a:r>
            <a:r>
              <a:rPr lang="ru-RU" sz="4000" spc="-4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ошибки</a:t>
            </a:r>
            <a:r>
              <a:rPr lang="ru-RU" sz="4000" spc="-2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в</a:t>
            </a:r>
            <a:r>
              <a:rPr lang="ru-RU" sz="4000" spc="-3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spc="-10" dirty="0">
                <a:solidFill>
                  <a:srgbClr val="0E1115"/>
                </a:solidFill>
                <a:latin typeface="Segoe UI"/>
                <a:cs typeface="Segoe UI"/>
              </a:rPr>
              <a:t>предоставленном</a:t>
            </a:r>
            <a:r>
              <a:rPr lang="ru-RU" sz="4000" spc="-2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коде</a:t>
            </a:r>
            <a:r>
              <a:rPr lang="ru-RU" sz="4000" spc="-2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(побочное</a:t>
            </a:r>
            <a:r>
              <a:rPr lang="ru-RU" sz="4000" spc="-2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spc="-10" dirty="0">
                <a:solidFill>
                  <a:srgbClr val="0E1115"/>
                </a:solidFill>
                <a:latin typeface="Segoe UI"/>
                <a:cs typeface="Segoe UI"/>
              </a:rPr>
              <a:t>изменение 	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глобальных</a:t>
            </a:r>
            <a:r>
              <a:rPr lang="ru-RU" sz="4000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данных,</a:t>
            </a:r>
            <a:r>
              <a:rPr lang="ru-RU" sz="4000" spc="-4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отсутствие</a:t>
            </a:r>
            <a:r>
              <a:rPr lang="ru-RU" sz="4000" spc="-4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spc="-10" dirty="0" err="1">
                <a:solidFill>
                  <a:srgbClr val="0E1115"/>
                </a:solidFill>
                <a:latin typeface="Segoe UI"/>
                <a:cs typeface="Segoe UI"/>
              </a:rPr>
              <a:t>return</a:t>
            </a:r>
            <a:r>
              <a:rPr lang="ru-RU" sz="4000" spc="-10" dirty="0">
                <a:solidFill>
                  <a:srgbClr val="0E1115"/>
                </a:solidFill>
                <a:latin typeface="Segoe UI"/>
                <a:cs typeface="Segoe UI"/>
              </a:rPr>
              <a:t>).</a:t>
            </a:r>
            <a:endParaRPr lang="ru-RU" sz="4000" dirty="0">
              <a:latin typeface="Segoe UI"/>
              <a:cs typeface="Segoe UI"/>
            </a:endParaRPr>
          </a:p>
          <a:p>
            <a:pPr marL="425450" indent="-226695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25450" algn="l"/>
              </a:tabLst>
            </a:pP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Программы</a:t>
            </a:r>
            <a:r>
              <a:rPr lang="ru-RU" sz="4000" spc="-4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протестированы</a:t>
            </a:r>
            <a:r>
              <a:rPr lang="ru-RU" sz="4000" spc="-3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и</a:t>
            </a:r>
            <a:r>
              <a:rPr lang="ru-RU" sz="4000" spc="-2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готовы</a:t>
            </a:r>
            <a:r>
              <a:rPr lang="ru-RU" sz="4000" spc="-35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dirty="0">
                <a:solidFill>
                  <a:srgbClr val="0E1115"/>
                </a:solidFill>
                <a:latin typeface="Segoe UI"/>
                <a:cs typeface="Segoe UI"/>
              </a:rPr>
              <a:t>к</a:t>
            </a:r>
            <a:r>
              <a:rPr lang="ru-RU" sz="4000" spc="-20" dirty="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lang="ru-RU" sz="4000" spc="-10" dirty="0">
                <a:solidFill>
                  <a:srgbClr val="0E1115"/>
                </a:solidFill>
                <a:latin typeface="Segoe UI"/>
                <a:cs typeface="Segoe UI"/>
              </a:rPr>
              <a:t>использованию.</a:t>
            </a:r>
            <a:endParaRPr lang="ru-RU" sz="4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632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270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Consolas</vt:lpstr>
      <vt:lpstr>Garamond</vt:lpstr>
      <vt:lpstr>Segoe UI</vt:lpstr>
      <vt:lpstr>Times New Roman</vt:lpstr>
      <vt:lpstr>Organic</vt:lpstr>
      <vt:lpstr>    Призенитаций  ПО ЛАБОРАТОРНОЙ РАБОТЕ №  1 дисциплина: Математические основы защиты информации и  информационной безопасности </vt:lpstr>
      <vt:lpstr>Цель работы </vt:lpstr>
      <vt:lpstr>Теоретическая часть:   </vt:lpstr>
      <vt:lpstr> Программная реализация  часть:   </vt:lpstr>
      <vt:lpstr>  Выводы: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Moumene</dc:creator>
  <cp:lastModifiedBy>Amine Moumene</cp:lastModifiedBy>
  <cp:revision>1</cp:revision>
  <dcterms:created xsi:type="dcterms:W3CDTF">2026-03-13T21:06:58Z</dcterms:created>
  <dcterms:modified xsi:type="dcterms:W3CDTF">2026-03-13T21:18:36Z</dcterms:modified>
</cp:coreProperties>
</file>