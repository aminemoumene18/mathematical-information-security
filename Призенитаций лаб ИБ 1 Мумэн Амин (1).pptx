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2120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86966" y="691641"/>
            <a:ext cx="5207635" cy="10160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latin typeface="Times New Roman"/>
                <a:cs typeface="Times New Roman"/>
              </a:rPr>
              <a:t>РОССИЙСКИЙ</a:t>
            </a:r>
            <a:r>
              <a:rPr sz="1600" b="1" spc="-8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УНИВЕРСИТЕТ</a:t>
            </a:r>
            <a:r>
              <a:rPr sz="1600" b="1" spc="-6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ДРУЖБЫ</a:t>
            </a:r>
            <a:r>
              <a:rPr sz="1600" b="1" spc="-6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НАРОДОВ</a:t>
            </a:r>
            <a:endParaRPr sz="1600">
              <a:latin typeface="Times New Roman"/>
              <a:cs typeface="Times New Roman"/>
            </a:endParaRPr>
          </a:p>
          <a:p>
            <a:pPr marL="683260" marR="111125" indent="73025">
              <a:lnSpc>
                <a:spcPct val="183300"/>
              </a:lnSpc>
              <a:spcBef>
                <a:spcPts val="155"/>
              </a:spcBef>
            </a:pPr>
            <a:r>
              <a:rPr sz="1300" b="1" spc="-10" dirty="0">
                <a:latin typeface="Times New Roman"/>
                <a:cs typeface="Times New Roman"/>
              </a:rPr>
              <a:t>Факультет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spc="-20" dirty="0">
                <a:latin typeface="Times New Roman"/>
                <a:cs typeface="Times New Roman"/>
              </a:rPr>
              <a:t>физико-</a:t>
            </a:r>
            <a:r>
              <a:rPr sz="1300" b="1" spc="-10" dirty="0">
                <a:latin typeface="Times New Roman"/>
                <a:cs typeface="Times New Roman"/>
              </a:rPr>
              <a:t>математических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и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естественных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spc="-20" dirty="0">
                <a:latin typeface="Times New Roman"/>
                <a:cs typeface="Times New Roman"/>
              </a:rPr>
              <a:t>наук </a:t>
            </a:r>
            <a:r>
              <a:rPr sz="1300" b="1" spc="-10" dirty="0">
                <a:latin typeface="Times New Roman"/>
                <a:cs typeface="Times New Roman"/>
              </a:rPr>
              <a:t>Кафедра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прикладной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информатики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и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теории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вероятностей</a:t>
            </a:r>
            <a:endParaRPr sz="13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50391" y="2923412"/>
            <a:ext cx="5447030" cy="154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154940" algn="ctr">
              <a:lnSpc>
                <a:spcPct val="100000"/>
              </a:lnSpc>
              <a:spcBef>
                <a:spcPts val="105"/>
              </a:spcBef>
            </a:pPr>
            <a:r>
              <a:rPr lang="ru-RU" sz="1600" b="1" spc="-10" dirty="0" err="1">
                <a:latin typeface="Times New Roman"/>
                <a:cs typeface="Times New Roman"/>
              </a:rPr>
              <a:t>Призенитаций</a:t>
            </a:r>
            <a:r>
              <a:rPr lang="ru-RU" sz="1600" b="1" spc="-10">
                <a:latin typeface="Times New Roman"/>
                <a:cs typeface="Times New Roman"/>
              </a:rPr>
              <a:t> </a:t>
            </a:r>
            <a:endParaRPr sz="1600" dirty="0">
              <a:latin typeface="Times New Roman"/>
              <a:cs typeface="Times New Roman"/>
            </a:endParaRPr>
          </a:p>
          <a:p>
            <a:pPr marR="152400" algn="ctr">
              <a:lnSpc>
                <a:spcPct val="100000"/>
              </a:lnSpc>
              <a:spcBef>
                <a:spcPts val="1440"/>
              </a:spcBef>
            </a:pPr>
            <a:r>
              <a:rPr sz="1600" b="1" dirty="0">
                <a:latin typeface="Times New Roman"/>
                <a:cs typeface="Times New Roman"/>
              </a:rPr>
              <a:t>ПО</a:t>
            </a:r>
            <a:r>
              <a:rPr sz="1600" b="1" spc="-5" dirty="0">
                <a:latin typeface="Times New Roman"/>
                <a:cs typeface="Times New Roman"/>
              </a:rPr>
              <a:t> </a:t>
            </a:r>
            <a:r>
              <a:rPr sz="1600" b="1" spc="-40" dirty="0">
                <a:latin typeface="Times New Roman"/>
                <a:cs typeface="Times New Roman"/>
              </a:rPr>
              <a:t>ЛАБОРАТОРНОЙ</a:t>
            </a:r>
            <a:r>
              <a:rPr sz="1600" b="1" spc="-35" dirty="0">
                <a:latin typeface="Times New Roman"/>
                <a:cs typeface="Times New Roman"/>
              </a:rPr>
              <a:t> РАБОТЕ</a:t>
            </a:r>
            <a:r>
              <a:rPr sz="1600" b="1" spc="-1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№ </a:t>
            </a:r>
            <a:r>
              <a:rPr sz="1600" b="1" u="sng" spc="-2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600" b="1" u="sng" spc="-5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1</a:t>
            </a:r>
            <a:endParaRPr sz="1600" dirty="0">
              <a:latin typeface="Times New Roman"/>
              <a:cs typeface="Times New Roman"/>
            </a:endParaRPr>
          </a:p>
          <a:p>
            <a:pPr marL="1515745" marR="5080" indent="-1503680">
              <a:lnSpc>
                <a:spcPct val="143700"/>
              </a:lnSpc>
              <a:spcBef>
                <a:spcPts val="1180"/>
              </a:spcBef>
            </a:pPr>
            <a:r>
              <a:rPr sz="1600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дисциплина:</a:t>
            </a:r>
            <a:r>
              <a:rPr sz="1600" i="1" u="sng" spc="-1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600" i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Математические</a:t>
            </a:r>
            <a:r>
              <a:rPr sz="1600" i="1" u="sng" spc="-4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600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основы</a:t>
            </a:r>
            <a:r>
              <a:rPr sz="1600" i="1" u="sng" spc="-3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600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защиты</a:t>
            </a:r>
            <a:r>
              <a:rPr sz="1600" i="1" u="sng" spc="-5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600" i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информации</a:t>
            </a:r>
            <a:r>
              <a:rPr sz="1600" i="1" u="sng" spc="-3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600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и</a:t>
            </a:r>
            <a:r>
              <a:rPr sz="1600" i="1" u="sng" spc="-2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600" i="1" spc="-25" dirty="0">
                <a:latin typeface="Times New Roman"/>
                <a:cs typeface="Times New Roman"/>
              </a:rPr>
              <a:t> </a:t>
            </a:r>
            <a:r>
              <a:rPr sz="1600" i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информационной</a:t>
            </a:r>
            <a:r>
              <a:rPr sz="1600" i="1" u="sng" spc="-7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600" i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безопасности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24042" y="7258938"/>
            <a:ext cx="1610995" cy="582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Студент:</a:t>
            </a:r>
            <a:r>
              <a:rPr sz="1300" spc="-65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Мумэн</a:t>
            </a:r>
            <a:r>
              <a:rPr sz="1300" spc="-65" dirty="0">
                <a:latin typeface="Times New Roman"/>
                <a:cs typeface="Times New Roman"/>
              </a:rPr>
              <a:t> </a:t>
            </a:r>
            <a:r>
              <a:rPr sz="1300" spc="-20" dirty="0">
                <a:latin typeface="Times New Roman"/>
                <a:cs typeface="Times New Roman"/>
              </a:rPr>
              <a:t>Амин</a:t>
            </a:r>
            <a:endParaRPr sz="130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  <a:spcBef>
                <a:spcPts val="1270"/>
              </a:spcBef>
            </a:pPr>
            <a:r>
              <a:rPr sz="1300" u="sng" spc="-2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Группа:</a:t>
            </a:r>
            <a:r>
              <a:rPr sz="1300" spc="45" dirty="0">
                <a:latin typeface="Times New Roman"/>
                <a:cs typeface="Times New Roman"/>
              </a:rPr>
              <a:t> </a:t>
            </a:r>
            <a:r>
              <a:rPr sz="1300" spc="-20" dirty="0">
                <a:latin typeface="Times New Roman"/>
                <a:cs typeface="Times New Roman"/>
              </a:rPr>
              <a:t>НФИмд-</a:t>
            </a:r>
            <a:r>
              <a:rPr sz="1300" spc="-10" dirty="0">
                <a:latin typeface="Times New Roman"/>
                <a:cs typeface="Times New Roman"/>
              </a:rPr>
              <a:t>01-</a:t>
            </a:r>
            <a:r>
              <a:rPr sz="1300" spc="-25" dirty="0">
                <a:latin typeface="Times New Roman"/>
                <a:cs typeface="Times New Roman"/>
              </a:rPr>
              <a:t>25</a:t>
            </a:r>
            <a:endParaRPr sz="13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14521" y="9423603"/>
            <a:ext cx="126174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10" dirty="0">
                <a:latin typeface="Times New Roman"/>
                <a:cs typeface="Times New Roman"/>
              </a:rPr>
              <a:t>МОСКВА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2026</a:t>
            </a:r>
            <a:r>
              <a:rPr sz="1300" spc="-20" dirty="0">
                <a:latin typeface="Times New Roman"/>
                <a:cs typeface="Times New Roman"/>
              </a:rPr>
              <a:t> </a:t>
            </a:r>
            <a:r>
              <a:rPr sz="1300" spc="-80" dirty="0">
                <a:latin typeface="Times New Roman"/>
                <a:cs typeface="Times New Roman"/>
              </a:rPr>
              <a:t>г.</a:t>
            </a:r>
            <a:endParaRPr sz="13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66596" y="694689"/>
            <a:ext cx="5961380" cy="53689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00" b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Цель</a:t>
            </a:r>
            <a:r>
              <a:rPr sz="1400" b="1" u="sng" spc="-3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400" b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работы</a:t>
            </a:r>
            <a:endParaRPr sz="1400">
              <a:latin typeface="Times New Roman"/>
              <a:cs typeface="Times New Roman"/>
            </a:endParaRPr>
          </a:p>
          <a:p>
            <a:pPr marL="12700" marR="243840">
              <a:lnSpc>
                <a:spcPts val="1610"/>
              </a:lnSpc>
              <a:spcBef>
                <a:spcPts val="1435"/>
              </a:spcBef>
            </a:pP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Изучить</a:t>
            </a:r>
            <a:r>
              <a:rPr sz="1400" spc="-4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исторические</a:t>
            </a:r>
            <a:r>
              <a:rPr sz="1400" spc="-3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примеры</a:t>
            </a:r>
            <a:r>
              <a:rPr sz="1400" spc="-3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шифров</a:t>
            </a:r>
            <a:r>
              <a:rPr sz="1400" spc="-2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spc="-10" dirty="0">
                <a:solidFill>
                  <a:srgbClr val="0E1115"/>
                </a:solidFill>
                <a:latin typeface="Times New Roman"/>
                <a:cs typeface="Times New Roman"/>
              </a:rPr>
              <a:t>подстановки</a:t>
            </a:r>
            <a:r>
              <a:rPr sz="1400" spc="-3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(на</a:t>
            </a:r>
            <a:r>
              <a:rPr sz="1400" spc="-3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примере</a:t>
            </a:r>
            <a:r>
              <a:rPr sz="1400" spc="-3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spc="-10" dirty="0">
                <a:solidFill>
                  <a:srgbClr val="0E1115"/>
                </a:solidFill>
                <a:latin typeface="Times New Roman"/>
                <a:cs typeface="Times New Roman"/>
              </a:rPr>
              <a:t>шифров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Юлия</a:t>
            </a:r>
            <a:r>
              <a:rPr sz="1400" spc="-3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Цезаря</a:t>
            </a:r>
            <a:r>
              <a:rPr sz="1400" spc="-3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и</a:t>
            </a:r>
            <a:r>
              <a:rPr sz="1400" spc="-4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императора</a:t>
            </a:r>
            <a:r>
              <a:rPr sz="1400" spc="-1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spc="-10" dirty="0">
                <a:solidFill>
                  <a:srgbClr val="0E1115"/>
                </a:solidFill>
                <a:latin typeface="Times New Roman"/>
                <a:cs typeface="Times New Roman"/>
              </a:rPr>
              <a:t>Августа).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sz="1400" spc="-10" dirty="0">
                <a:solidFill>
                  <a:srgbClr val="0E1115"/>
                </a:solidFill>
                <a:latin typeface="Times New Roman"/>
                <a:cs typeface="Times New Roman"/>
              </a:rPr>
              <a:t>Реализовать</a:t>
            </a:r>
            <a:r>
              <a:rPr sz="1400" spc="-3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их</a:t>
            </a:r>
            <a:r>
              <a:rPr sz="1400" spc="-4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программно</a:t>
            </a:r>
            <a:r>
              <a:rPr sz="1400" spc="-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на</a:t>
            </a:r>
            <a:r>
              <a:rPr sz="1400" spc="-1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языке</a:t>
            </a:r>
            <a:r>
              <a:rPr sz="1400" spc="-10" dirty="0">
                <a:solidFill>
                  <a:srgbClr val="0E1115"/>
                </a:solidFill>
                <a:latin typeface="Times New Roman"/>
                <a:cs typeface="Times New Roman"/>
              </a:rPr>
              <a:t> Python.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20"/>
              </a:spcBef>
            </a:pP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Проверить</a:t>
            </a:r>
            <a:r>
              <a:rPr sz="1400" spc="-3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корректность</a:t>
            </a:r>
            <a:r>
              <a:rPr sz="1400" spc="-3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работы</a:t>
            </a:r>
            <a:r>
              <a:rPr sz="1400" spc="-2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0E1115"/>
                </a:solidFill>
                <a:latin typeface="Times New Roman"/>
                <a:cs typeface="Times New Roman"/>
              </a:rPr>
              <a:t>на</a:t>
            </a:r>
            <a:r>
              <a:rPr sz="1400" spc="-1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spc="-10" dirty="0">
                <a:solidFill>
                  <a:srgbClr val="0E1115"/>
                </a:solidFill>
                <a:latin typeface="Times New Roman"/>
                <a:cs typeface="Times New Roman"/>
              </a:rPr>
              <a:t>исторических</a:t>
            </a:r>
            <a:r>
              <a:rPr sz="1400" spc="-40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spc="-10" dirty="0">
                <a:solidFill>
                  <a:srgbClr val="0E1115"/>
                </a:solidFill>
                <a:latin typeface="Times New Roman"/>
                <a:cs typeface="Times New Roman"/>
              </a:rPr>
              <a:t>примерах</a:t>
            </a:r>
            <a:endParaRPr sz="1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50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300" b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Теоретическая</a:t>
            </a:r>
            <a:r>
              <a:rPr sz="1300" b="1" u="sng" spc="-3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300" b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часть:</a:t>
            </a:r>
            <a:r>
              <a:rPr sz="1300" b="1" u="sng" spc="50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endParaRPr sz="1300">
              <a:latin typeface="Times New Roman"/>
              <a:cs typeface="Times New Roman"/>
            </a:endParaRPr>
          </a:p>
          <a:p>
            <a:pPr marL="378460" marR="5080" indent="-366395">
              <a:lnSpc>
                <a:spcPct val="142900"/>
              </a:lnSpc>
              <a:spcBef>
                <a:spcPts val="1145"/>
              </a:spcBef>
            </a:pPr>
            <a:r>
              <a:rPr sz="1400" dirty="0">
                <a:latin typeface="Times New Roman"/>
                <a:cs typeface="Times New Roman"/>
              </a:rPr>
              <a:t>Шифр</a:t>
            </a:r>
            <a:r>
              <a:rPr sz="1400" spc="38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Цезаря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—</a:t>
            </a:r>
            <a:r>
              <a:rPr sz="1400" spc="36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каждый</a:t>
            </a:r>
            <a:r>
              <a:rPr sz="1400" spc="36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символ</a:t>
            </a:r>
            <a:r>
              <a:rPr sz="1400" spc="36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открытого</a:t>
            </a:r>
            <a:r>
              <a:rPr sz="1400" spc="36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текста</a:t>
            </a:r>
            <a:r>
              <a:rPr sz="1400" spc="37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заменяется</a:t>
            </a:r>
            <a:r>
              <a:rPr sz="1400" spc="37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символом, находящимся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на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фиксированное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число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позиций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k</a:t>
            </a:r>
            <a:r>
              <a:rPr sz="1400" i="1" dirty="0">
                <a:latin typeface="Times New Roman"/>
                <a:cs typeface="Times New Roman"/>
              </a:rPr>
              <a:t>k</a:t>
            </a:r>
            <a:r>
              <a:rPr sz="1400" i="1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правее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в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алфавите.</a:t>
            </a:r>
            <a:endParaRPr sz="1400">
              <a:latin typeface="Times New Roman"/>
              <a:cs typeface="Times New Roman"/>
            </a:endParaRPr>
          </a:p>
          <a:p>
            <a:pPr marL="378460">
              <a:lnSpc>
                <a:spcPct val="100000"/>
              </a:lnSpc>
              <a:spcBef>
                <a:spcPts val="750"/>
              </a:spcBef>
            </a:pPr>
            <a:r>
              <a:rPr sz="1400" spc="-10" dirty="0">
                <a:latin typeface="Times New Roman"/>
                <a:cs typeface="Times New Roman"/>
              </a:rPr>
              <a:t>Математическая</a:t>
            </a:r>
            <a:r>
              <a:rPr sz="1400" spc="-6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модель:</a:t>
            </a:r>
            <a:endParaRPr sz="1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30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Times New Roman"/>
                <a:cs typeface="Times New Roman"/>
              </a:rPr>
              <a:t>E(i)=(i+k)mod</a:t>
            </a:r>
            <a:r>
              <a:rPr sz="1400" spc="15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26</a:t>
            </a:r>
            <a:r>
              <a:rPr sz="1400" i="1" spc="-10" dirty="0">
                <a:latin typeface="Times New Roman"/>
                <a:cs typeface="Times New Roman"/>
              </a:rPr>
              <a:t>E</a:t>
            </a:r>
            <a:r>
              <a:rPr sz="1400" spc="-10" dirty="0">
                <a:latin typeface="Times New Roman"/>
                <a:cs typeface="Times New Roman"/>
              </a:rPr>
              <a:t>(</a:t>
            </a:r>
            <a:r>
              <a:rPr sz="1400" i="1" spc="-10" dirty="0">
                <a:latin typeface="Times New Roman"/>
                <a:cs typeface="Times New Roman"/>
              </a:rPr>
              <a:t>i</a:t>
            </a:r>
            <a:r>
              <a:rPr sz="1400" spc="-10" dirty="0">
                <a:latin typeface="Times New Roman"/>
                <a:cs typeface="Times New Roman"/>
              </a:rPr>
              <a:t>)=(</a:t>
            </a:r>
            <a:r>
              <a:rPr sz="1400" i="1" spc="-10" dirty="0">
                <a:latin typeface="Times New Roman"/>
                <a:cs typeface="Times New Roman"/>
              </a:rPr>
              <a:t>i</a:t>
            </a:r>
            <a:r>
              <a:rPr sz="1400" spc="-10" dirty="0">
                <a:latin typeface="Times New Roman"/>
                <a:cs typeface="Times New Roman"/>
              </a:rPr>
              <a:t>+</a:t>
            </a:r>
            <a:r>
              <a:rPr sz="1400" i="1" spc="-10" dirty="0">
                <a:latin typeface="Times New Roman"/>
                <a:cs typeface="Times New Roman"/>
              </a:rPr>
              <a:t>k</a:t>
            </a:r>
            <a:r>
              <a:rPr sz="1400" spc="-10" dirty="0">
                <a:latin typeface="Times New Roman"/>
                <a:cs typeface="Times New Roman"/>
              </a:rPr>
              <a:t>)mod26</a:t>
            </a:r>
            <a:endParaRPr sz="1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15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Times New Roman"/>
                <a:cs typeface="Times New Roman"/>
              </a:rPr>
              <a:t>где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</a:t>
            </a:r>
            <a:r>
              <a:rPr sz="1400" i="1" dirty="0">
                <a:latin typeface="Times New Roman"/>
                <a:cs typeface="Times New Roman"/>
              </a:rPr>
              <a:t>i</a:t>
            </a:r>
            <a:r>
              <a:rPr sz="1400" i="1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—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номер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буквы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в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алфавите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(A=0,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B=1,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...,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Z=25),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k</a:t>
            </a:r>
            <a:r>
              <a:rPr sz="1400" i="1" dirty="0">
                <a:latin typeface="Times New Roman"/>
                <a:cs typeface="Times New Roman"/>
              </a:rPr>
              <a:t>k</a:t>
            </a:r>
            <a:r>
              <a:rPr sz="1400" i="1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—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ключ.</a:t>
            </a:r>
            <a:endParaRPr sz="1400">
              <a:latin typeface="Times New Roman"/>
              <a:cs typeface="Times New Roman"/>
            </a:endParaRPr>
          </a:p>
          <a:p>
            <a:pPr marL="378460" marR="5080" indent="-366395">
              <a:lnSpc>
                <a:spcPct val="142900"/>
              </a:lnSpc>
              <a:spcBef>
                <a:spcPts val="1220"/>
              </a:spcBef>
            </a:pPr>
            <a:r>
              <a:rPr sz="1400" dirty="0">
                <a:latin typeface="Times New Roman"/>
                <a:cs typeface="Times New Roman"/>
              </a:rPr>
              <a:t>Шифр</a:t>
            </a:r>
            <a:r>
              <a:rPr sz="1400" spc="90" dirty="0">
                <a:latin typeface="Times New Roman"/>
                <a:cs typeface="Times New Roman"/>
              </a:rPr>
              <a:t>  </a:t>
            </a:r>
            <a:r>
              <a:rPr sz="1400" spc="-10" dirty="0">
                <a:latin typeface="Times New Roman"/>
                <a:cs typeface="Times New Roman"/>
              </a:rPr>
              <a:t>Атбаш</a:t>
            </a:r>
            <a:r>
              <a:rPr sz="1400" spc="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—</a:t>
            </a:r>
            <a:r>
              <a:rPr sz="1400" spc="85" dirty="0">
                <a:latin typeface="Times New Roman"/>
                <a:cs typeface="Times New Roman"/>
              </a:rPr>
              <a:t>  </a:t>
            </a:r>
            <a:r>
              <a:rPr sz="1400" dirty="0">
                <a:latin typeface="Times New Roman"/>
                <a:cs typeface="Times New Roman"/>
              </a:rPr>
              <a:t>зеркальная</a:t>
            </a:r>
            <a:r>
              <a:rPr sz="1400" spc="85" dirty="0">
                <a:latin typeface="Times New Roman"/>
                <a:cs typeface="Times New Roman"/>
              </a:rPr>
              <a:t>  </a:t>
            </a:r>
            <a:r>
              <a:rPr sz="1400" dirty="0">
                <a:latin typeface="Times New Roman"/>
                <a:cs typeface="Times New Roman"/>
              </a:rPr>
              <a:t>замена:</a:t>
            </a:r>
            <a:r>
              <a:rPr sz="1400" spc="85" dirty="0">
                <a:latin typeface="Times New Roman"/>
                <a:cs typeface="Times New Roman"/>
              </a:rPr>
              <a:t>  </a:t>
            </a:r>
            <a:r>
              <a:rPr sz="1400" dirty="0">
                <a:latin typeface="Times New Roman"/>
                <a:cs typeface="Times New Roman"/>
              </a:rPr>
              <a:t>первая</a:t>
            </a:r>
            <a:r>
              <a:rPr sz="1400" spc="85" dirty="0">
                <a:latin typeface="Times New Roman"/>
                <a:cs typeface="Times New Roman"/>
              </a:rPr>
              <a:t>  </a:t>
            </a:r>
            <a:r>
              <a:rPr sz="1400" dirty="0">
                <a:latin typeface="Times New Roman"/>
                <a:cs typeface="Times New Roman"/>
              </a:rPr>
              <a:t>буква</a:t>
            </a:r>
            <a:r>
              <a:rPr sz="1400" spc="85" dirty="0">
                <a:latin typeface="Times New Roman"/>
                <a:cs typeface="Times New Roman"/>
              </a:rPr>
              <a:t>  </a:t>
            </a:r>
            <a:r>
              <a:rPr sz="1400" dirty="0">
                <a:latin typeface="Times New Roman"/>
                <a:cs typeface="Times New Roman"/>
              </a:rPr>
              <a:t>алфавита</a:t>
            </a:r>
            <a:r>
              <a:rPr sz="1400" spc="85" dirty="0">
                <a:latin typeface="Times New Roman"/>
                <a:cs typeface="Times New Roman"/>
              </a:rPr>
              <a:t>  </a:t>
            </a:r>
            <a:r>
              <a:rPr sz="1400" dirty="0">
                <a:latin typeface="Times New Roman"/>
                <a:cs typeface="Times New Roman"/>
              </a:rPr>
              <a:t>меняется</a:t>
            </a:r>
            <a:r>
              <a:rPr sz="1400" spc="90" dirty="0">
                <a:latin typeface="Times New Roman"/>
                <a:cs typeface="Times New Roman"/>
              </a:rPr>
              <a:t>  </a:t>
            </a:r>
            <a:r>
              <a:rPr sz="1400" spc="-50" dirty="0">
                <a:latin typeface="Times New Roman"/>
                <a:cs typeface="Times New Roman"/>
              </a:rPr>
              <a:t>с </a:t>
            </a:r>
            <a:r>
              <a:rPr sz="1400" dirty="0">
                <a:latin typeface="Times New Roman"/>
                <a:cs typeface="Times New Roman"/>
              </a:rPr>
              <a:t>последней,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вторая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—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с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предпоследней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и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spc="-20" dirty="0">
                <a:latin typeface="Times New Roman"/>
                <a:cs typeface="Times New Roman"/>
              </a:rPr>
              <a:t>т.д.</a:t>
            </a:r>
            <a:endParaRPr sz="1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40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spc="-10" dirty="0">
                <a:latin typeface="Times New Roman"/>
                <a:cs typeface="Times New Roman"/>
              </a:rPr>
              <a:t>E(i)=25−i</a:t>
            </a:r>
            <a:r>
              <a:rPr sz="1400" i="1" spc="-10" dirty="0">
                <a:latin typeface="Times New Roman"/>
                <a:cs typeface="Times New Roman"/>
              </a:rPr>
              <a:t>E</a:t>
            </a:r>
            <a:r>
              <a:rPr sz="1400" spc="-10" dirty="0">
                <a:latin typeface="Times New Roman"/>
                <a:cs typeface="Times New Roman"/>
              </a:rPr>
              <a:t>(</a:t>
            </a:r>
            <a:r>
              <a:rPr sz="1400" i="1" spc="-10" dirty="0">
                <a:latin typeface="Times New Roman"/>
                <a:cs typeface="Times New Roman"/>
              </a:rPr>
              <a:t>i</a:t>
            </a:r>
            <a:r>
              <a:rPr sz="1400" spc="-10" dirty="0">
                <a:latin typeface="Times New Roman"/>
                <a:cs typeface="Times New Roman"/>
              </a:rPr>
              <a:t>)=25−</a:t>
            </a:r>
            <a:r>
              <a:rPr sz="1400" i="1" spc="-10" dirty="0">
                <a:latin typeface="Times New Roman"/>
                <a:cs typeface="Times New Roman"/>
              </a:rPr>
              <a:t>i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405885" y="7360030"/>
            <a:ext cx="439420" cy="204470"/>
          </a:xfrm>
          <a:custGeom>
            <a:avLst/>
            <a:gdLst/>
            <a:ahLst/>
            <a:cxnLst/>
            <a:rect l="l" t="t" r="r" b="b"/>
            <a:pathLst>
              <a:path w="439420" h="204470">
                <a:moveTo>
                  <a:pt x="439216" y="0"/>
                </a:moveTo>
                <a:lnTo>
                  <a:pt x="0" y="0"/>
                </a:lnTo>
                <a:lnTo>
                  <a:pt x="0" y="204215"/>
                </a:lnTo>
                <a:lnTo>
                  <a:pt x="439216" y="204215"/>
                </a:lnTo>
                <a:lnTo>
                  <a:pt x="439216" y="0"/>
                </a:lnTo>
                <a:close/>
              </a:path>
            </a:pathLst>
          </a:custGeom>
          <a:solidFill>
            <a:srgbClr val="EBED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066596" y="6981570"/>
            <a:ext cx="5097780" cy="28314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597535" indent="-133985">
              <a:lnSpc>
                <a:spcPct val="100000"/>
              </a:lnSpc>
              <a:spcBef>
                <a:spcPts val="90"/>
              </a:spcBef>
              <a:buClr>
                <a:srgbClr val="0E1115"/>
              </a:buClr>
              <a:buFont typeface="Times New Roman"/>
              <a:buAutoNum type="arabicPlain" startAt="3"/>
              <a:tabLst>
                <a:tab pos="597535" algn="l"/>
              </a:tabLst>
            </a:pPr>
            <a:r>
              <a:rPr sz="1400" b="1" spc="-10" dirty="0">
                <a:solidFill>
                  <a:srgbClr val="0E1115"/>
                </a:solidFill>
                <a:latin typeface="Times New Roman"/>
                <a:cs typeface="Times New Roman"/>
              </a:rPr>
              <a:t>.Программная</a:t>
            </a:r>
            <a:r>
              <a:rPr sz="1400" b="1" spc="5" dirty="0">
                <a:solidFill>
                  <a:srgbClr val="0E1115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0E1115"/>
                </a:solidFill>
                <a:latin typeface="Times New Roman"/>
                <a:cs typeface="Times New Roman"/>
              </a:rPr>
              <a:t>реализация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200" b="1" dirty="0">
                <a:solidFill>
                  <a:srgbClr val="0E1115"/>
                </a:solidFill>
                <a:latin typeface="Segoe UI"/>
                <a:cs typeface="Segoe UI"/>
              </a:rPr>
              <a:t>Инструменты:</a:t>
            </a:r>
            <a:r>
              <a:rPr sz="1200" b="1" spc="-2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Python</a:t>
            </a:r>
            <a:r>
              <a:rPr sz="1200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3,</a:t>
            </a:r>
            <a:r>
              <a:rPr sz="1200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модуль</a:t>
            </a:r>
            <a:r>
              <a:rPr sz="1200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0E1115"/>
                </a:solidFill>
                <a:latin typeface="Consolas"/>
                <a:cs typeface="Consolas"/>
              </a:rPr>
              <a:t>string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.</a:t>
            </a:r>
            <a:endParaRPr sz="12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Алфавит:</a:t>
            </a:r>
            <a:r>
              <a:rPr sz="1200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заглавные</a:t>
            </a:r>
            <a:r>
              <a:rPr sz="1200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латинские</a:t>
            </a:r>
            <a:r>
              <a:rPr sz="1200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буквы</a:t>
            </a:r>
            <a:r>
              <a:rPr sz="1200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A–Z</a:t>
            </a:r>
            <a:r>
              <a:rPr sz="1200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(для</a:t>
            </a:r>
            <a:r>
              <a:rPr sz="1200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Атбаш</a:t>
            </a:r>
            <a:r>
              <a:rPr sz="1200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добавлен</a:t>
            </a:r>
            <a:r>
              <a:rPr sz="1200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пробел).</a:t>
            </a:r>
            <a:endParaRPr sz="12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155"/>
              </a:spcBef>
            </a:pPr>
            <a:endParaRPr sz="1200">
              <a:latin typeface="Segoe UI"/>
              <a:cs typeface="Segoe UI"/>
            </a:endParaRPr>
          </a:p>
          <a:p>
            <a:pPr marL="721360" lvl="1" indent="-257810">
              <a:lnSpc>
                <a:spcPct val="100000"/>
              </a:lnSpc>
              <a:buClr>
                <a:srgbClr val="0E1115"/>
              </a:buClr>
              <a:buFont typeface="Segoe UI"/>
              <a:buAutoNum type="arabicPeriod"/>
              <a:tabLst>
                <a:tab pos="721360" algn="l"/>
              </a:tabLst>
            </a:pPr>
            <a:r>
              <a:rPr sz="1300" i="1" dirty="0">
                <a:solidFill>
                  <a:srgbClr val="0E1115"/>
                </a:solidFill>
                <a:latin typeface="Segoe UI"/>
                <a:cs typeface="Segoe UI"/>
              </a:rPr>
              <a:t>Функция</a:t>
            </a:r>
            <a:r>
              <a:rPr sz="1300" i="1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300" i="1" dirty="0">
                <a:solidFill>
                  <a:srgbClr val="0E1115"/>
                </a:solidFill>
                <a:latin typeface="Segoe UI"/>
                <a:cs typeface="Segoe UI"/>
              </a:rPr>
              <a:t>шифра</a:t>
            </a:r>
            <a:r>
              <a:rPr sz="1300" i="1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300" i="1" spc="-10" dirty="0">
                <a:solidFill>
                  <a:srgbClr val="0E1115"/>
                </a:solidFill>
                <a:latin typeface="Segoe UI"/>
                <a:cs typeface="Segoe UI"/>
              </a:rPr>
              <a:t>Цезаря</a:t>
            </a:r>
            <a:endParaRPr sz="1300">
              <a:latin typeface="Segoe UI"/>
              <a:cs typeface="Segoe UI"/>
            </a:endParaRPr>
          </a:p>
          <a:p>
            <a:pPr marL="463550">
              <a:lnSpc>
                <a:spcPct val="100000"/>
              </a:lnSpc>
              <a:spcBef>
                <a:spcPts val="1170"/>
              </a:spcBef>
            </a:pPr>
            <a:r>
              <a:rPr sz="900" spc="-10" dirty="0">
                <a:solidFill>
                  <a:srgbClr val="0E1115"/>
                </a:solidFill>
                <a:latin typeface="Consolas"/>
                <a:cs typeface="Consolas"/>
              </a:rPr>
              <a:t>python</a:t>
            </a:r>
            <a:endParaRPr sz="9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1050"/>
              </a:spcBef>
            </a:pP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import</a:t>
            </a:r>
            <a:r>
              <a:rPr sz="1000" spc="-25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string</a:t>
            </a: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455"/>
              </a:spcBef>
            </a:pP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alphabet</a:t>
            </a:r>
            <a:r>
              <a:rPr sz="1000" spc="-20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=</a:t>
            </a:r>
            <a:r>
              <a:rPr sz="1000" spc="-15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50A04F"/>
                </a:solidFill>
                <a:latin typeface="Consolas"/>
                <a:cs typeface="Consolas"/>
              </a:rPr>
              <a:t>list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string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.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ascii_uppercase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)</a:t>
            </a:r>
            <a:endParaRPr sz="10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465"/>
              </a:spcBef>
            </a:pPr>
            <a:endParaRPr sz="1000">
              <a:latin typeface="Consolas"/>
              <a:cs typeface="Consolas"/>
            </a:endParaRPr>
          </a:p>
          <a:p>
            <a:pPr marL="293370" marR="3256279" indent="-281305">
              <a:lnSpc>
                <a:spcPct val="138000"/>
              </a:lnSpc>
            </a:pP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def</a:t>
            </a:r>
            <a:r>
              <a:rPr sz="1000" spc="-50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cesar_cipher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k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,</a:t>
            </a:r>
            <a:r>
              <a:rPr sz="1000" spc="-50" dirty="0">
                <a:solidFill>
                  <a:srgbClr val="383942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text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): 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result</a:t>
            </a:r>
            <a:r>
              <a:rPr sz="1000" spc="-15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=</a:t>
            </a:r>
            <a:r>
              <a:rPr sz="1000" spc="-10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spc="-25" dirty="0">
                <a:solidFill>
                  <a:srgbClr val="50A04F"/>
                </a:solidFill>
                <a:latin typeface="Consolas"/>
                <a:cs typeface="Consolas"/>
              </a:rPr>
              <a:t>""</a:t>
            </a:r>
            <a:endParaRPr sz="1000">
              <a:latin typeface="Consolas"/>
              <a:cs typeface="Consolas"/>
            </a:endParaRPr>
          </a:p>
          <a:p>
            <a:pPr marL="293370">
              <a:lnSpc>
                <a:spcPct val="100000"/>
              </a:lnSpc>
              <a:spcBef>
                <a:spcPts val="459"/>
              </a:spcBef>
            </a:pP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for</a:t>
            </a:r>
            <a:r>
              <a:rPr sz="1000" spc="-25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letter</a:t>
            </a:r>
            <a:r>
              <a:rPr sz="1000" spc="-40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in</a:t>
            </a:r>
            <a:r>
              <a:rPr sz="1000" spc="-10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text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:</a:t>
            </a:r>
            <a:endParaRPr sz="10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491482" y="3893565"/>
            <a:ext cx="1247140" cy="204470"/>
          </a:xfrm>
          <a:custGeom>
            <a:avLst/>
            <a:gdLst/>
            <a:ahLst/>
            <a:cxnLst/>
            <a:rect l="l" t="t" r="r" b="b"/>
            <a:pathLst>
              <a:path w="1247139" h="204470">
                <a:moveTo>
                  <a:pt x="1246936" y="0"/>
                </a:moveTo>
                <a:lnTo>
                  <a:pt x="0" y="0"/>
                </a:lnTo>
                <a:lnTo>
                  <a:pt x="0" y="204216"/>
                </a:lnTo>
                <a:lnTo>
                  <a:pt x="1246936" y="204216"/>
                </a:lnTo>
                <a:lnTo>
                  <a:pt x="1246936" y="0"/>
                </a:lnTo>
                <a:close/>
              </a:path>
            </a:pathLst>
          </a:custGeom>
          <a:solidFill>
            <a:srgbClr val="EBED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66596" y="698956"/>
            <a:ext cx="5404485" cy="3402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73405" marR="2447290">
              <a:lnSpc>
                <a:spcPct val="138000"/>
              </a:lnSpc>
              <a:spcBef>
                <a:spcPts val="95"/>
              </a:spcBef>
            </a:pP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idx</a:t>
            </a:r>
            <a:r>
              <a:rPr sz="1000" spc="-5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=</a:t>
            </a:r>
            <a:r>
              <a:rPr sz="1000" spc="-5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alphabet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.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index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letter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) 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result</a:t>
            </a:r>
            <a:r>
              <a:rPr sz="1000" spc="-45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+=</a:t>
            </a:r>
            <a:r>
              <a:rPr sz="1000" spc="-20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alphabet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[(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idx</a:t>
            </a:r>
            <a:r>
              <a:rPr sz="1000" spc="-20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+</a:t>
            </a:r>
            <a:r>
              <a:rPr sz="1000" spc="-20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k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)</a:t>
            </a:r>
            <a:r>
              <a:rPr sz="1000" spc="-45" dirty="0">
                <a:solidFill>
                  <a:srgbClr val="383942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%</a:t>
            </a:r>
            <a:r>
              <a:rPr sz="1000" spc="-15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spc="-25" dirty="0">
                <a:solidFill>
                  <a:srgbClr val="B76B00"/>
                </a:solidFill>
                <a:latin typeface="Consolas"/>
                <a:cs typeface="Consolas"/>
              </a:rPr>
              <a:t>26</a:t>
            </a:r>
            <a:r>
              <a:rPr sz="1000" spc="-25" dirty="0">
                <a:solidFill>
                  <a:srgbClr val="383942"/>
                </a:solidFill>
                <a:latin typeface="Consolas"/>
                <a:cs typeface="Consolas"/>
              </a:rPr>
              <a:t>]</a:t>
            </a:r>
            <a:endParaRPr sz="1000">
              <a:latin typeface="Consolas"/>
              <a:cs typeface="Consolas"/>
            </a:endParaRPr>
          </a:p>
          <a:p>
            <a:pPr marL="293370">
              <a:lnSpc>
                <a:spcPct val="100000"/>
              </a:lnSpc>
              <a:spcBef>
                <a:spcPts val="434"/>
              </a:spcBef>
            </a:pP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return</a:t>
            </a:r>
            <a:r>
              <a:rPr sz="1000" spc="-35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result</a:t>
            </a:r>
            <a:endParaRPr sz="10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570"/>
              </a:spcBef>
            </a:pPr>
            <a:endParaRPr sz="1000">
              <a:latin typeface="Consolas"/>
              <a:cs typeface="Consolas"/>
            </a:endParaRPr>
          </a:p>
          <a:p>
            <a:pPr marL="463550">
              <a:lnSpc>
                <a:spcPct val="100000"/>
              </a:lnSpc>
            </a:pPr>
            <a:r>
              <a:rPr sz="1300" i="1" dirty="0">
                <a:solidFill>
                  <a:srgbClr val="0E1115"/>
                </a:solidFill>
                <a:latin typeface="Segoe UI"/>
                <a:cs typeface="Segoe UI"/>
              </a:rPr>
              <a:t>3.2</a:t>
            </a:r>
            <a:r>
              <a:rPr sz="1300" i="1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300" i="1" dirty="0">
                <a:solidFill>
                  <a:srgbClr val="0E1115"/>
                </a:solidFill>
                <a:latin typeface="Segoe UI"/>
                <a:cs typeface="Segoe UI"/>
              </a:rPr>
              <a:t>Функция</a:t>
            </a:r>
            <a:r>
              <a:rPr sz="1300" i="1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300" i="1" dirty="0">
                <a:solidFill>
                  <a:srgbClr val="0E1115"/>
                </a:solidFill>
                <a:latin typeface="Segoe UI"/>
                <a:cs typeface="Segoe UI"/>
              </a:rPr>
              <a:t>шифра</a:t>
            </a:r>
            <a:r>
              <a:rPr sz="1300" i="1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300" i="1" spc="-10" dirty="0">
                <a:solidFill>
                  <a:srgbClr val="0E1115"/>
                </a:solidFill>
                <a:latin typeface="Segoe UI"/>
                <a:cs typeface="Segoe UI"/>
              </a:rPr>
              <a:t>Атбаш</a:t>
            </a:r>
            <a:endParaRPr sz="1300">
              <a:latin typeface="Segoe UI"/>
              <a:cs typeface="Segoe UI"/>
            </a:endParaRPr>
          </a:p>
          <a:p>
            <a:pPr marL="463550">
              <a:lnSpc>
                <a:spcPct val="100000"/>
              </a:lnSpc>
              <a:spcBef>
                <a:spcPts val="1195"/>
              </a:spcBef>
            </a:pPr>
            <a:r>
              <a:rPr sz="900" spc="-10" dirty="0">
                <a:solidFill>
                  <a:srgbClr val="0E1115"/>
                </a:solidFill>
                <a:latin typeface="Consolas"/>
                <a:cs typeface="Consolas"/>
              </a:rPr>
              <a:t>python</a:t>
            </a:r>
            <a:endParaRPr sz="9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1050"/>
              </a:spcBef>
            </a:pP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alphabet</a:t>
            </a:r>
            <a:r>
              <a:rPr sz="1000" spc="5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=</a:t>
            </a:r>
            <a:r>
              <a:rPr sz="1000" spc="15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50A04F"/>
                </a:solidFill>
                <a:latin typeface="Consolas"/>
                <a:cs typeface="Consolas"/>
              </a:rPr>
              <a:t>list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string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.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ascii_uppercase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)</a:t>
            </a:r>
            <a:r>
              <a:rPr sz="1000" spc="15" dirty="0">
                <a:solidFill>
                  <a:srgbClr val="383942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+</a:t>
            </a:r>
            <a:r>
              <a:rPr sz="1000" spc="15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[</a:t>
            </a:r>
            <a:r>
              <a:rPr sz="1000" dirty="0">
                <a:solidFill>
                  <a:srgbClr val="50A04F"/>
                </a:solidFill>
                <a:latin typeface="Consolas"/>
                <a:cs typeface="Consolas"/>
              </a:rPr>
              <a:t>"</a:t>
            </a:r>
            <a:r>
              <a:rPr sz="1000" spc="-10" dirty="0">
                <a:solidFill>
                  <a:srgbClr val="50A04F"/>
                </a:solidFill>
                <a:latin typeface="Consolas"/>
                <a:cs typeface="Consolas"/>
              </a:rPr>
              <a:t> </a:t>
            </a:r>
            <a:r>
              <a:rPr sz="1000" spc="-25" dirty="0">
                <a:solidFill>
                  <a:srgbClr val="50A04F"/>
                </a:solidFill>
                <a:latin typeface="Consolas"/>
                <a:cs typeface="Consolas"/>
              </a:rPr>
              <a:t>"</a:t>
            </a:r>
            <a:r>
              <a:rPr sz="1000" spc="-25" dirty="0">
                <a:solidFill>
                  <a:srgbClr val="383942"/>
                </a:solidFill>
                <a:latin typeface="Consolas"/>
                <a:cs typeface="Consolas"/>
              </a:rPr>
              <a:t>]</a:t>
            </a:r>
            <a:endParaRPr sz="10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919"/>
              </a:spcBef>
            </a:pP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def</a:t>
            </a:r>
            <a:r>
              <a:rPr sz="1000" spc="-10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4078F1"/>
                </a:solidFill>
                <a:latin typeface="Consolas"/>
                <a:cs typeface="Consolas"/>
              </a:rPr>
              <a:t>atbash_cipher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text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):</a:t>
            </a:r>
            <a:endParaRPr sz="1000">
              <a:latin typeface="Consolas"/>
              <a:cs typeface="Consolas"/>
            </a:endParaRPr>
          </a:p>
          <a:p>
            <a:pPr marL="293370" marR="1958975">
              <a:lnSpc>
                <a:spcPct val="138000"/>
              </a:lnSpc>
            </a:pP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indexes</a:t>
            </a:r>
            <a:r>
              <a:rPr sz="1000" spc="-35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=</a:t>
            </a:r>
            <a:r>
              <a:rPr sz="1000" spc="-35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[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alphabet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.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index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ch</a:t>
            </a:r>
            <a:r>
              <a:rPr sz="1000" dirty="0">
                <a:solidFill>
                  <a:srgbClr val="383942"/>
                </a:solidFill>
                <a:latin typeface="Consolas"/>
                <a:cs typeface="Consolas"/>
              </a:rPr>
              <a:t>)</a:t>
            </a:r>
            <a:r>
              <a:rPr sz="1000" spc="-30" dirty="0">
                <a:solidFill>
                  <a:srgbClr val="383942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for</a:t>
            </a:r>
            <a:r>
              <a:rPr sz="1000" spc="-35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ch</a:t>
            </a:r>
            <a:r>
              <a:rPr sz="1000" spc="-30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in</a:t>
            </a:r>
            <a:r>
              <a:rPr sz="1000" spc="-55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text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] 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reversed_alphabet</a:t>
            </a:r>
            <a:r>
              <a:rPr sz="1000" spc="-55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4078F1"/>
                </a:solidFill>
                <a:latin typeface="Consolas"/>
                <a:cs typeface="Consolas"/>
              </a:rPr>
              <a:t>=</a:t>
            </a:r>
            <a:r>
              <a:rPr sz="1000" spc="-50" dirty="0">
                <a:solidFill>
                  <a:srgbClr val="4078F1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50A04F"/>
                </a:solidFill>
                <a:latin typeface="Consolas"/>
                <a:cs typeface="Consolas"/>
              </a:rPr>
              <a:t>list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spc="-10" dirty="0">
                <a:solidFill>
                  <a:srgbClr val="50A04F"/>
                </a:solidFill>
                <a:latin typeface="Consolas"/>
                <a:cs typeface="Consolas"/>
              </a:rPr>
              <a:t>reversed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alphabet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))</a:t>
            </a:r>
            <a:endParaRPr sz="1000">
              <a:latin typeface="Consolas"/>
              <a:cs typeface="Consolas"/>
            </a:endParaRPr>
          </a:p>
          <a:p>
            <a:pPr marL="293370">
              <a:lnSpc>
                <a:spcPct val="100000"/>
              </a:lnSpc>
              <a:spcBef>
                <a:spcPts val="430"/>
              </a:spcBef>
            </a:pP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return</a:t>
            </a:r>
            <a:r>
              <a:rPr sz="1000" spc="5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50A04F"/>
                </a:solidFill>
                <a:latin typeface="Consolas"/>
                <a:cs typeface="Consolas"/>
              </a:rPr>
              <a:t>""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.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join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(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reversed_alphabet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[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i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]</a:t>
            </a:r>
            <a:r>
              <a:rPr sz="1000" spc="15" dirty="0">
                <a:solidFill>
                  <a:srgbClr val="383942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for</a:t>
            </a:r>
            <a:r>
              <a:rPr sz="1000" spc="-10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0E1115"/>
                </a:solidFill>
                <a:latin typeface="Consolas"/>
                <a:cs typeface="Consolas"/>
              </a:rPr>
              <a:t>i</a:t>
            </a:r>
            <a:r>
              <a:rPr sz="1000" spc="15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000" dirty="0">
                <a:solidFill>
                  <a:srgbClr val="A625A3"/>
                </a:solidFill>
                <a:latin typeface="Consolas"/>
                <a:cs typeface="Consolas"/>
              </a:rPr>
              <a:t>in</a:t>
            </a:r>
            <a:r>
              <a:rPr sz="1000" spc="20" dirty="0">
                <a:solidFill>
                  <a:srgbClr val="A625A3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0E1115"/>
                </a:solidFill>
                <a:latin typeface="Consolas"/>
                <a:cs typeface="Consolas"/>
              </a:rPr>
              <a:t>indexes</a:t>
            </a:r>
            <a:r>
              <a:rPr sz="1000" spc="-10" dirty="0">
                <a:solidFill>
                  <a:srgbClr val="383942"/>
                </a:solidFill>
                <a:latin typeface="Consolas"/>
                <a:cs typeface="Consolas"/>
              </a:rPr>
              <a:t>)</a:t>
            </a:r>
            <a:endParaRPr sz="10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190"/>
              </a:spcBef>
            </a:pPr>
            <a:endParaRPr sz="10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solidFill>
                  <a:srgbClr val="0E1115"/>
                </a:solidFill>
                <a:latin typeface="Segoe UI"/>
                <a:cs typeface="Segoe UI"/>
              </a:rPr>
              <a:t>Исправления,</a:t>
            </a:r>
            <a:r>
              <a:rPr sz="1200" b="1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b="1" spc="-10" dirty="0">
                <a:solidFill>
                  <a:srgbClr val="0E1115"/>
                </a:solidFill>
                <a:latin typeface="Segoe UI"/>
                <a:cs typeface="Segoe UI"/>
              </a:rPr>
              <a:t>внесённые</a:t>
            </a:r>
            <a:r>
              <a:rPr sz="1200" b="1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b="1" dirty="0">
                <a:solidFill>
                  <a:srgbClr val="0E1115"/>
                </a:solidFill>
                <a:latin typeface="Segoe UI"/>
                <a:cs typeface="Segoe UI"/>
              </a:rPr>
              <a:t>в</a:t>
            </a:r>
            <a:r>
              <a:rPr sz="1200" b="1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b="1" dirty="0">
                <a:solidFill>
                  <a:srgbClr val="0E1115"/>
                </a:solidFill>
                <a:latin typeface="Segoe UI"/>
                <a:cs typeface="Segoe UI"/>
              </a:rPr>
              <a:t>исходный</a:t>
            </a:r>
            <a:r>
              <a:rPr sz="1200" b="1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b="1" spc="-20" dirty="0">
                <a:solidFill>
                  <a:srgbClr val="0E1115"/>
                </a:solidFill>
                <a:latin typeface="Segoe UI"/>
                <a:cs typeface="Segoe UI"/>
              </a:rPr>
              <a:t>код:</a:t>
            </a:r>
            <a:endParaRPr sz="1200">
              <a:latin typeface="Segoe UI"/>
              <a:cs typeface="Segoe UI"/>
            </a:endParaRPr>
          </a:p>
          <a:p>
            <a:pPr marL="469900" indent="-228600">
              <a:lnSpc>
                <a:spcPct val="10000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900" algn="l"/>
              </a:tabLst>
            </a:pP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Убрано</a:t>
            </a:r>
            <a:r>
              <a:rPr sz="1200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глобальное</a:t>
            </a:r>
            <a:r>
              <a:rPr sz="1200" spc="-1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изменение</a:t>
            </a:r>
            <a:r>
              <a:rPr sz="1200" spc="-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алфавита</a:t>
            </a:r>
            <a:r>
              <a:rPr sz="1200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(</a:t>
            </a:r>
            <a:r>
              <a:rPr sz="1050" spc="-10" dirty="0">
                <a:solidFill>
                  <a:srgbClr val="0E1115"/>
                </a:solidFill>
                <a:latin typeface="Consolas"/>
                <a:cs typeface="Consolas"/>
              </a:rPr>
              <a:t>reversed_alphabet</a:t>
            </a:r>
            <a:r>
              <a:rPr sz="1050" spc="-245" dirty="0">
                <a:solidFill>
                  <a:srgbClr val="0E1115"/>
                </a:solidFill>
                <a:latin typeface="Consolas"/>
                <a:cs typeface="Consolas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создаётся</a:t>
            </a:r>
            <a:endParaRPr sz="12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95527" y="4078985"/>
            <a:ext cx="1647825" cy="42799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241300">
              <a:lnSpc>
                <a:spcPct val="100000"/>
              </a:lnSpc>
              <a:spcBef>
                <a:spcPts val="240"/>
              </a:spcBef>
            </a:pP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локально).</a:t>
            </a:r>
            <a:endParaRPr sz="1200">
              <a:latin typeface="Segoe UI"/>
              <a:cs typeface="Segoe UI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SzPct val="83333"/>
              <a:buFont typeface="Symbol"/>
              <a:buChar char=""/>
              <a:tabLst>
                <a:tab pos="240665" algn="l"/>
              </a:tabLst>
            </a:pP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Добавлен</a:t>
            </a:r>
            <a:r>
              <a:rPr sz="1200" spc="-7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оператор</a:t>
            </a:r>
            <a:endParaRPr sz="1200">
              <a:latin typeface="Segoe UI"/>
              <a:cs typeface="Segoe U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268723" y="4298949"/>
            <a:ext cx="951865" cy="204470"/>
          </a:xfrm>
          <a:custGeom>
            <a:avLst/>
            <a:gdLst/>
            <a:ahLst/>
            <a:cxnLst/>
            <a:rect l="l" t="t" r="r" b="b"/>
            <a:pathLst>
              <a:path w="951864" h="204470">
                <a:moveTo>
                  <a:pt x="951585" y="0"/>
                </a:moveTo>
                <a:lnTo>
                  <a:pt x="0" y="0"/>
                </a:lnTo>
                <a:lnTo>
                  <a:pt x="0" y="204215"/>
                </a:lnTo>
                <a:lnTo>
                  <a:pt x="951585" y="204215"/>
                </a:lnTo>
                <a:lnTo>
                  <a:pt x="951585" y="0"/>
                </a:lnTo>
                <a:close/>
              </a:path>
            </a:pathLst>
          </a:custGeom>
          <a:solidFill>
            <a:srgbClr val="EBED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973070" y="4298949"/>
            <a:ext cx="452120" cy="204470"/>
          </a:xfrm>
          <a:prstGeom prst="rect">
            <a:avLst/>
          </a:prstGeom>
          <a:solidFill>
            <a:srgbClr val="EBEDF1"/>
          </a:solidFill>
        </p:spPr>
        <p:txBody>
          <a:bodyPr vert="horz" wrap="square" lIns="0" tIns="311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45"/>
              </a:spcBef>
            </a:pPr>
            <a:r>
              <a:rPr sz="1050" spc="-10" dirty="0">
                <a:solidFill>
                  <a:srgbClr val="0E1115"/>
                </a:solidFill>
                <a:latin typeface="Consolas"/>
                <a:cs typeface="Consolas"/>
              </a:rPr>
              <a:t>return</a:t>
            </a:r>
            <a:endParaRPr sz="105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41953" y="4298441"/>
            <a:ext cx="18243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в</a:t>
            </a:r>
            <a:r>
              <a:rPr sz="1200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функцию </a:t>
            </a:r>
            <a:r>
              <a:rPr sz="1050" spc="-10" dirty="0">
                <a:solidFill>
                  <a:srgbClr val="0E1115"/>
                </a:solidFill>
                <a:latin typeface="Consolas"/>
                <a:cs typeface="Consolas"/>
              </a:rPr>
              <a:t>atbash_cipher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.</a:t>
            </a:r>
            <a:endParaRPr sz="1200">
              <a:latin typeface="Segoe UI"/>
              <a:cs typeface="Segoe U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66596" y="4883911"/>
            <a:ext cx="19469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1115"/>
                </a:solidFill>
                <a:latin typeface="Segoe UI"/>
                <a:cs typeface="Segoe UI"/>
              </a:rPr>
              <a:t>Результаты</a:t>
            </a:r>
            <a:r>
              <a:rPr sz="1200" b="1" spc="-6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b="1" spc="-10" dirty="0">
                <a:solidFill>
                  <a:srgbClr val="0E1115"/>
                </a:solidFill>
                <a:latin typeface="Segoe UI"/>
                <a:cs typeface="Segoe UI"/>
              </a:rPr>
              <a:t>тестирования</a:t>
            </a:r>
            <a:endParaRPr sz="1200">
              <a:latin typeface="Segoe UI"/>
              <a:cs typeface="Segoe U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047546" y="5360044"/>
          <a:ext cx="5402580" cy="11899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58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9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81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9109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1200" spc="-2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Шифр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12395" marB="0"/>
                </a:tc>
                <a:tc>
                  <a:txBody>
                    <a:bodyPr/>
                    <a:lstStyle/>
                    <a:p>
                      <a:pPr marL="153670" marR="289560">
                        <a:lnSpc>
                          <a:spcPts val="1580"/>
                        </a:lnSpc>
                        <a:spcBef>
                          <a:spcPts val="30"/>
                        </a:spcBef>
                      </a:pPr>
                      <a:r>
                        <a:rPr sz="1200" spc="-1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Входной </a:t>
                      </a:r>
                      <a:r>
                        <a:rPr sz="1200" spc="-2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текст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3810" marB="0"/>
                </a:tc>
                <a:tc>
                  <a:txBody>
                    <a:bodyPr/>
                    <a:lstStyle/>
                    <a:p>
                      <a:pPr marL="297180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1200" spc="-2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Ключ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12395" marB="0"/>
                </a:tc>
                <a:tc>
                  <a:txBody>
                    <a:bodyPr/>
                    <a:lstStyle/>
                    <a:p>
                      <a:pPr marL="153670" marR="407034">
                        <a:lnSpc>
                          <a:spcPts val="1580"/>
                        </a:lnSpc>
                        <a:spcBef>
                          <a:spcPts val="30"/>
                        </a:spcBef>
                      </a:pPr>
                      <a:r>
                        <a:rPr sz="1200" spc="-1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Ожидаемый результат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3810" marB="0"/>
                </a:tc>
                <a:tc>
                  <a:txBody>
                    <a:bodyPr/>
                    <a:lstStyle/>
                    <a:p>
                      <a:pPr marL="414655" marR="24130">
                        <a:lnSpc>
                          <a:spcPts val="1580"/>
                        </a:lnSpc>
                        <a:spcBef>
                          <a:spcPts val="30"/>
                        </a:spcBef>
                      </a:pPr>
                      <a:r>
                        <a:rPr sz="1200" spc="-1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Полученный результат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381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6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44"/>
                        </a:spcBef>
                      </a:pPr>
                      <a:r>
                        <a:rPr sz="1200" spc="-1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Цезарь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4" marB="0"/>
                </a:tc>
                <a:tc>
                  <a:txBody>
                    <a:bodyPr/>
                    <a:lstStyle/>
                    <a:p>
                      <a:pPr marL="153670">
                        <a:lnSpc>
                          <a:spcPct val="100000"/>
                        </a:lnSpc>
                        <a:spcBef>
                          <a:spcPts val="844"/>
                        </a:spcBef>
                      </a:pPr>
                      <a:r>
                        <a:rPr sz="1200" spc="-2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YZZ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4" marB="0"/>
                </a:tc>
                <a:tc>
                  <a:txBody>
                    <a:bodyPr/>
                    <a:lstStyle/>
                    <a:p>
                      <a:pPr marL="297180">
                        <a:lnSpc>
                          <a:spcPct val="100000"/>
                        </a:lnSpc>
                        <a:spcBef>
                          <a:spcPts val="844"/>
                        </a:spcBef>
                      </a:pPr>
                      <a:r>
                        <a:rPr sz="1200" spc="-5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3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4" marB="0"/>
                </a:tc>
                <a:tc>
                  <a:txBody>
                    <a:bodyPr/>
                    <a:lstStyle/>
                    <a:p>
                      <a:pPr marL="153670">
                        <a:lnSpc>
                          <a:spcPct val="100000"/>
                        </a:lnSpc>
                        <a:spcBef>
                          <a:spcPts val="844"/>
                        </a:spcBef>
                      </a:pPr>
                      <a:r>
                        <a:rPr sz="1200" spc="-2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BCC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4" marB="0"/>
                </a:tc>
                <a:tc>
                  <a:txBody>
                    <a:bodyPr/>
                    <a:lstStyle/>
                    <a:p>
                      <a:pPr marL="414655">
                        <a:lnSpc>
                          <a:spcPct val="100000"/>
                        </a:lnSpc>
                        <a:spcBef>
                          <a:spcPts val="844"/>
                        </a:spcBef>
                      </a:pPr>
                      <a:r>
                        <a:rPr sz="1200" spc="-2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BCC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4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815">
                <a:tc>
                  <a:txBody>
                    <a:bodyPr/>
                    <a:lstStyle/>
                    <a:p>
                      <a:pPr marL="31750">
                        <a:lnSpc>
                          <a:spcPts val="1400"/>
                        </a:lnSpc>
                        <a:spcBef>
                          <a:spcPts val="845"/>
                        </a:spcBef>
                      </a:pPr>
                      <a:r>
                        <a:rPr sz="1200" spc="-1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Атбаш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5" marB="0"/>
                </a:tc>
                <a:tc>
                  <a:txBody>
                    <a:bodyPr/>
                    <a:lstStyle/>
                    <a:p>
                      <a:pPr marL="153670">
                        <a:lnSpc>
                          <a:spcPts val="1400"/>
                        </a:lnSpc>
                        <a:spcBef>
                          <a:spcPts val="845"/>
                        </a:spcBef>
                      </a:pPr>
                      <a:r>
                        <a:rPr sz="120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EEE</a:t>
                      </a:r>
                      <a:r>
                        <a:rPr sz="1200" spc="-4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2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AF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5" marB="0"/>
                </a:tc>
                <a:tc>
                  <a:txBody>
                    <a:bodyPr/>
                    <a:lstStyle/>
                    <a:p>
                      <a:pPr marL="297180">
                        <a:lnSpc>
                          <a:spcPts val="1400"/>
                        </a:lnSpc>
                        <a:spcBef>
                          <a:spcPts val="845"/>
                        </a:spcBef>
                      </a:pPr>
                      <a:r>
                        <a:rPr sz="1200" spc="-5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—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5" marB="0"/>
                </a:tc>
                <a:tc>
                  <a:txBody>
                    <a:bodyPr/>
                    <a:lstStyle/>
                    <a:p>
                      <a:pPr marL="153670">
                        <a:lnSpc>
                          <a:spcPts val="1400"/>
                        </a:lnSpc>
                        <a:spcBef>
                          <a:spcPts val="845"/>
                        </a:spcBef>
                      </a:pPr>
                      <a:r>
                        <a:rPr sz="120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VVH</a:t>
                      </a:r>
                      <a:r>
                        <a:rPr sz="1200" spc="-1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2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ZU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5" marB="0"/>
                </a:tc>
                <a:tc>
                  <a:txBody>
                    <a:bodyPr/>
                    <a:lstStyle/>
                    <a:p>
                      <a:pPr marL="414655">
                        <a:lnSpc>
                          <a:spcPts val="1400"/>
                        </a:lnSpc>
                        <a:spcBef>
                          <a:spcPts val="845"/>
                        </a:spcBef>
                      </a:pPr>
                      <a:r>
                        <a:rPr sz="1200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VVH</a:t>
                      </a:r>
                      <a:r>
                        <a:rPr sz="1200" spc="-1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25" dirty="0">
                          <a:solidFill>
                            <a:srgbClr val="0E1115"/>
                          </a:solidFill>
                          <a:latin typeface="Segoe UI"/>
                          <a:cs typeface="Segoe UI"/>
                        </a:rPr>
                        <a:t>ZU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10731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1066596" y="6826122"/>
            <a:ext cx="54375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i="1" dirty="0">
                <a:solidFill>
                  <a:srgbClr val="0E1115"/>
                </a:solidFill>
                <a:latin typeface="Segoe UI"/>
                <a:cs typeface="Segoe UI"/>
              </a:rPr>
              <a:t>Все</a:t>
            </a:r>
            <a:r>
              <a:rPr sz="1200" i="1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i="1" dirty="0">
                <a:solidFill>
                  <a:srgbClr val="0E1115"/>
                </a:solidFill>
                <a:latin typeface="Segoe UI"/>
                <a:cs typeface="Segoe UI"/>
              </a:rPr>
              <a:t>результаты</a:t>
            </a:r>
            <a:r>
              <a:rPr sz="1200" i="1" spc="-1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i="1" dirty="0">
                <a:solidFill>
                  <a:srgbClr val="0E1115"/>
                </a:solidFill>
                <a:latin typeface="Segoe UI"/>
                <a:cs typeface="Segoe UI"/>
              </a:rPr>
              <a:t>совпали</a:t>
            </a:r>
            <a:r>
              <a:rPr sz="1200" i="1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i="1" dirty="0">
                <a:solidFill>
                  <a:srgbClr val="0E1115"/>
                </a:solidFill>
                <a:latin typeface="Segoe UI"/>
                <a:cs typeface="Segoe UI"/>
              </a:rPr>
              <a:t>с</a:t>
            </a:r>
            <a:r>
              <a:rPr sz="1200" i="1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i="1" spc="-10" dirty="0">
                <a:solidFill>
                  <a:srgbClr val="0E1115"/>
                </a:solidFill>
                <a:latin typeface="Segoe UI"/>
                <a:cs typeface="Segoe UI"/>
              </a:rPr>
              <a:t>ожидаемыми,</a:t>
            </a:r>
            <a:r>
              <a:rPr sz="1200" i="1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i="1" dirty="0">
                <a:solidFill>
                  <a:srgbClr val="0E1115"/>
                </a:solidFill>
                <a:latin typeface="Segoe UI"/>
                <a:cs typeface="Segoe UI"/>
              </a:rPr>
              <a:t>алгоритмы</a:t>
            </a:r>
            <a:r>
              <a:rPr sz="1200" i="1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i="1" dirty="0">
                <a:solidFill>
                  <a:srgbClr val="0E1115"/>
                </a:solidFill>
                <a:latin typeface="Segoe UI"/>
                <a:cs typeface="Segoe UI"/>
              </a:rPr>
              <a:t>работают</a:t>
            </a:r>
            <a:r>
              <a:rPr sz="1200" i="1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i="1" spc="-10" dirty="0">
                <a:solidFill>
                  <a:srgbClr val="0E1115"/>
                </a:solidFill>
                <a:latin typeface="Segoe UI"/>
                <a:cs typeface="Segoe UI"/>
              </a:rPr>
              <a:t>корректно.</a:t>
            </a:r>
            <a:endParaRPr sz="1200">
              <a:latin typeface="Segoe UI"/>
              <a:cs typeface="Segoe U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09268" y="7990713"/>
            <a:ext cx="5285105" cy="1400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0E1115"/>
                </a:solidFill>
                <a:latin typeface="Segoe UI"/>
                <a:cs typeface="Segoe UI"/>
              </a:rPr>
              <a:t>Выводы</a:t>
            </a:r>
            <a:endParaRPr sz="1200">
              <a:latin typeface="Segoe UI"/>
              <a:cs typeface="Segoe UI"/>
            </a:endParaRPr>
          </a:p>
          <a:p>
            <a:pPr marL="425450" indent="-226695">
              <a:lnSpc>
                <a:spcPct val="100000"/>
              </a:lnSpc>
              <a:spcBef>
                <a:spcPts val="1560"/>
              </a:spcBef>
              <a:buAutoNum type="arabicPeriod"/>
              <a:tabLst>
                <a:tab pos="425450" algn="l"/>
              </a:tabLst>
            </a:pP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Реализованы</a:t>
            </a:r>
            <a:r>
              <a:rPr sz="1200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два</a:t>
            </a:r>
            <a:r>
              <a:rPr sz="1200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классических</a:t>
            </a:r>
            <a:r>
              <a:rPr sz="1200" spc="-2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шифра</a:t>
            </a:r>
            <a:r>
              <a:rPr sz="1200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подстановки.</a:t>
            </a:r>
            <a:endParaRPr sz="1200">
              <a:latin typeface="Segoe UI"/>
              <a:cs typeface="Segoe UI"/>
            </a:endParaRPr>
          </a:p>
          <a:p>
            <a:pPr marL="425450" indent="-226695">
              <a:lnSpc>
                <a:spcPct val="100000"/>
              </a:lnSpc>
              <a:spcBef>
                <a:spcPts val="140"/>
              </a:spcBef>
              <a:buAutoNum type="arabicPeriod"/>
              <a:tabLst>
                <a:tab pos="425450" algn="l"/>
              </a:tabLst>
            </a:pP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Освоена</a:t>
            </a:r>
            <a:r>
              <a:rPr sz="1200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математическая</a:t>
            </a:r>
            <a:r>
              <a:rPr sz="1200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модель</a:t>
            </a:r>
            <a:r>
              <a:rPr sz="1200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модульного</a:t>
            </a:r>
            <a:r>
              <a:rPr sz="1200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сдвига.</a:t>
            </a:r>
            <a:endParaRPr sz="1200">
              <a:latin typeface="Segoe UI"/>
              <a:cs typeface="Segoe UI"/>
            </a:endParaRPr>
          </a:p>
          <a:p>
            <a:pPr marL="425450" marR="5080" indent="-226695">
              <a:lnSpc>
                <a:spcPct val="110200"/>
              </a:lnSpc>
              <a:spcBef>
                <a:spcPts val="25"/>
              </a:spcBef>
              <a:buAutoNum type="arabicPeriod"/>
              <a:tabLst>
                <a:tab pos="427355" algn="l"/>
              </a:tabLst>
            </a:pP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Исправлены</a:t>
            </a:r>
            <a:r>
              <a:rPr sz="1200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ошибки</a:t>
            </a:r>
            <a:r>
              <a:rPr sz="1200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в</a:t>
            </a:r>
            <a:r>
              <a:rPr sz="1200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предоставленном</a:t>
            </a:r>
            <a:r>
              <a:rPr sz="1200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коде</a:t>
            </a:r>
            <a:r>
              <a:rPr sz="1200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(побочное</a:t>
            </a:r>
            <a:r>
              <a:rPr sz="1200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изменение 	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глобальных</a:t>
            </a:r>
            <a:r>
              <a:rPr sz="1200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данных,</a:t>
            </a:r>
            <a:r>
              <a:rPr sz="1200" spc="-4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отсутствие</a:t>
            </a:r>
            <a:r>
              <a:rPr sz="1200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return).</a:t>
            </a:r>
            <a:endParaRPr sz="1200">
              <a:latin typeface="Segoe UI"/>
              <a:cs typeface="Segoe UI"/>
            </a:endParaRPr>
          </a:p>
          <a:p>
            <a:pPr marL="425450" indent="-226695">
              <a:lnSpc>
                <a:spcPct val="100000"/>
              </a:lnSpc>
              <a:spcBef>
                <a:spcPts val="165"/>
              </a:spcBef>
              <a:buAutoNum type="arabicPeriod"/>
              <a:tabLst>
                <a:tab pos="425450" algn="l"/>
              </a:tabLst>
            </a:pP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Программы</a:t>
            </a:r>
            <a:r>
              <a:rPr sz="1200" spc="-4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протестированы</a:t>
            </a:r>
            <a:r>
              <a:rPr sz="1200" spc="-3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и</a:t>
            </a:r>
            <a:r>
              <a:rPr sz="1200" spc="-2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готовы</a:t>
            </a:r>
            <a:r>
              <a:rPr sz="1200" spc="-35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0E1115"/>
                </a:solidFill>
                <a:latin typeface="Segoe UI"/>
                <a:cs typeface="Segoe UI"/>
              </a:rPr>
              <a:t>к</a:t>
            </a:r>
            <a:r>
              <a:rPr sz="1200" spc="-20" dirty="0">
                <a:solidFill>
                  <a:srgbClr val="0E1115"/>
                </a:solidFill>
                <a:latin typeface="Segoe UI"/>
                <a:cs typeface="Segoe UI"/>
              </a:rPr>
              <a:t> </a:t>
            </a:r>
            <a:r>
              <a:rPr sz="1200" spc="-10" dirty="0">
                <a:solidFill>
                  <a:srgbClr val="0E1115"/>
                </a:solidFill>
                <a:latin typeface="Segoe UI"/>
                <a:cs typeface="Segoe UI"/>
              </a:rPr>
              <a:t>использованию.</a:t>
            </a:r>
            <a:endParaRPr sz="12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413</Words>
  <Application>Microsoft Office PowerPoint</Application>
  <PresentationFormat>Custom</PresentationFormat>
  <Paragraphs>73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Calibri</vt:lpstr>
      <vt:lpstr>Consolas</vt:lpstr>
      <vt:lpstr>Segoe UI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Ever</dc:creator>
  <cp:lastModifiedBy>Amine Moumene</cp:lastModifiedBy>
  <cp:revision>1</cp:revision>
  <dcterms:created xsi:type="dcterms:W3CDTF">2026-03-13T20:36:04Z</dcterms:created>
  <dcterms:modified xsi:type="dcterms:W3CDTF">2026-03-13T20:43:02Z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2026-03-13T00:00:00Z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2026-03-13T00:00:00Z</vt:filetime>
  </property>
  <property fmtid="{D5CDD505-2E9C-101B-9397-08002B2CF9AE}" pid="5" name="Producer">
    <vt:lpwstr>www.ilovepdf.com</vt:lpwstr>
  </property>
</Properties>
</file>