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5" d="100"/>
          <a:sy n="45" d="100"/>
        </p:scale>
        <p:origin x="2120" y="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86966" y="691641"/>
            <a:ext cx="5207635" cy="10160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latin typeface="Times New Roman"/>
                <a:cs typeface="Times New Roman"/>
              </a:rPr>
              <a:t>РОССИЙСКИЙ</a:t>
            </a:r>
            <a:r>
              <a:rPr sz="1600" b="1" spc="-8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УНИВЕРСИТЕТ</a:t>
            </a:r>
            <a:r>
              <a:rPr sz="1600" b="1" spc="-6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ДРУЖБЫ</a:t>
            </a:r>
            <a:r>
              <a:rPr sz="1600" b="1" spc="-6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НАРОДОВ</a:t>
            </a:r>
            <a:endParaRPr sz="1600">
              <a:latin typeface="Times New Roman"/>
              <a:cs typeface="Times New Roman"/>
            </a:endParaRPr>
          </a:p>
          <a:p>
            <a:pPr marL="683260" marR="111125" indent="73025">
              <a:lnSpc>
                <a:spcPct val="183300"/>
              </a:lnSpc>
              <a:spcBef>
                <a:spcPts val="155"/>
              </a:spcBef>
            </a:pPr>
            <a:r>
              <a:rPr sz="1300" b="1" spc="-10" dirty="0">
                <a:latin typeface="Times New Roman"/>
                <a:cs typeface="Times New Roman"/>
              </a:rPr>
              <a:t>Факультет</a:t>
            </a:r>
            <a:r>
              <a:rPr sz="1300" b="1" spc="-15" dirty="0">
                <a:latin typeface="Times New Roman"/>
                <a:cs typeface="Times New Roman"/>
              </a:rPr>
              <a:t> </a:t>
            </a:r>
            <a:r>
              <a:rPr sz="1300" b="1" spc="-20" dirty="0">
                <a:latin typeface="Times New Roman"/>
                <a:cs typeface="Times New Roman"/>
              </a:rPr>
              <a:t>физико-</a:t>
            </a:r>
            <a:r>
              <a:rPr sz="1300" b="1" spc="-10" dirty="0">
                <a:latin typeface="Times New Roman"/>
                <a:cs typeface="Times New Roman"/>
              </a:rPr>
              <a:t>математических</a:t>
            </a:r>
            <a:r>
              <a:rPr sz="1300" b="1" spc="-4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и</a:t>
            </a:r>
            <a:r>
              <a:rPr sz="1300" b="1" spc="-2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естественных</a:t>
            </a:r>
            <a:r>
              <a:rPr sz="1300" b="1" spc="-45" dirty="0">
                <a:latin typeface="Times New Roman"/>
                <a:cs typeface="Times New Roman"/>
              </a:rPr>
              <a:t> </a:t>
            </a:r>
            <a:r>
              <a:rPr sz="1300" b="1" spc="-20" dirty="0">
                <a:latin typeface="Times New Roman"/>
                <a:cs typeface="Times New Roman"/>
              </a:rPr>
              <a:t>наук </a:t>
            </a:r>
            <a:r>
              <a:rPr sz="1300" b="1" spc="-10" dirty="0">
                <a:latin typeface="Times New Roman"/>
                <a:cs typeface="Times New Roman"/>
              </a:rPr>
              <a:t>Кафедра</a:t>
            </a:r>
            <a:r>
              <a:rPr sz="1300" b="1" spc="-4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прикладной</a:t>
            </a:r>
            <a:r>
              <a:rPr sz="1300" b="1" spc="-35" dirty="0">
                <a:latin typeface="Times New Roman"/>
                <a:cs typeface="Times New Roman"/>
              </a:rPr>
              <a:t> </a:t>
            </a:r>
            <a:r>
              <a:rPr sz="1300" b="1" spc="-10" dirty="0">
                <a:latin typeface="Times New Roman"/>
                <a:cs typeface="Times New Roman"/>
              </a:rPr>
              <a:t>информатики</a:t>
            </a:r>
            <a:r>
              <a:rPr sz="1300" b="1" spc="-3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и</a:t>
            </a:r>
            <a:r>
              <a:rPr sz="1300" b="1" spc="-3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теории</a:t>
            </a:r>
            <a:r>
              <a:rPr sz="1300" b="1" spc="-35" dirty="0">
                <a:latin typeface="Times New Roman"/>
                <a:cs typeface="Times New Roman"/>
              </a:rPr>
              <a:t> </a:t>
            </a:r>
            <a:r>
              <a:rPr sz="1300" b="1" spc="-10" dirty="0">
                <a:latin typeface="Times New Roman"/>
                <a:cs typeface="Times New Roman"/>
              </a:rPr>
              <a:t>вероятностей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50391" y="2923412"/>
            <a:ext cx="5447030" cy="154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154940" algn="ctr">
              <a:lnSpc>
                <a:spcPct val="100000"/>
              </a:lnSpc>
              <a:spcBef>
                <a:spcPts val="105"/>
              </a:spcBef>
            </a:pPr>
            <a:r>
              <a:rPr lang="ru-RU" sz="1600" b="1" spc="-10" dirty="0" err="1">
                <a:latin typeface="Times New Roman"/>
                <a:cs typeface="Times New Roman"/>
              </a:rPr>
              <a:t>Призенитаций</a:t>
            </a:r>
            <a:r>
              <a:rPr lang="ru-RU" sz="1600" b="1" spc="-10">
                <a:latin typeface="Times New Roman"/>
                <a:cs typeface="Times New Roman"/>
              </a:rPr>
              <a:t> </a:t>
            </a:r>
            <a:endParaRPr sz="1600" dirty="0">
              <a:latin typeface="Times New Roman"/>
              <a:cs typeface="Times New Roman"/>
            </a:endParaRPr>
          </a:p>
          <a:p>
            <a:pPr marR="152400" algn="ctr">
              <a:lnSpc>
                <a:spcPct val="100000"/>
              </a:lnSpc>
              <a:spcBef>
                <a:spcPts val="1440"/>
              </a:spcBef>
            </a:pPr>
            <a:r>
              <a:rPr sz="1600" b="1" dirty="0">
                <a:latin typeface="Times New Roman"/>
                <a:cs typeface="Times New Roman"/>
              </a:rPr>
              <a:t>ПО</a:t>
            </a:r>
            <a:r>
              <a:rPr sz="1600" b="1" spc="-5" dirty="0">
                <a:latin typeface="Times New Roman"/>
                <a:cs typeface="Times New Roman"/>
              </a:rPr>
              <a:t> </a:t>
            </a:r>
            <a:r>
              <a:rPr sz="1600" b="1" spc="-40" dirty="0">
                <a:latin typeface="Times New Roman"/>
                <a:cs typeface="Times New Roman"/>
              </a:rPr>
              <a:t>ЛАБОРАТОРНОЙ</a:t>
            </a:r>
            <a:r>
              <a:rPr sz="1600" b="1" spc="-35" dirty="0">
                <a:latin typeface="Times New Roman"/>
                <a:cs typeface="Times New Roman"/>
              </a:rPr>
              <a:t> РАБОТЕ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№ </a:t>
            </a:r>
            <a:r>
              <a:rPr sz="1600" b="1" u="sng" spc="-2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b="1" u="sng" spc="-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6</a:t>
            </a:r>
            <a:endParaRPr sz="1600" dirty="0">
              <a:latin typeface="Times New Roman"/>
              <a:cs typeface="Times New Roman"/>
            </a:endParaRPr>
          </a:p>
          <a:p>
            <a:pPr marL="1515745" marR="5080" indent="-1503680">
              <a:lnSpc>
                <a:spcPct val="143700"/>
              </a:lnSpc>
              <a:spcBef>
                <a:spcPts val="1180"/>
              </a:spcBef>
            </a:pPr>
            <a:r>
              <a:rPr sz="1600" i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дисциплина:</a:t>
            </a:r>
            <a:r>
              <a:rPr sz="1600" i="1" u="sng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i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Математические</a:t>
            </a:r>
            <a:r>
              <a:rPr sz="1600" i="1" u="sng" spc="-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i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основы</a:t>
            </a:r>
            <a:r>
              <a:rPr sz="1600" i="1" u="sng" spc="-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i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защиты</a:t>
            </a:r>
            <a:r>
              <a:rPr sz="1600" i="1" u="sng" spc="-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i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информации</a:t>
            </a:r>
            <a:r>
              <a:rPr sz="1600" i="1" u="sng" spc="-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i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и</a:t>
            </a:r>
            <a:r>
              <a:rPr sz="1600" i="1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i="1" spc="-25" dirty="0">
                <a:latin typeface="Times New Roman"/>
                <a:cs typeface="Times New Roman"/>
              </a:rPr>
              <a:t> </a:t>
            </a:r>
            <a:r>
              <a:rPr sz="1600" i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информационной</a:t>
            </a:r>
            <a:r>
              <a:rPr sz="1600" i="1" u="sng" spc="-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i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безопасности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24042" y="7258938"/>
            <a:ext cx="1610995" cy="582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Студент:</a:t>
            </a:r>
            <a:r>
              <a:rPr sz="1300" spc="-6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Мумэн</a:t>
            </a:r>
            <a:r>
              <a:rPr sz="1300" spc="-65" dirty="0">
                <a:latin typeface="Times New Roman"/>
                <a:cs typeface="Times New Roman"/>
              </a:rPr>
              <a:t> </a:t>
            </a:r>
            <a:r>
              <a:rPr sz="1300" spc="-20" dirty="0">
                <a:latin typeface="Times New Roman"/>
                <a:cs typeface="Times New Roman"/>
              </a:rPr>
              <a:t>Амин</a:t>
            </a:r>
            <a:endParaRPr sz="1300">
              <a:latin typeface="Times New Roman"/>
              <a:cs typeface="Times New Roman"/>
            </a:endParaRPr>
          </a:p>
          <a:p>
            <a:pPr marL="18415">
              <a:lnSpc>
                <a:spcPct val="100000"/>
              </a:lnSpc>
              <a:spcBef>
                <a:spcPts val="1270"/>
              </a:spcBef>
            </a:pPr>
            <a:r>
              <a:rPr sz="13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Группа:</a:t>
            </a:r>
            <a:r>
              <a:rPr sz="1300" spc="45" dirty="0">
                <a:latin typeface="Times New Roman"/>
                <a:cs typeface="Times New Roman"/>
              </a:rPr>
              <a:t> </a:t>
            </a:r>
            <a:r>
              <a:rPr sz="1300" spc="-20" dirty="0">
                <a:latin typeface="Times New Roman"/>
                <a:cs typeface="Times New Roman"/>
              </a:rPr>
              <a:t>НФИмд-</a:t>
            </a:r>
            <a:r>
              <a:rPr sz="1300" spc="-10" dirty="0">
                <a:latin typeface="Times New Roman"/>
                <a:cs typeface="Times New Roman"/>
              </a:rPr>
              <a:t>01-</a:t>
            </a:r>
            <a:r>
              <a:rPr sz="1300" spc="-25" dirty="0">
                <a:latin typeface="Times New Roman"/>
                <a:cs typeface="Times New Roman"/>
              </a:rPr>
              <a:t>25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14521" y="9423603"/>
            <a:ext cx="126174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10" dirty="0">
                <a:latin typeface="Times New Roman"/>
                <a:cs typeface="Times New Roman"/>
              </a:rPr>
              <a:t>МОСКВА</a:t>
            </a:r>
            <a:r>
              <a:rPr sz="1300" b="1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2026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spc="-80" dirty="0">
                <a:latin typeface="Times New Roman"/>
                <a:cs typeface="Times New Roman"/>
              </a:rPr>
              <a:t>г.</a:t>
            </a:r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6596" y="694689"/>
            <a:ext cx="117030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Цель</a:t>
            </a:r>
            <a:r>
              <a:rPr sz="1400" b="1" u="sng" spc="-6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4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работы</a:t>
            </a:r>
            <a:r>
              <a:rPr sz="1400" b="1" u="sng" spc="-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400" b="1" u="sng" spc="-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: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6596" y="1457070"/>
            <a:ext cx="422211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10" dirty="0">
                <a:latin typeface="Times New Roman"/>
                <a:cs typeface="Times New Roman"/>
              </a:rPr>
              <a:t>Реализовать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алгоритмы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факторизации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составных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чисел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6596" y="2225167"/>
            <a:ext cx="5966460" cy="75152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69265" indent="-227965">
              <a:lnSpc>
                <a:spcPct val="100000"/>
              </a:lnSpc>
              <a:spcBef>
                <a:spcPts val="90"/>
              </a:spcBef>
              <a:buAutoNum type="arabicPeriod"/>
              <a:tabLst>
                <a:tab pos="469265" algn="l"/>
              </a:tabLst>
            </a:pPr>
            <a:r>
              <a:rPr sz="1400" spc="-10" dirty="0">
                <a:latin typeface="Times New Roman"/>
                <a:cs typeface="Times New Roman"/>
              </a:rPr>
              <a:t>ρ-</a:t>
            </a:r>
            <a:r>
              <a:rPr sz="1400" dirty="0">
                <a:latin typeface="Times New Roman"/>
                <a:cs typeface="Times New Roman"/>
              </a:rPr>
              <a:t>метод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Полларда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(Pollard's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rho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algorithm);</a:t>
            </a:r>
            <a:endParaRPr sz="140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spcBef>
                <a:spcPts val="1320"/>
              </a:spcBef>
              <a:buAutoNum type="arabicPeriod"/>
              <a:tabLst>
                <a:tab pos="469265" algn="l"/>
              </a:tabLst>
            </a:pPr>
            <a:r>
              <a:rPr sz="1400" spc="-20" dirty="0">
                <a:latin typeface="Times New Roman"/>
                <a:cs typeface="Times New Roman"/>
              </a:rPr>
              <a:t>Метод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квадратов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Ферма</a:t>
            </a:r>
            <a:r>
              <a:rPr sz="1400" spc="-10" dirty="0">
                <a:latin typeface="Times New Roman"/>
                <a:cs typeface="Times New Roman"/>
              </a:rPr>
              <a:t> (разложение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через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разность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квадратов).</a:t>
            </a:r>
            <a:endParaRPr sz="1400">
              <a:latin typeface="Times New Roman"/>
              <a:cs typeface="Times New Roman"/>
            </a:endParaRPr>
          </a:p>
          <a:p>
            <a:pPr marL="191770" indent="-179070">
              <a:lnSpc>
                <a:spcPct val="100000"/>
              </a:lnSpc>
              <a:spcBef>
                <a:spcPts val="1345"/>
              </a:spcBef>
              <a:buAutoNum type="arabicPeriod"/>
              <a:tabLst>
                <a:tab pos="191770" algn="l"/>
              </a:tabLst>
            </a:pPr>
            <a:r>
              <a:rPr sz="1400" spc="-10" dirty="0">
                <a:latin typeface="Times New Roman"/>
                <a:cs typeface="Times New Roman"/>
              </a:rPr>
              <a:t>Реализованные алгоритмы</a:t>
            </a:r>
            <a:endParaRPr sz="1400">
              <a:latin typeface="Times New Roman"/>
              <a:cs typeface="Times New Roman"/>
            </a:endParaRPr>
          </a:p>
          <a:p>
            <a:pPr marL="325755" lvl="1" indent="-313055">
              <a:lnSpc>
                <a:spcPct val="100000"/>
              </a:lnSpc>
              <a:spcBef>
                <a:spcPts val="1345"/>
              </a:spcBef>
              <a:buAutoNum type="arabicPeriod"/>
              <a:tabLst>
                <a:tab pos="325755" algn="l"/>
              </a:tabLst>
            </a:pPr>
            <a:r>
              <a:rPr sz="1400" spc="-10" dirty="0">
                <a:latin typeface="Times New Roman"/>
                <a:cs typeface="Times New Roman"/>
              </a:rPr>
              <a:t>ρ-метод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Полларда</a:t>
            </a:r>
            <a:endParaRPr sz="1400">
              <a:latin typeface="Times New Roman"/>
              <a:cs typeface="Times New Roman"/>
            </a:endParaRPr>
          </a:p>
          <a:p>
            <a:pPr marL="469900" lvl="2" indent="-228600">
              <a:lnSpc>
                <a:spcPct val="100000"/>
              </a:lnSpc>
              <a:spcBef>
                <a:spcPts val="1325"/>
              </a:spcBef>
              <a:buSzPct val="71428"/>
              <a:buFont typeface="Symbol"/>
              <a:buChar char=""/>
              <a:tabLst>
                <a:tab pos="469900" algn="l"/>
              </a:tabLst>
            </a:pPr>
            <a:r>
              <a:rPr sz="1400" spc="-20" dirty="0">
                <a:latin typeface="Times New Roman"/>
                <a:cs typeface="Times New Roman"/>
              </a:rPr>
              <a:t>Вход: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составное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число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n,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параметр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(начальное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значение),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функция </a:t>
            </a:r>
            <a:r>
              <a:rPr sz="1400" spc="-20" dirty="0">
                <a:latin typeface="Times New Roman"/>
                <a:cs typeface="Times New Roman"/>
              </a:rPr>
              <a:t>f(x)</a:t>
            </a:r>
            <a:endParaRPr sz="14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740"/>
              </a:spcBef>
            </a:pPr>
            <a:r>
              <a:rPr sz="1400" dirty="0">
                <a:latin typeface="Times New Roman"/>
                <a:cs typeface="Times New Roman"/>
              </a:rPr>
              <a:t>=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(x²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+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5) mod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n.</a:t>
            </a:r>
            <a:endParaRPr sz="1400">
              <a:latin typeface="Times New Roman"/>
              <a:cs typeface="Times New Roman"/>
            </a:endParaRPr>
          </a:p>
          <a:p>
            <a:pPr marL="469900" lvl="2" indent="-228600">
              <a:lnSpc>
                <a:spcPct val="100000"/>
              </a:lnSpc>
              <a:spcBef>
                <a:spcPts val="1320"/>
              </a:spcBef>
              <a:buSzPct val="71428"/>
              <a:buFont typeface="Symbol"/>
              <a:buChar char=""/>
              <a:tabLst>
                <a:tab pos="469900" algn="l"/>
              </a:tabLst>
            </a:pPr>
            <a:r>
              <a:rPr sz="1400" dirty="0">
                <a:latin typeface="Times New Roman"/>
                <a:cs typeface="Times New Roman"/>
              </a:rPr>
              <a:t>Принцип</a:t>
            </a:r>
            <a:r>
              <a:rPr sz="1400" spc="-7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работы:</a:t>
            </a:r>
            <a:endParaRPr sz="1400">
              <a:latin typeface="Times New Roman"/>
              <a:cs typeface="Times New Roman"/>
            </a:endParaRPr>
          </a:p>
          <a:p>
            <a:pPr marL="927100" marR="12065" lvl="3" indent="-229235">
              <a:lnSpc>
                <a:spcPct val="144300"/>
              </a:lnSpc>
              <a:spcBef>
                <a:spcPts val="605"/>
              </a:spcBef>
              <a:buSzPct val="71428"/>
              <a:buFont typeface="Courier New"/>
              <a:buChar char="o"/>
              <a:tabLst>
                <a:tab pos="927100" algn="l"/>
              </a:tabLst>
            </a:pPr>
            <a:r>
              <a:rPr sz="1400" dirty="0">
                <a:latin typeface="Times New Roman"/>
                <a:cs typeface="Times New Roman"/>
              </a:rPr>
              <a:t>Генерируется</a:t>
            </a:r>
            <a:r>
              <a:rPr sz="1400" spc="2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псевдослучайная</a:t>
            </a:r>
            <a:r>
              <a:rPr sz="1400" spc="2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последовательность</a:t>
            </a:r>
            <a:r>
              <a:rPr sz="1400" spc="27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с</a:t>
            </a:r>
            <a:r>
              <a:rPr sz="1400" spc="29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помощью </a:t>
            </a:r>
            <a:r>
              <a:rPr sz="1400" dirty="0">
                <a:latin typeface="Times New Roman"/>
                <a:cs typeface="Times New Roman"/>
              </a:rPr>
              <a:t>функции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spc="-35" dirty="0">
                <a:latin typeface="Times New Roman"/>
                <a:cs typeface="Times New Roman"/>
              </a:rPr>
              <a:t>f.</a:t>
            </a:r>
            <a:endParaRPr sz="1400">
              <a:latin typeface="Times New Roman"/>
              <a:cs typeface="Times New Roman"/>
            </a:endParaRPr>
          </a:p>
          <a:p>
            <a:pPr marL="927100" marR="7620" lvl="3" indent="-229235">
              <a:lnSpc>
                <a:spcPct val="144400"/>
              </a:lnSpc>
              <a:spcBef>
                <a:spcPts val="575"/>
              </a:spcBef>
              <a:buSzPct val="71428"/>
              <a:buFont typeface="Courier New"/>
              <a:buChar char="o"/>
              <a:tabLst>
                <a:tab pos="927100" algn="l"/>
                <a:tab pos="2090420" algn="l"/>
                <a:tab pos="2663190" algn="l"/>
                <a:tab pos="3317875" algn="l"/>
                <a:tab pos="3896995" algn="l"/>
                <a:tab pos="4853305" algn="l"/>
                <a:tab pos="5081905" algn="l"/>
                <a:tab pos="5689600" algn="l"/>
              </a:tabLst>
            </a:pPr>
            <a:r>
              <a:rPr sz="1400" spc="-10" dirty="0">
                <a:latin typeface="Times New Roman"/>
                <a:cs typeface="Times New Roman"/>
              </a:rPr>
              <a:t>Используется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spc="-20" dirty="0">
                <a:latin typeface="Times New Roman"/>
                <a:cs typeface="Times New Roman"/>
              </a:rPr>
              <a:t>метод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spc="-10" dirty="0">
                <a:latin typeface="Times New Roman"/>
                <a:cs typeface="Times New Roman"/>
              </a:rPr>
              <a:t>поиска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spc="-20" dirty="0">
                <a:latin typeface="Times New Roman"/>
                <a:cs typeface="Times New Roman"/>
              </a:rPr>
              <a:t>цикла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spc="-10" dirty="0">
                <a:latin typeface="Times New Roman"/>
                <a:cs typeface="Times New Roman"/>
              </a:rPr>
              <a:t>(«черепаха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spc="-50" dirty="0">
                <a:latin typeface="Times New Roman"/>
                <a:cs typeface="Times New Roman"/>
              </a:rPr>
              <a:t>и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spc="-10" dirty="0">
                <a:latin typeface="Times New Roman"/>
                <a:cs typeface="Times New Roman"/>
              </a:rPr>
              <a:t>заяц»)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spc="-25" dirty="0">
                <a:latin typeface="Times New Roman"/>
                <a:cs typeface="Times New Roman"/>
              </a:rPr>
              <a:t>для </a:t>
            </a:r>
            <a:r>
              <a:rPr sz="1400" spc="-10" dirty="0">
                <a:latin typeface="Times New Roman"/>
                <a:cs typeface="Times New Roman"/>
              </a:rPr>
              <a:t>нахождения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коллизий.</a:t>
            </a:r>
            <a:endParaRPr sz="1400">
              <a:latin typeface="Times New Roman"/>
              <a:cs typeface="Times New Roman"/>
            </a:endParaRPr>
          </a:p>
          <a:p>
            <a:pPr marL="927100" marR="6985" lvl="3" indent="-229235">
              <a:lnSpc>
                <a:spcPct val="144300"/>
              </a:lnSpc>
              <a:spcBef>
                <a:spcPts val="575"/>
              </a:spcBef>
              <a:buSzPct val="71428"/>
              <a:buFont typeface="Courier New"/>
              <a:buChar char="o"/>
              <a:tabLst>
                <a:tab pos="927100" algn="l"/>
              </a:tabLst>
            </a:pPr>
            <a:r>
              <a:rPr sz="1400" dirty="0">
                <a:latin typeface="Times New Roman"/>
                <a:cs typeface="Times New Roman"/>
              </a:rPr>
              <a:t>Вычисляется </a:t>
            </a:r>
            <a:r>
              <a:rPr sz="1400" spc="-25" dirty="0">
                <a:latin typeface="Times New Roman"/>
                <a:cs typeface="Times New Roman"/>
              </a:rPr>
              <a:t>НОД(|a-</a:t>
            </a:r>
            <a:r>
              <a:rPr sz="1400" dirty="0">
                <a:latin typeface="Times New Roman"/>
                <a:cs typeface="Times New Roman"/>
              </a:rPr>
              <a:t>b|,</a:t>
            </a:r>
            <a:r>
              <a:rPr sz="1400" spc="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n).</a:t>
            </a:r>
            <a:r>
              <a:rPr sz="1400" spc="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Если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1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&lt;</a:t>
            </a:r>
            <a:r>
              <a:rPr sz="1400" spc="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&lt;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n,</a:t>
            </a:r>
            <a:r>
              <a:rPr sz="1400" spc="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то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—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нетривиальный делитель.</a:t>
            </a:r>
            <a:endParaRPr sz="1400">
              <a:latin typeface="Times New Roman"/>
              <a:cs typeface="Times New Roman"/>
            </a:endParaRPr>
          </a:p>
          <a:p>
            <a:pPr marL="469900" marR="8890" lvl="2" indent="-228600">
              <a:lnSpc>
                <a:spcPct val="142900"/>
              </a:lnSpc>
              <a:spcBef>
                <a:spcPts val="625"/>
              </a:spcBef>
              <a:buSzPct val="71428"/>
              <a:buFont typeface="Symbol"/>
              <a:buChar char=""/>
              <a:tabLst>
                <a:tab pos="469900" algn="l"/>
              </a:tabLst>
            </a:pPr>
            <a:r>
              <a:rPr sz="1400" dirty="0">
                <a:latin typeface="Times New Roman"/>
                <a:cs typeface="Times New Roman"/>
              </a:rPr>
              <a:t>Пример: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Для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 =</a:t>
            </a:r>
            <a:r>
              <a:rPr sz="1400" spc="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1359331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и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</a:t>
            </a:r>
            <a:r>
              <a:rPr sz="1400" spc="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=</a:t>
            </a:r>
            <a:r>
              <a:rPr sz="1400" spc="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1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найден</a:t>
            </a:r>
            <a:r>
              <a:rPr sz="1400" spc="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делитель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1181,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что</a:t>
            </a:r>
            <a:r>
              <a:rPr sz="1400" spc="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совпадает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spc="-50" dirty="0">
                <a:latin typeface="Times New Roman"/>
                <a:cs typeface="Times New Roman"/>
              </a:rPr>
              <a:t>с </a:t>
            </a:r>
            <a:r>
              <a:rPr sz="1400" dirty="0">
                <a:latin typeface="Times New Roman"/>
                <a:cs typeface="Times New Roman"/>
              </a:rPr>
              <a:t>примером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в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методичке.</a:t>
            </a:r>
            <a:endParaRPr sz="1400">
              <a:latin typeface="Times New Roman"/>
              <a:cs typeface="Times New Roman"/>
            </a:endParaRPr>
          </a:p>
          <a:p>
            <a:pPr marL="325755" lvl="1" indent="-313055">
              <a:lnSpc>
                <a:spcPct val="100000"/>
              </a:lnSpc>
              <a:spcBef>
                <a:spcPts val="1345"/>
              </a:spcBef>
              <a:buAutoNum type="arabicPeriod"/>
              <a:tabLst>
                <a:tab pos="325755" algn="l"/>
              </a:tabLst>
            </a:pPr>
            <a:r>
              <a:rPr sz="1400" spc="-20" dirty="0">
                <a:latin typeface="Times New Roman"/>
                <a:cs typeface="Times New Roman"/>
              </a:rPr>
              <a:t>Метод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квадратов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Ферма</a:t>
            </a:r>
            <a:endParaRPr sz="1400">
              <a:latin typeface="Times New Roman"/>
              <a:cs typeface="Times New Roman"/>
            </a:endParaRPr>
          </a:p>
          <a:p>
            <a:pPr marL="469900" lvl="2" indent="-228600">
              <a:lnSpc>
                <a:spcPct val="100000"/>
              </a:lnSpc>
              <a:spcBef>
                <a:spcPts val="1345"/>
              </a:spcBef>
              <a:buSzPct val="71428"/>
              <a:buFont typeface="Symbol"/>
              <a:buChar char=""/>
              <a:tabLst>
                <a:tab pos="469900" algn="l"/>
              </a:tabLst>
            </a:pPr>
            <a:r>
              <a:rPr sz="1400" spc="-20" dirty="0">
                <a:latin typeface="Times New Roman"/>
                <a:cs typeface="Times New Roman"/>
              </a:rPr>
              <a:t>Вход: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нечётное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число</a:t>
            </a:r>
            <a:r>
              <a:rPr sz="1400" spc="-25" dirty="0">
                <a:latin typeface="Times New Roman"/>
                <a:cs typeface="Times New Roman"/>
              </a:rPr>
              <a:t> n.</a:t>
            </a:r>
            <a:endParaRPr sz="1400">
              <a:latin typeface="Times New Roman"/>
              <a:cs typeface="Times New Roman"/>
            </a:endParaRPr>
          </a:p>
          <a:p>
            <a:pPr marL="469900" lvl="2" indent="-228600">
              <a:lnSpc>
                <a:spcPct val="100000"/>
              </a:lnSpc>
              <a:spcBef>
                <a:spcPts val="1320"/>
              </a:spcBef>
              <a:buSzPct val="71428"/>
              <a:buFont typeface="Symbol"/>
              <a:buChar char=""/>
              <a:tabLst>
                <a:tab pos="469900" algn="l"/>
              </a:tabLst>
            </a:pPr>
            <a:r>
              <a:rPr sz="1400" dirty="0">
                <a:latin typeface="Times New Roman"/>
                <a:cs typeface="Times New Roman"/>
              </a:rPr>
              <a:t>Принцип</a:t>
            </a:r>
            <a:r>
              <a:rPr sz="1400" spc="-7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работы:</a:t>
            </a:r>
            <a:endParaRPr sz="1400">
              <a:latin typeface="Times New Roman"/>
              <a:cs typeface="Times New Roman"/>
            </a:endParaRPr>
          </a:p>
          <a:p>
            <a:pPr marL="927100" lvl="3" indent="-228600">
              <a:lnSpc>
                <a:spcPct val="100000"/>
              </a:lnSpc>
              <a:spcBef>
                <a:spcPts val="1345"/>
              </a:spcBef>
              <a:buSzPct val="71428"/>
              <a:buFont typeface="Courier New"/>
              <a:buChar char="o"/>
              <a:tabLst>
                <a:tab pos="927100" algn="l"/>
              </a:tabLst>
            </a:pPr>
            <a:r>
              <a:rPr sz="1400" dirty="0">
                <a:latin typeface="Times New Roman"/>
                <a:cs typeface="Times New Roman"/>
              </a:rPr>
              <a:t>Ищется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такое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≥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√n,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что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s²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-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является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полным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квадратом</a:t>
            </a:r>
            <a:r>
              <a:rPr sz="1400" spc="-10" dirty="0">
                <a:latin typeface="Times New Roman"/>
                <a:cs typeface="Times New Roman"/>
              </a:rPr>
              <a:t> (t²).</a:t>
            </a:r>
            <a:endParaRPr sz="1400">
              <a:latin typeface="Times New Roman"/>
              <a:cs typeface="Times New Roman"/>
            </a:endParaRPr>
          </a:p>
          <a:p>
            <a:pPr marL="927100" lvl="3" indent="-228600">
              <a:lnSpc>
                <a:spcPct val="100000"/>
              </a:lnSpc>
              <a:spcBef>
                <a:spcPts val="1320"/>
              </a:spcBef>
              <a:buSzPct val="71428"/>
              <a:buFont typeface="Courier New"/>
              <a:buChar char="o"/>
              <a:tabLst>
                <a:tab pos="927100" algn="l"/>
              </a:tabLst>
            </a:pPr>
            <a:r>
              <a:rPr sz="1400" spc="-30" dirty="0">
                <a:latin typeface="Times New Roman"/>
                <a:cs typeface="Times New Roman"/>
              </a:rPr>
              <a:t>Тогда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=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s²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-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t²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=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(s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-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t)(s +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t).</a:t>
            </a:r>
            <a:endParaRPr sz="1400">
              <a:latin typeface="Times New Roman"/>
              <a:cs typeface="Times New Roman"/>
            </a:endParaRPr>
          </a:p>
          <a:p>
            <a:pPr marL="469900" lvl="2" indent="-228600">
              <a:lnSpc>
                <a:spcPct val="100000"/>
              </a:lnSpc>
              <a:spcBef>
                <a:spcPts val="1345"/>
              </a:spcBef>
              <a:buSzPct val="71428"/>
              <a:buFont typeface="Symbol"/>
              <a:buChar char=""/>
              <a:tabLst>
                <a:tab pos="469900" algn="l"/>
              </a:tabLst>
            </a:pPr>
            <a:r>
              <a:rPr sz="1400" dirty="0">
                <a:latin typeface="Times New Roman"/>
                <a:cs typeface="Times New Roman"/>
              </a:rPr>
              <a:t>Пример: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Для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=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65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найдены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разложения: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52726" y="691642"/>
            <a:ext cx="3265170" cy="6216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41300" algn="l"/>
              </a:tabLst>
            </a:pPr>
            <a:r>
              <a:rPr sz="1000" spc="-50" dirty="0">
                <a:latin typeface="Courier New"/>
                <a:cs typeface="Courier New"/>
              </a:rPr>
              <a:t>o</a:t>
            </a:r>
            <a:r>
              <a:rPr sz="1000" dirty="0">
                <a:latin typeface="Courier New"/>
                <a:cs typeface="Courier New"/>
              </a:rPr>
              <a:t>	</a:t>
            </a:r>
            <a:r>
              <a:rPr sz="1400" dirty="0">
                <a:latin typeface="Times New Roman"/>
                <a:cs typeface="Times New Roman"/>
              </a:rPr>
              <a:t>65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=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5·13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→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s=9,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t=4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→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65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= 9²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-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4².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45"/>
              </a:spcBef>
              <a:tabLst>
                <a:tab pos="241300" algn="l"/>
              </a:tabLst>
            </a:pPr>
            <a:r>
              <a:rPr sz="1000" spc="-50" dirty="0">
                <a:latin typeface="Courier New"/>
                <a:cs typeface="Courier New"/>
              </a:rPr>
              <a:t>o</a:t>
            </a:r>
            <a:r>
              <a:rPr sz="1000" dirty="0">
                <a:latin typeface="Courier New"/>
                <a:cs typeface="Courier New"/>
              </a:rPr>
              <a:t>	</a:t>
            </a:r>
            <a:r>
              <a:rPr sz="1400" dirty="0">
                <a:latin typeface="Times New Roman"/>
                <a:cs typeface="Times New Roman"/>
              </a:rPr>
              <a:t>65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=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1·65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→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s=33,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t=32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→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65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=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33²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-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32².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6596" y="1844167"/>
            <a:ext cx="5966460" cy="16922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91770" indent="-179070">
              <a:lnSpc>
                <a:spcPct val="100000"/>
              </a:lnSpc>
              <a:spcBef>
                <a:spcPts val="90"/>
              </a:spcBef>
              <a:buAutoNum type="arabicPeriod" startAt="3"/>
              <a:tabLst>
                <a:tab pos="191770" algn="l"/>
              </a:tabLst>
            </a:pPr>
            <a:r>
              <a:rPr sz="1400" b="1" spc="-40" dirty="0">
                <a:latin typeface="Times New Roman"/>
                <a:cs typeface="Times New Roman"/>
              </a:rPr>
              <a:t>Код</a:t>
            </a:r>
            <a:r>
              <a:rPr sz="1400" b="1" spc="-5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программы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spc="-50" dirty="0">
                <a:latin typeface="Times New Roman"/>
                <a:cs typeface="Times New Roman"/>
              </a:rPr>
              <a:t>:</a:t>
            </a:r>
            <a:endParaRPr sz="1400">
              <a:latin typeface="Times New Roman"/>
              <a:cs typeface="Times New Roman"/>
            </a:endParaRPr>
          </a:p>
          <a:p>
            <a:pPr marL="12700" marR="5080">
              <a:lnSpc>
                <a:spcPct val="143000"/>
              </a:lnSpc>
              <a:spcBef>
                <a:spcPts val="600"/>
              </a:spcBef>
            </a:pPr>
            <a:r>
              <a:rPr sz="1400" spc="-10" dirty="0">
                <a:latin typeface="Times New Roman"/>
                <a:cs typeface="Times New Roman"/>
              </a:rPr>
              <a:t>Прилагается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файл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ЛАБ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6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Информационный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безопасности.py,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содержащий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две </a:t>
            </a:r>
            <a:r>
              <a:rPr sz="1400" spc="-10" dirty="0">
                <a:latin typeface="Times New Roman"/>
                <a:cs typeface="Times New Roman"/>
              </a:rPr>
              <a:t>функции:</a:t>
            </a:r>
            <a:endParaRPr sz="1400">
              <a:latin typeface="Times New Roman"/>
              <a:cs typeface="Times New Roman"/>
            </a:endParaRPr>
          </a:p>
          <a:p>
            <a:pPr marL="469900" lvl="1" indent="-228600">
              <a:lnSpc>
                <a:spcPct val="100000"/>
              </a:lnSpc>
              <a:spcBef>
                <a:spcPts val="1340"/>
              </a:spcBef>
              <a:buSzPct val="71428"/>
              <a:buFont typeface="Symbol"/>
              <a:buChar char=""/>
              <a:tabLst>
                <a:tab pos="469900" algn="l"/>
              </a:tabLst>
            </a:pPr>
            <a:r>
              <a:rPr sz="1400" dirty="0">
                <a:latin typeface="Times New Roman"/>
                <a:cs typeface="Times New Roman"/>
              </a:rPr>
              <a:t>pollard_method(n,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c):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реализует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ρ-</a:t>
            </a:r>
            <a:r>
              <a:rPr sz="1400" dirty="0">
                <a:latin typeface="Times New Roman"/>
                <a:cs typeface="Times New Roman"/>
              </a:rPr>
              <a:t>метод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Полларда.</a:t>
            </a:r>
            <a:endParaRPr sz="1400">
              <a:latin typeface="Times New Roman"/>
              <a:cs typeface="Times New Roman"/>
            </a:endParaRPr>
          </a:p>
          <a:p>
            <a:pPr marL="469900" lvl="1" indent="-228600">
              <a:lnSpc>
                <a:spcPct val="100000"/>
              </a:lnSpc>
              <a:spcBef>
                <a:spcPts val="1345"/>
              </a:spcBef>
              <a:buSzPct val="71428"/>
              <a:buFont typeface="Symbol"/>
              <a:buChar char=""/>
              <a:tabLst>
                <a:tab pos="469900" algn="l"/>
              </a:tabLst>
            </a:pPr>
            <a:r>
              <a:rPr sz="1400" dirty="0">
                <a:latin typeface="Times New Roman"/>
                <a:cs typeface="Times New Roman"/>
              </a:rPr>
              <a:t>factors(n):</a:t>
            </a:r>
            <a:r>
              <a:rPr sz="1400" spc="-8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реализует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метод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квадратов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Ферма.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6596" y="4045457"/>
            <a:ext cx="5965190" cy="2232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latin typeface="Times New Roman"/>
                <a:cs typeface="Times New Roman"/>
              </a:rPr>
              <a:t>4</a:t>
            </a:r>
            <a:r>
              <a:rPr sz="1300" b="1" spc="-1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.</a:t>
            </a:r>
            <a:r>
              <a:rPr sz="1300" b="1" spc="-5" dirty="0">
                <a:latin typeface="Times New Roman"/>
                <a:cs typeface="Times New Roman"/>
              </a:rPr>
              <a:t> </a:t>
            </a:r>
            <a:r>
              <a:rPr sz="1300" b="1" spc="-10" dirty="0">
                <a:latin typeface="Times New Roman"/>
                <a:cs typeface="Times New Roman"/>
              </a:rPr>
              <a:t>Вывод</a:t>
            </a:r>
            <a:r>
              <a:rPr sz="1300" b="1" spc="-25" dirty="0">
                <a:latin typeface="Times New Roman"/>
                <a:cs typeface="Times New Roman"/>
              </a:rPr>
              <a:t> </a:t>
            </a:r>
            <a:r>
              <a:rPr sz="1300" b="1" spc="-50" dirty="0">
                <a:latin typeface="Times New Roman"/>
                <a:cs typeface="Times New Roman"/>
              </a:rPr>
              <a:t>:</a:t>
            </a: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sz="1300" dirty="0">
                <a:latin typeface="Times New Roman"/>
                <a:cs typeface="Times New Roman"/>
              </a:rPr>
              <a:t>В</a:t>
            </a:r>
            <a:r>
              <a:rPr sz="1300" spc="-40" dirty="0">
                <a:latin typeface="Times New Roman"/>
                <a:cs typeface="Times New Roman"/>
              </a:rPr>
              <a:t> </a:t>
            </a:r>
            <a:r>
              <a:rPr sz="1300" spc="-20" dirty="0">
                <a:latin typeface="Times New Roman"/>
                <a:cs typeface="Times New Roman"/>
              </a:rPr>
              <a:t>ходе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работы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были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реализованы</a:t>
            </a:r>
            <a:r>
              <a:rPr sz="1300" spc="-4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два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классических</a:t>
            </a:r>
            <a:r>
              <a:rPr sz="1300" spc="-3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алгоритма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факторизации:</a:t>
            </a:r>
            <a:endParaRPr sz="1300">
              <a:latin typeface="Times New Roman"/>
              <a:cs typeface="Times New Roman"/>
            </a:endParaRPr>
          </a:p>
          <a:p>
            <a:pPr marL="469900" marR="5080" indent="-228600">
              <a:lnSpc>
                <a:spcPct val="144600"/>
              </a:lnSpc>
              <a:spcBef>
                <a:spcPts val="575"/>
              </a:spcBef>
              <a:buSzPct val="76923"/>
              <a:buFont typeface="Symbol"/>
              <a:buChar char=""/>
              <a:tabLst>
                <a:tab pos="469900" algn="l"/>
                <a:tab pos="1203960" algn="l"/>
                <a:tab pos="2978785" algn="l"/>
                <a:tab pos="3386454" algn="l"/>
                <a:tab pos="3953510" algn="l"/>
                <a:tab pos="4191000" algn="l"/>
                <a:tab pos="5248275" algn="l"/>
              </a:tabLst>
            </a:pPr>
            <a:r>
              <a:rPr sz="1300" b="1" spc="-10" dirty="0">
                <a:latin typeface="Times New Roman"/>
                <a:cs typeface="Times New Roman"/>
              </a:rPr>
              <a:t>ρ-метод</a:t>
            </a:r>
            <a:r>
              <a:rPr sz="1300" b="1" dirty="0">
                <a:latin typeface="Times New Roman"/>
                <a:cs typeface="Times New Roman"/>
              </a:rPr>
              <a:t>	</a:t>
            </a:r>
            <a:r>
              <a:rPr sz="1300" b="1" spc="-10" dirty="0">
                <a:latin typeface="Times New Roman"/>
                <a:cs typeface="Times New Roman"/>
              </a:rPr>
              <a:t>Полларда</a:t>
            </a:r>
            <a:r>
              <a:rPr sz="1300" b="1" spc="-2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эффективен</a:t>
            </a:r>
            <a:r>
              <a:rPr sz="1300" dirty="0">
                <a:latin typeface="Times New Roman"/>
                <a:cs typeface="Times New Roman"/>
              </a:rPr>
              <a:t>	</a:t>
            </a:r>
            <a:r>
              <a:rPr sz="1300" spc="-25" dirty="0">
                <a:latin typeface="Times New Roman"/>
                <a:cs typeface="Times New Roman"/>
              </a:rPr>
              <a:t>для</a:t>
            </a:r>
            <a:r>
              <a:rPr sz="1300" dirty="0">
                <a:latin typeface="Times New Roman"/>
                <a:cs typeface="Times New Roman"/>
              </a:rPr>
              <a:t>	</a:t>
            </a:r>
            <a:r>
              <a:rPr sz="1300" spc="-10" dirty="0">
                <a:latin typeface="Times New Roman"/>
                <a:cs typeface="Times New Roman"/>
              </a:rPr>
              <a:t>чисел</a:t>
            </a:r>
            <a:r>
              <a:rPr sz="1300" dirty="0">
                <a:latin typeface="Times New Roman"/>
                <a:cs typeface="Times New Roman"/>
              </a:rPr>
              <a:t>	</a:t>
            </a:r>
            <a:r>
              <a:rPr sz="1300" spc="-50" dirty="0">
                <a:latin typeface="Times New Roman"/>
                <a:cs typeface="Times New Roman"/>
              </a:rPr>
              <a:t>с</a:t>
            </a:r>
            <a:r>
              <a:rPr sz="1300" dirty="0">
                <a:latin typeface="Times New Roman"/>
                <a:cs typeface="Times New Roman"/>
              </a:rPr>
              <a:t>	</a:t>
            </a:r>
            <a:r>
              <a:rPr sz="1300" spc="-10" dirty="0">
                <a:latin typeface="Times New Roman"/>
                <a:cs typeface="Times New Roman"/>
              </a:rPr>
              <a:t>небольшими</a:t>
            </a:r>
            <a:r>
              <a:rPr sz="1300" dirty="0">
                <a:latin typeface="Times New Roman"/>
                <a:cs typeface="Times New Roman"/>
              </a:rPr>
              <a:t>	</a:t>
            </a:r>
            <a:r>
              <a:rPr sz="1300" spc="-10" dirty="0">
                <a:latin typeface="Times New Roman"/>
                <a:cs typeface="Times New Roman"/>
              </a:rPr>
              <a:t>простыми делителями.</a:t>
            </a:r>
            <a:endParaRPr sz="1300">
              <a:latin typeface="Times New Roman"/>
              <a:cs typeface="Times New Roman"/>
            </a:endParaRPr>
          </a:p>
          <a:p>
            <a:pPr marL="469900" marR="8255" indent="-228600">
              <a:lnSpc>
                <a:spcPct val="144700"/>
              </a:lnSpc>
              <a:spcBef>
                <a:spcPts val="575"/>
              </a:spcBef>
              <a:buSzPct val="76923"/>
              <a:buFont typeface="Symbol"/>
              <a:buChar char=""/>
              <a:tabLst>
                <a:tab pos="469900" algn="l"/>
              </a:tabLst>
            </a:pPr>
            <a:r>
              <a:rPr sz="1300" b="1" dirty="0">
                <a:latin typeface="Times New Roman"/>
                <a:cs typeface="Times New Roman"/>
              </a:rPr>
              <a:t>Метод</a:t>
            </a:r>
            <a:r>
              <a:rPr sz="1300" b="1" spc="8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квадратов</a:t>
            </a:r>
            <a:r>
              <a:rPr sz="1300" b="1" spc="8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Ферма</a:t>
            </a:r>
            <a:r>
              <a:rPr sz="1300" b="1" spc="-3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эффективен</a:t>
            </a:r>
            <a:r>
              <a:rPr sz="1300" spc="9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для</a:t>
            </a:r>
            <a:r>
              <a:rPr sz="1300" spc="7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чисел,</a:t>
            </a:r>
            <a:r>
              <a:rPr sz="1300" spc="10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близких</a:t>
            </a:r>
            <a:r>
              <a:rPr sz="1300" spc="9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к</a:t>
            </a:r>
            <a:r>
              <a:rPr sz="1300" spc="8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квадрату</a:t>
            </a:r>
            <a:r>
              <a:rPr sz="1300" spc="9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(когда множители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близки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друг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к</a:t>
            </a:r>
            <a:r>
              <a:rPr sz="1300" spc="-4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другу).</a:t>
            </a: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70"/>
              </a:spcBef>
            </a:pPr>
            <a:r>
              <a:rPr sz="1300" dirty="0">
                <a:latin typeface="Times New Roman"/>
                <a:cs typeface="Times New Roman"/>
              </a:rPr>
              <a:t>Оба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алгоритма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успешно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протестированы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на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примерах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из</a:t>
            </a:r>
            <a:r>
              <a:rPr sz="1300" spc="-35" dirty="0">
                <a:latin typeface="Times New Roman"/>
                <a:cs typeface="Times New Roman"/>
              </a:rPr>
              <a:t> </a:t>
            </a:r>
            <a:r>
              <a:rPr sz="1300" spc="-20" dirty="0">
                <a:latin typeface="Times New Roman"/>
                <a:cs typeface="Times New Roman"/>
              </a:rPr>
              <a:t>методического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указания.</a:t>
            </a:r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356</Words>
  <Application>Microsoft Office PowerPoint</Application>
  <PresentationFormat>Custom</PresentationFormat>
  <Paragraphs>38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Calibri</vt:lpstr>
      <vt:lpstr>Courier New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Ever</dc:creator>
  <cp:lastModifiedBy>Amine Moumene</cp:lastModifiedBy>
  <cp:revision>1</cp:revision>
  <dcterms:created xsi:type="dcterms:W3CDTF">2026-03-13T20:40:17Z</dcterms:created>
  <dcterms:modified xsi:type="dcterms:W3CDTF">2026-03-13T20:44:27Z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2026-03-13T00:00:00Z</vt:filetime>
  </property>
  <property fmtid="{D5CDD505-2E9C-101B-9397-08002B2CF9AE}" pid="3" name="Creator">
    <vt:lpwstr>Microsoft® Word 2016</vt:lpwstr>
  </property>
  <property fmtid="{D5CDD505-2E9C-101B-9397-08002B2CF9AE}" pid="4" name="LastSaved">
    <vt:filetime>2026-03-13T00:00:00Z</vt:filetime>
  </property>
  <property fmtid="{D5CDD505-2E9C-101B-9397-08002B2CF9AE}" pid="5" name="Producer">
    <vt:lpwstr>www.ilovepdf.com</vt:lpwstr>
  </property>
</Properties>
</file>