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9633" y="692911"/>
            <a:ext cx="520255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ДРУЖБЫ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0085" marR="107950" indent="74295">
              <a:lnSpc>
                <a:spcPct val="182300"/>
              </a:lnSpc>
              <a:spcBef>
                <a:spcPts val="195"/>
              </a:spcBef>
            </a:pPr>
            <a:r>
              <a:rPr sz="1300" b="1" spc="-20" dirty="0">
                <a:latin typeface="Times New Roman"/>
                <a:cs typeface="Times New Roman"/>
              </a:rPr>
              <a:t>Факультет</a:t>
            </a:r>
            <a:r>
              <a:rPr sz="1300" b="1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3058" y="2925825"/>
            <a:ext cx="5447665" cy="1544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9385"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7480" algn="ctr">
              <a:lnSpc>
                <a:spcPct val="100000"/>
              </a:lnSpc>
              <a:spcBef>
                <a:spcPts val="1445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40" dirty="0">
                <a:latin typeface="Times New Roman"/>
                <a:cs typeface="Times New Roman"/>
              </a:rPr>
              <a:t> ЛАБОРАТОРНОЙ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РАБОТЕ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u="sng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endParaRPr sz="1600" dirty="0">
              <a:latin typeface="Times New Roman"/>
              <a:cs typeface="Times New Roman"/>
            </a:endParaRPr>
          </a:p>
          <a:p>
            <a:pPr marL="1515110" marR="5080" indent="-1503045">
              <a:lnSpc>
                <a:spcPct val="143800"/>
              </a:lnSpc>
              <a:spcBef>
                <a:spcPts val="116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296" y="7257668"/>
            <a:ext cx="1610995" cy="58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285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НФИмд-01-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5410" y="9423603"/>
            <a:ext cx="12585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-75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692911"/>
            <a:ext cx="6024880" cy="902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Цель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работы</a:t>
            </a:r>
            <a:endParaRPr sz="1400">
              <a:latin typeface="Times New Roman"/>
              <a:cs typeface="Times New Roman"/>
            </a:endParaRPr>
          </a:p>
          <a:p>
            <a:pPr marL="12700" marR="340995">
              <a:lnSpc>
                <a:spcPts val="1610"/>
              </a:lnSpc>
              <a:spcBef>
                <a:spcPts val="143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Изучение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классических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методов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шифрования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перестановкой (маршрутное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шифрование,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решетками,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таблица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Виженера)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одного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алгоритмов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программно.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Теоретическая</a:t>
            </a: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часть: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рамках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были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рассмотрены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три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основных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метода:</a:t>
            </a:r>
            <a:endParaRPr sz="1400">
              <a:latin typeface="Times New Roman"/>
              <a:cs typeface="Times New Roman"/>
            </a:endParaRPr>
          </a:p>
          <a:p>
            <a:pPr marL="12700" marR="63500" algn="just">
              <a:lnSpc>
                <a:spcPct val="95800"/>
              </a:lnSpc>
              <a:spcBef>
                <a:spcPts val="120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Маршрутное</a:t>
            </a:r>
            <a:r>
              <a:rPr sz="1400" b="1" spc="114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</a:t>
            </a:r>
            <a:r>
              <a:rPr sz="1400" b="1" spc="114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(метод</a:t>
            </a:r>
            <a:r>
              <a:rPr sz="1400" b="1" spc="1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Виета):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Открытый</a:t>
            </a:r>
            <a:r>
              <a:rPr sz="1400" spc="114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</a:t>
            </a:r>
            <a:r>
              <a:rPr sz="1400" spc="1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записывается</a:t>
            </a:r>
            <a:r>
              <a:rPr sz="1400" spc="114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в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таблицу</a:t>
            </a:r>
            <a:r>
              <a:rPr sz="1400" spc="1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1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строкам.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Криптограмма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получается</a:t>
            </a:r>
            <a:r>
              <a:rPr sz="1400" spc="1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выписыванием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букв</a:t>
            </a:r>
            <a:r>
              <a:rPr sz="1400" spc="1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по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столбцам,</a:t>
            </a:r>
            <a:r>
              <a:rPr sz="1400" spc="20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порядок</a:t>
            </a:r>
            <a:r>
              <a:rPr sz="1400" spc="20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которых</a:t>
            </a:r>
            <a:r>
              <a:rPr sz="1400" spc="2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определяется</a:t>
            </a:r>
            <a:r>
              <a:rPr sz="1400" spc="21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алфавитным</a:t>
            </a:r>
            <a:r>
              <a:rPr sz="1400" spc="20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порядком</a:t>
            </a:r>
            <a:r>
              <a:rPr sz="1400" spc="21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букв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ключевого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слова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(пароля).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3500" algn="just">
              <a:lnSpc>
                <a:spcPts val="1610"/>
              </a:lnSpc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</a:t>
            </a:r>
            <a:r>
              <a:rPr sz="1400" b="1" spc="18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b="1" spc="18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помощью</a:t>
            </a:r>
            <a:r>
              <a:rPr sz="1400" b="1" spc="18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решеток</a:t>
            </a:r>
            <a:r>
              <a:rPr sz="1400" b="1" spc="1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(метод</a:t>
            </a:r>
            <a:r>
              <a:rPr sz="1400" b="1" spc="18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Флейснера):</a:t>
            </a:r>
            <a:r>
              <a:rPr sz="1400" b="1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Используется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специальный</a:t>
            </a:r>
            <a:r>
              <a:rPr sz="1400" spc="1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трафарет,</a:t>
            </a:r>
            <a:r>
              <a:rPr sz="1400" spc="1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повороты</a:t>
            </a:r>
            <a:r>
              <a:rPr sz="1400" spc="1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которого</a:t>
            </a:r>
            <a:r>
              <a:rPr sz="1400" spc="1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заполняют</a:t>
            </a:r>
            <a:r>
              <a:rPr sz="1400" spc="1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квадратную</a:t>
            </a:r>
            <a:r>
              <a:rPr sz="1400" spc="1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таблицу,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после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чего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символы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выписываются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столбцам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согласно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ключу.</a:t>
            </a:r>
            <a:endParaRPr sz="1400">
              <a:latin typeface="Times New Roman"/>
              <a:cs typeface="Times New Roman"/>
            </a:endParaRPr>
          </a:p>
          <a:p>
            <a:pPr marL="12700" marR="66675" algn="just">
              <a:lnSpc>
                <a:spcPts val="1610"/>
              </a:lnSpc>
              <a:spcBef>
                <a:spcPts val="160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Таблица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Виженера:</a:t>
            </a:r>
            <a:r>
              <a:rPr sz="1400" b="1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Символы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текста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циклически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сдвигаются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алфавиту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на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значение,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определяемое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цифровым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эквивалентом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букв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ключа.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Times New Roman"/>
              <a:cs typeface="Times New Roman"/>
            </a:endParaRPr>
          </a:p>
          <a:p>
            <a:pPr marL="461645">
              <a:lnSpc>
                <a:spcPct val="100000"/>
              </a:lnSpc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3.</a:t>
            </a:r>
            <a:r>
              <a:rPr sz="1400" b="1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Практическая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</a:t>
            </a:r>
            <a:r>
              <a:rPr sz="1400" b="1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2230" indent="448945" algn="just">
              <a:lnSpc>
                <a:spcPct val="143900"/>
              </a:lnSpc>
              <a:spcBef>
                <a:spcPts val="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ходе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была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проанализирована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протестирована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программа</a:t>
            </a:r>
            <a:r>
              <a:rPr sz="1400" spc="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на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языке</a:t>
            </a:r>
            <a:r>
              <a:rPr sz="1400" spc="365" dirty="0">
                <a:solidFill>
                  <a:srgbClr val="0E1115"/>
                </a:solidFill>
                <a:latin typeface="Times New Roman"/>
                <a:cs typeface="Times New Roman"/>
              </a:rPr>
              <a:t>  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Python</a:t>
            </a:r>
            <a:r>
              <a:rPr sz="1400" spc="370" dirty="0">
                <a:solidFill>
                  <a:srgbClr val="0E1115"/>
                </a:solidFill>
                <a:latin typeface="Times New Roman"/>
                <a:cs typeface="Times New Roman"/>
              </a:rPr>
              <a:t>  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(ЛАБ</a:t>
            </a:r>
            <a:r>
              <a:rPr sz="1400" spc="380" dirty="0">
                <a:solidFill>
                  <a:srgbClr val="0E1115"/>
                </a:solidFill>
                <a:latin typeface="Times New Roman"/>
                <a:cs typeface="Times New Roman"/>
              </a:rPr>
              <a:t>  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2</a:t>
            </a:r>
            <a:r>
              <a:rPr sz="1400" spc="375" dirty="0">
                <a:solidFill>
                  <a:srgbClr val="0E1115"/>
                </a:solidFill>
                <a:latin typeface="Times New Roman"/>
                <a:cs typeface="Times New Roman"/>
              </a:rPr>
              <a:t>  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Инормационный</a:t>
            </a:r>
            <a:r>
              <a:rPr sz="1400" spc="375" dirty="0">
                <a:solidFill>
                  <a:srgbClr val="0E1115"/>
                </a:solidFill>
                <a:latin typeface="Times New Roman"/>
                <a:cs typeface="Times New Roman"/>
              </a:rPr>
              <a:t>  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Безопасности.py),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реализующая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маршрутное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(столбцовую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перестановку).</a:t>
            </a:r>
            <a:endParaRPr sz="1400">
              <a:latin typeface="Times New Roman"/>
              <a:cs typeface="Times New Roman"/>
            </a:endParaRPr>
          </a:p>
          <a:p>
            <a:pPr marL="461645">
              <a:lnSpc>
                <a:spcPct val="100000"/>
              </a:lnSpc>
              <a:spcBef>
                <a:spcPts val="133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</a:t>
            </a:r>
            <a:r>
              <a:rPr sz="14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программы:</a:t>
            </a:r>
            <a:endParaRPr sz="1400">
              <a:latin typeface="Times New Roman"/>
              <a:cs typeface="Times New Roman"/>
            </a:endParaRPr>
          </a:p>
          <a:p>
            <a:pPr marL="468630" indent="-227965">
              <a:lnSpc>
                <a:spcPct val="100000"/>
              </a:lnSpc>
              <a:spcBef>
                <a:spcPts val="1335"/>
              </a:spcBef>
              <a:buAutoNum type="arabicPeriod"/>
              <a:tabLst>
                <a:tab pos="468630" algn="l"/>
              </a:tabLst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Подготовка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текста: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исходной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строки</a:t>
            </a:r>
            <a:r>
              <a:rPr sz="14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удаляются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пробелы.</a:t>
            </a:r>
            <a:endParaRPr sz="1400">
              <a:latin typeface="Times New Roman"/>
              <a:cs typeface="Times New Roman"/>
            </a:endParaRPr>
          </a:p>
          <a:p>
            <a:pPr marL="469265" marR="5080" indent="-228600">
              <a:lnSpc>
                <a:spcPct val="143900"/>
              </a:lnSpc>
              <a:spcBef>
                <a:spcPts val="595"/>
              </a:spcBef>
              <a:buAutoNum type="arabicPeriod"/>
              <a:tabLst>
                <a:tab pos="469265" algn="l"/>
                <a:tab pos="1381760" algn="l"/>
                <a:tab pos="2755900" algn="l"/>
                <a:tab pos="3856990" algn="l"/>
                <a:tab pos="4229735" algn="l"/>
                <a:tab pos="4872355" algn="l"/>
              </a:tabLst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Создание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матрицы:</a:t>
            </a:r>
            <a:r>
              <a:rPr sz="1400" spc="-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Текст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разбивается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блоки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по n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символов (столбцов),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которые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становятся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строками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матрицы.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Количество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(m)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определяется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автоматически.</a:t>
            </a:r>
            <a:endParaRPr sz="1400">
              <a:latin typeface="Times New Roman"/>
              <a:cs typeface="Times New Roman"/>
            </a:endParaRPr>
          </a:p>
          <a:p>
            <a:pPr marL="469265" marR="64135" indent="-228600">
              <a:lnSpc>
                <a:spcPct val="143500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Заполнение</a:t>
            </a:r>
            <a:r>
              <a:rPr sz="1400" spc="3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последней</a:t>
            </a:r>
            <a:r>
              <a:rPr sz="14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строки: Если</a:t>
            </a:r>
            <a:r>
              <a:rPr sz="14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последняя</a:t>
            </a:r>
            <a:r>
              <a:rPr sz="14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строка</a:t>
            </a:r>
            <a:r>
              <a:rPr sz="14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заполнена</a:t>
            </a:r>
            <a:r>
              <a:rPr sz="1400" spc="3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не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полностью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(длина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текста</a:t>
            </a:r>
            <a:r>
              <a:rPr sz="1400" spc="2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не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кратна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n),</a:t>
            </a:r>
            <a:r>
              <a:rPr sz="1400" spc="2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она</a:t>
            </a:r>
            <a:r>
              <a:rPr sz="1400" spc="2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дополняется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случайными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689863"/>
            <a:ext cx="5968365" cy="606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algn="just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символами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предопределенного алфавита.</a:t>
            </a:r>
            <a:endParaRPr sz="1400">
              <a:latin typeface="Times New Roman"/>
              <a:cs typeface="Times New Roman"/>
            </a:endParaRPr>
          </a:p>
          <a:p>
            <a:pPr marL="469265" marR="6985" indent="-228600" algn="just">
              <a:lnSpc>
                <a:spcPct val="143600"/>
              </a:lnSpc>
              <a:spcBef>
                <a:spcPts val="615"/>
              </a:spcBef>
              <a:buAutoNum type="arabicPeriod" startAt="4"/>
              <a:tabLst>
                <a:tab pos="469265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Добавление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ключа: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Строка</a:t>
            </a:r>
            <a:r>
              <a:rPr sz="1400" spc="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ключевым</a:t>
            </a:r>
            <a:r>
              <a:rPr sz="1400" spc="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словом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(key_word)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вставляется нулевой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строкой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начало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матрицы.</a:t>
            </a:r>
            <a:endParaRPr sz="1400">
              <a:latin typeface="Times New Roman"/>
              <a:cs typeface="Times New Roman"/>
            </a:endParaRPr>
          </a:p>
          <a:p>
            <a:pPr marL="469265" marR="5080" indent="-228600" algn="just">
              <a:lnSpc>
                <a:spcPct val="143900"/>
              </a:lnSpc>
              <a:spcBef>
                <a:spcPts val="595"/>
              </a:spcBef>
              <a:buAutoNum type="arabicPeriod" startAt="4"/>
              <a:tabLst>
                <a:tab pos="469265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Сортировка</a:t>
            </a:r>
            <a:r>
              <a:rPr sz="1400" spc="9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столбцов: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Определяется</a:t>
            </a:r>
            <a:r>
              <a:rPr sz="1400" spc="8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порядок</a:t>
            </a:r>
            <a:r>
              <a:rPr sz="1400" spc="9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столбцов</a:t>
            </a:r>
            <a:r>
              <a:rPr sz="1400" spc="8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9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вывода. Индексы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столбцов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сортируются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на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основе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лексикографического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порядка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букв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ключевом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слове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(как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описании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метода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Виета).</a:t>
            </a:r>
            <a:endParaRPr sz="1400">
              <a:latin typeface="Times New Roman"/>
              <a:cs typeface="Times New Roman"/>
            </a:endParaRPr>
          </a:p>
          <a:p>
            <a:pPr marL="469265" marR="6985" indent="-228600" algn="just">
              <a:lnSpc>
                <a:spcPct val="143700"/>
              </a:lnSpc>
              <a:spcBef>
                <a:spcPts val="600"/>
              </a:spcBef>
              <a:buAutoNum type="arabicPeriod" startAt="4"/>
              <a:tabLst>
                <a:tab pos="469265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Формирование</a:t>
            </a:r>
            <a:r>
              <a:rPr sz="1400" spc="15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результата: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Криптограмма</a:t>
            </a:r>
            <a:r>
              <a:rPr sz="1400" spc="15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собирается</a:t>
            </a:r>
            <a:r>
              <a:rPr sz="1400" spc="15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путем</a:t>
            </a:r>
            <a:r>
              <a:rPr sz="1400" spc="14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обхода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отсортированных</a:t>
            </a:r>
            <a:r>
              <a:rPr sz="1400" spc="1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столбцов</a:t>
            </a:r>
            <a:r>
              <a:rPr sz="1400" spc="1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сверху</a:t>
            </a:r>
            <a:r>
              <a:rPr sz="1400" spc="11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вниз</a:t>
            </a:r>
            <a:r>
              <a:rPr sz="1400" spc="1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(от</a:t>
            </a:r>
            <a:r>
              <a:rPr sz="1400" spc="1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строки</a:t>
            </a:r>
            <a:r>
              <a:rPr sz="1400" spc="1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1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ключом</a:t>
            </a:r>
            <a:r>
              <a:rPr sz="1400" spc="12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до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последней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строки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данных).</a:t>
            </a:r>
            <a:endParaRPr sz="1400">
              <a:latin typeface="Times New Roman"/>
              <a:cs typeface="Times New Roman"/>
            </a:endParaRPr>
          </a:p>
          <a:p>
            <a:pPr marL="461645" algn="just">
              <a:lnSpc>
                <a:spcPct val="100000"/>
              </a:lnSpc>
              <a:spcBef>
                <a:spcPts val="134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Пример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работы: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Входные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данные,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указанные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коде:</a:t>
            </a:r>
            <a:endParaRPr sz="1400">
              <a:latin typeface="Times New Roman"/>
              <a:cs typeface="Times New Roman"/>
            </a:endParaRPr>
          </a:p>
          <a:p>
            <a:pPr marL="468630" lvl="1" indent="-227965" algn="just">
              <a:lnSpc>
                <a:spcPct val="100000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468630" algn="l"/>
              </a:tabLst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Текст:</a:t>
            </a:r>
            <a:r>
              <a:rPr sz="1400" spc="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"нельзя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недооценивать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противник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ава"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(после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удаления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пробелов)</a:t>
            </a:r>
            <a:endParaRPr sz="1400">
              <a:latin typeface="Times New Roman"/>
              <a:cs typeface="Times New Roman"/>
            </a:endParaRPr>
          </a:p>
          <a:p>
            <a:pPr marL="468630" lvl="1" indent="-227965" algn="just">
              <a:lnSpc>
                <a:spcPct val="100000"/>
              </a:lnSpc>
              <a:spcBef>
                <a:spcPts val="1335"/>
              </a:spcBef>
              <a:buSzPct val="71428"/>
              <a:buFont typeface="Symbol"/>
              <a:buChar char=""/>
              <a:tabLst>
                <a:tab pos="46863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Ключ:</a:t>
            </a:r>
            <a:r>
              <a:rPr sz="1400" spc="-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"пароль"</a:t>
            </a:r>
            <a:endParaRPr sz="1400">
              <a:latin typeface="Times New Roman"/>
              <a:cs typeface="Times New Roman"/>
            </a:endParaRPr>
          </a:p>
          <a:p>
            <a:pPr marL="468630" lvl="1" indent="-227965" algn="just">
              <a:lnSpc>
                <a:spcPct val="100000"/>
              </a:lnSpc>
              <a:spcBef>
                <a:spcPts val="1340"/>
              </a:spcBef>
              <a:buSzPct val="71428"/>
              <a:buFont typeface="Symbol"/>
              <a:buChar char=""/>
              <a:tabLst>
                <a:tab pos="46863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Параметры: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n=6,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m=5</a:t>
            </a:r>
            <a:endParaRPr sz="1400">
              <a:latin typeface="Times New Roman"/>
              <a:cs typeface="Times New Roman"/>
            </a:endParaRPr>
          </a:p>
          <a:p>
            <a:pPr marL="12700" marR="5080" indent="448945" algn="just">
              <a:lnSpc>
                <a:spcPct val="143600"/>
              </a:lnSpc>
              <a:spcBef>
                <a:spcPts val="605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Программа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должна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выдать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результат,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близкий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примеру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методическом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пособии,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однако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точный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вывод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может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отличаться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из-за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случайного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заполнения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последней</a:t>
            </a:r>
            <a:r>
              <a:rPr sz="1400" spc="4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строки</a:t>
            </a:r>
            <a:r>
              <a:rPr sz="1400" spc="4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4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возможных</a:t>
            </a:r>
            <a:r>
              <a:rPr sz="1400" spc="4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отличий</a:t>
            </a:r>
            <a:r>
              <a:rPr sz="1400" spc="434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4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кодировке</a:t>
            </a:r>
            <a:r>
              <a:rPr sz="1400" spc="43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алфавита, использованного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коде.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7283577"/>
            <a:ext cx="5969000" cy="2152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1645" algn="just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4.</a:t>
            </a:r>
            <a:r>
              <a:rPr sz="1400" b="1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Выводы</a:t>
            </a:r>
            <a:r>
              <a:rPr sz="1400" b="1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5080" indent="448945" algn="just">
              <a:lnSpc>
                <a:spcPct val="143700"/>
              </a:lnSpc>
              <a:spcBef>
                <a:spcPts val="57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1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ходе</a:t>
            </a:r>
            <a:r>
              <a:rPr sz="1400" spc="16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лабораторной</a:t>
            </a:r>
            <a:r>
              <a:rPr sz="1400" spc="16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работы</a:t>
            </a:r>
            <a:r>
              <a:rPr sz="1400" spc="1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был</a:t>
            </a:r>
            <a:r>
              <a:rPr sz="1400" spc="15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изучен</a:t>
            </a:r>
            <a:r>
              <a:rPr sz="1400" spc="1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принцип</a:t>
            </a:r>
            <a:r>
              <a:rPr sz="1400" spc="1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маршрутного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шифрования.</a:t>
            </a:r>
            <a:r>
              <a:rPr sz="1400" spc="13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Представленная</a:t>
            </a:r>
            <a:r>
              <a:rPr sz="1400" spc="13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программа</a:t>
            </a:r>
            <a:r>
              <a:rPr sz="1400" spc="13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корректно</a:t>
            </a:r>
            <a:r>
              <a:rPr sz="1400" spc="14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реализует</a:t>
            </a:r>
            <a:r>
              <a:rPr sz="1400" spc="13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столбцовой</a:t>
            </a:r>
            <a:r>
              <a:rPr sz="1400" spc="3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перестановки</a:t>
            </a:r>
            <a:r>
              <a:rPr sz="1400" spc="37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3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использованием</a:t>
            </a:r>
            <a:r>
              <a:rPr sz="1400" spc="3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ключевого</a:t>
            </a:r>
            <a:r>
              <a:rPr sz="1400" spc="38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слова.</a:t>
            </a:r>
            <a:r>
              <a:rPr sz="1400" spc="37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Программа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автоматически</a:t>
            </a:r>
            <a:r>
              <a:rPr sz="1400" spc="1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адаптирует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</a:t>
            </a:r>
            <a:r>
              <a:rPr sz="1400" spc="10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под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заданный</a:t>
            </a:r>
            <a:r>
              <a:rPr sz="1400" spc="9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размер</a:t>
            </a:r>
            <a:r>
              <a:rPr sz="1400" spc="1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матрицы</a:t>
            </a:r>
            <a:r>
              <a:rPr sz="1400" spc="9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10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учитывает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алфавитный</a:t>
            </a:r>
            <a:r>
              <a:rPr sz="1400" spc="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порядок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букв</a:t>
            </a:r>
            <a:r>
              <a:rPr sz="1400" spc="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ключа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перестановки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столбцов,</a:t>
            </a:r>
            <a:r>
              <a:rPr sz="1400" spc="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что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полностью соответствует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классическому</a:t>
            </a:r>
            <a:r>
              <a:rPr sz="14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описанию</a:t>
            </a:r>
            <a:r>
              <a:rPr sz="14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метода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Виета.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443</Words>
  <Application>Microsoft Office PowerPoint</Application>
  <PresentationFormat>Custom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2026-03-13T20:38:38Z</dcterms:created>
  <dcterms:modified xsi:type="dcterms:W3CDTF">2026-03-13T20:43:29Z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