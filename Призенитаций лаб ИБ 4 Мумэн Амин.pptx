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212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6966" y="691641"/>
            <a:ext cx="5207635" cy="1016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РОССИЙСКИЙ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УНИВЕРСИТЕТ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ДРУЖБЫ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683260" marR="111125" indent="73025">
              <a:lnSpc>
                <a:spcPct val="183300"/>
              </a:lnSpc>
              <a:spcBef>
                <a:spcPts val="155"/>
              </a:spcBef>
            </a:pPr>
            <a:r>
              <a:rPr sz="1300" b="1" spc="-10" dirty="0">
                <a:latin typeface="Times New Roman"/>
                <a:cs typeface="Times New Roman"/>
              </a:rPr>
              <a:t>Факультет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физико-</a:t>
            </a:r>
            <a:r>
              <a:rPr sz="1300" b="1" spc="-10" dirty="0">
                <a:latin typeface="Times New Roman"/>
                <a:cs typeface="Times New Roman"/>
              </a:rPr>
              <a:t>математических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и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естественных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наук </a:t>
            </a:r>
            <a:r>
              <a:rPr sz="1300" b="1" spc="-10" dirty="0">
                <a:latin typeface="Times New Roman"/>
                <a:cs typeface="Times New Roman"/>
              </a:rPr>
              <a:t>Кафедра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прикладной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информатики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и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теории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0391" y="2923412"/>
            <a:ext cx="5447030" cy="154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54940" algn="ctr">
              <a:lnSpc>
                <a:spcPct val="100000"/>
              </a:lnSpc>
              <a:spcBef>
                <a:spcPts val="105"/>
              </a:spcBef>
            </a:pPr>
            <a:r>
              <a:rPr lang="ru-RU" sz="1600" b="1" spc="-10" dirty="0" err="1">
                <a:latin typeface="Times New Roman"/>
                <a:cs typeface="Times New Roman"/>
              </a:rPr>
              <a:t>Призенитаций</a:t>
            </a:r>
            <a:r>
              <a:rPr lang="ru-RU" sz="1600" b="1" spc="-10">
                <a:latin typeface="Times New Roman"/>
                <a:cs typeface="Times New Roman"/>
              </a:rPr>
              <a:t> </a:t>
            </a:r>
            <a:endParaRPr sz="1600" dirty="0">
              <a:latin typeface="Times New Roman"/>
              <a:cs typeface="Times New Roman"/>
            </a:endParaRPr>
          </a:p>
          <a:p>
            <a:pPr marR="152400" algn="ctr">
              <a:lnSpc>
                <a:spcPct val="100000"/>
              </a:lnSpc>
              <a:spcBef>
                <a:spcPts val="1440"/>
              </a:spcBef>
            </a:pPr>
            <a:r>
              <a:rPr sz="1600" b="1" dirty="0">
                <a:latin typeface="Times New Roman"/>
                <a:cs typeface="Times New Roman"/>
              </a:rPr>
              <a:t>ПО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40" dirty="0">
                <a:latin typeface="Times New Roman"/>
                <a:cs typeface="Times New Roman"/>
              </a:rPr>
              <a:t>ЛАБОРАТОРНОЙ</a:t>
            </a:r>
            <a:r>
              <a:rPr sz="1600" b="1" spc="-35" dirty="0">
                <a:latin typeface="Times New Roman"/>
                <a:cs typeface="Times New Roman"/>
              </a:rPr>
              <a:t> РАБОТЕ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№ </a:t>
            </a:r>
            <a:r>
              <a:rPr sz="1600" b="1" u="sng" spc="-2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endParaRPr sz="1600" dirty="0">
              <a:latin typeface="Times New Roman"/>
              <a:cs typeface="Times New Roman"/>
            </a:endParaRPr>
          </a:p>
          <a:p>
            <a:pPr marL="1515745" marR="5080" indent="-1503680">
              <a:lnSpc>
                <a:spcPct val="143700"/>
              </a:lnSpc>
              <a:spcBef>
                <a:spcPts val="1180"/>
              </a:spcBef>
            </a:pP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sz="1600" i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Математические</a:t>
            </a:r>
            <a:r>
              <a:rPr sz="1600" i="1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основы</a:t>
            </a:r>
            <a:r>
              <a:rPr sz="160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защиты</a:t>
            </a:r>
            <a:r>
              <a:rPr sz="16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информации</a:t>
            </a:r>
            <a:r>
              <a:rPr sz="160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</a:t>
            </a:r>
            <a:r>
              <a:rPr sz="16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информационной</a:t>
            </a:r>
            <a:r>
              <a:rPr sz="1600" i="1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безопасности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4042" y="7258938"/>
            <a:ext cx="1610995" cy="582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Мумэн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Амин</a:t>
            </a:r>
            <a:endParaRPr sz="13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1270"/>
              </a:spcBef>
            </a:pP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НФИмд-</a:t>
            </a:r>
            <a:r>
              <a:rPr sz="1300" spc="-10" dirty="0">
                <a:latin typeface="Times New Roman"/>
                <a:cs typeface="Times New Roman"/>
              </a:rPr>
              <a:t>01-</a:t>
            </a:r>
            <a:r>
              <a:rPr sz="1300" spc="-25" dirty="0"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4521" y="9423603"/>
            <a:ext cx="12617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latin typeface="Times New Roman"/>
                <a:cs typeface="Times New Roman"/>
              </a:rPr>
              <a:t>МОСКВА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2026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80" dirty="0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596" y="694689"/>
            <a:ext cx="5960745" cy="1231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Цель</a:t>
            </a:r>
            <a:r>
              <a:rPr sz="14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работы</a:t>
            </a:r>
            <a:endParaRPr sz="1400">
              <a:latin typeface="Times New Roman"/>
              <a:cs typeface="Times New Roman"/>
            </a:endParaRPr>
          </a:p>
          <a:p>
            <a:pPr marL="12700" marR="5080" indent="45720" algn="just">
              <a:lnSpc>
                <a:spcPct val="143700"/>
              </a:lnSpc>
              <a:spcBef>
                <a:spcPts val="585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Программная</a:t>
            </a:r>
            <a:r>
              <a:rPr sz="1400" spc="35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реализация</a:t>
            </a:r>
            <a:r>
              <a:rPr sz="1400" spc="37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классического,</a:t>
            </a:r>
            <a:r>
              <a:rPr sz="1400" spc="36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бинарного</a:t>
            </a:r>
            <a:r>
              <a:rPr sz="1400" spc="35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36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расширенных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алгоритмов</a:t>
            </a:r>
            <a:r>
              <a:rPr sz="1400" spc="47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Евклида</a:t>
            </a:r>
            <a:r>
              <a:rPr sz="1400" spc="49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400" spc="49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нахождения</a:t>
            </a:r>
            <a:r>
              <a:rPr sz="1400" spc="8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НОД</a:t>
            </a:r>
            <a:r>
              <a:rPr sz="1400" spc="49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7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коэффициентов</a:t>
            </a:r>
            <a:r>
              <a:rPr sz="1400" spc="7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линейного представления.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596" y="2841117"/>
            <a:ext cx="5970270" cy="1190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Теоретическая</a:t>
            </a:r>
            <a:r>
              <a:rPr sz="1400" b="1" u="sng" spc="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часть:</a:t>
            </a:r>
            <a:r>
              <a:rPr sz="1400" b="1" u="sng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2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ходе</a:t>
            </a:r>
            <a:r>
              <a:rPr sz="12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работы</a:t>
            </a:r>
            <a:r>
              <a:rPr sz="12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были</a:t>
            </a:r>
            <a:r>
              <a:rPr sz="12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реализованы</a:t>
            </a:r>
            <a:r>
              <a:rPr sz="12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следующие</a:t>
            </a:r>
            <a:r>
              <a:rPr sz="12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алгоритмы</a:t>
            </a:r>
            <a:r>
              <a:rPr sz="12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на</a:t>
            </a:r>
            <a:r>
              <a:rPr sz="12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языке</a:t>
            </a:r>
            <a:r>
              <a:rPr sz="12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Python:</a:t>
            </a:r>
            <a:endParaRPr sz="1200">
              <a:latin typeface="Times New Roman"/>
              <a:cs typeface="Times New Roman"/>
            </a:endParaRPr>
          </a:p>
          <a:p>
            <a:pPr marL="469900" marR="5080" indent="-228600">
              <a:lnSpc>
                <a:spcPct val="143300"/>
              </a:lnSpc>
              <a:spcBef>
                <a:spcPts val="600"/>
              </a:spcBef>
              <a:tabLst>
                <a:tab pos="469900" algn="l"/>
                <a:tab pos="1587500" algn="l"/>
                <a:tab pos="2372995" algn="l"/>
                <a:tab pos="3098165" algn="l"/>
                <a:tab pos="3759200" algn="l"/>
                <a:tab pos="5237480" algn="l"/>
              </a:tabLst>
            </a:pPr>
            <a:r>
              <a:rPr sz="1200" b="1" spc="-50" dirty="0">
                <a:solidFill>
                  <a:srgbClr val="0E1115"/>
                </a:solidFill>
                <a:latin typeface="Times New Roman"/>
                <a:cs typeface="Times New Roman"/>
              </a:rPr>
              <a:t>-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Расширенный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Евклида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(первая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	версия):</a:t>
            </a:r>
            <a:r>
              <a:rPr sz="12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Реализован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	на</a:t>
            </a:r>
            <a:r>
              <a:rPr sz="1200" spc="18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основе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итеративного</a:t>
            </a:r>
            <a:r>
              <a:rPr sz="1200" spc="39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подхода</a:t>
            </a:r>
            <a:r>
              <a:rPr sz="1200" spc="37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1200" spc="37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отслеживанием</a:t>
            </a:r>
            <a:r>
              <a:rPr sz="1200" spc="3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остатков</a:t>
            </a:r>
            <a:r>
              <a:rPr sz="1200" spc="38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200" spc="38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коэффициентов.</a:t>
            </a:r>
            <a:r>
              <a:rPr sz="1200" spc="38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Однако</a:t>
            </a:r>
            <a:r>
              <a:rPr sz="1200" spc="39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78459" y="4002785"/>
            <a:ext cx="3355975" cy="55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5080" indent="-82550">
              <a:lnSpc>
                <a:spcPct val="145000"/>
              </a:lnSpc>
              <a:spcBef>
                <a:spcPts val="100"/>
              </a:spcBef>
              <a:tabLst>
                <a:tab pos="1288415" algn="l"/>
                <a:tab pos="1726564" algn="l"/>
                <a:tab pos="2346960" algn="l"/>
                <a:tab pos="2816225" algn="l"/>
                <a:tab pos="3264535" algn="l"/>
              </a:tabLst>
            </a:pP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наблюдаются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spc="-27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проблемы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spc="-50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логикой нестандартно),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spc="-25" dirty="0">
                <a:solidFill>
                  <a:srgbClr val="0E1115"/>
                </a:solidFill>
                <a:latin typeface="Times New Roman"/>
                <a:cs typeface="Times New Roman"/>
              </a:rPr>
              <a:t>что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0E1115"/>
                </a:solidFill>
                <a:latin typeface="Times New Roman"/>
                <a:cs typeface="Times New Roman"/>
              </a:rPr>
              <a:t>может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spc="-19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приводить	</a:t>
            </a:r>
            <a:r>
              <a:rPr sz="1200" spc="-50" dirty="0">
                <a:solidFill>
                  <a:srgbClr val="0E1115"/>
                </a:solidFill>
                <a:latin typeface="Times New Roman"/>
                <a:cs typeface="Times New Roman"/>
              </a:rPr>
              <a:t>к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4127" y="4002785"/>
            <a:ext cx="2040255" cy="8185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44200"/>
              </a:lnSpc>
              <a:spcBef>
                <a:spcPts val="110"/>
              </a:spcBef>
              <a:tabLst>
                <a:tab pos="1471930" algn="l"/>
              </a:tabLst>
            </a:pP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представленном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0E1115"/>
                </a:solidFill>
                <a:latin typeface="Times New Roman"/>
                <a:cs typeface="Times New Roman"/>
              </a:rPr>
              <a:t>коде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(переменные</a:t>
            </a:r>
            <a:r>
              <a:rPr sz="12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k,</a:t>
            </a:r>
            <a:r>
              <a:rPr sz="12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l</a:t>
            </a:r>
            <a:r>
              <a:rPr sz="12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используются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некорректным</a:t>
            </a:r>
            <a:r>
              <a:rPr sz="1200" spc="-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результатам.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5527" y="4871720"/>
            <a:ext cx="5737860" cy="20161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41300" marR="5080" indent="-228600" algn="just">
              <a:lnSpc>
                <a:spcPct val="144200"/>
              </a:lnSpc>
              <a:spcBef>
                <a:spcPts val="85"/>
              </a:spcBef>
              <a:buChar char="-"/>
              <a:tabLst>
                <a:tab pos="241300" algn="l"/>
              </a:tabLst>
            </a:pP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Расширенный</a:t>
            </a:r>
            <a:r>
              <a:rPr sz="1200" b="1" spc="3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</a:t>
            </a:r>
            <a:r>
              <a:rPr sz="1200" b="1" spc="30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Евклида</a:t>
            </a:r>
            <a:r>
              <a:rPr sz="1200" b="1" spc="3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(вторая</a:t>
            </a:r>
            <a:r>
              <a:rPr sz="1200" b="1" spc="30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версия):</a:t>
            </a:r>
            <a:r>
              <a:rPr sz="1200" b="1" spc="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Корректная</a:t>
            </a:r>
            <a:r>
              <a:rPr sz="1200" spc="3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200" spc="3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лаконичная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реализация</a:t>
            </a:r>
            <a:r>
              <a:rPr sz="1200" spc="254" dirty="0">
                <a:solidFill>
                  <a:srgbClr val="0E1115"/>
                </a:solidFill>
                <a:latin typeface="Times New Roman"/>
                <a:cs typeface="Times New Roman"/>
              </a:rPr>
              <a:t>  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классического</a:t>
            </a:r>
            <a:r>
              <a:rPr sz="1200" spc="265" dirty="0">
                <a:solidFill>
                  <a:srgbClr val="0E1115"/>
                </a:solidFill>
                <a:latin typeface="Times New Roman"/>
                <a:cs typeface="Times New Roman"/>
              </a:rPr>
              <a:t>  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расширенного</a:t>
            </a:r>
            <a:r>
              <a:rPr sz="1200" spc="254" dirty="0">
                <a:solidFill>
                  <a:srgbClr val="0E1115"/>
                </a:solidFill>
                <a:latin typeface="Times New Roman"/>
                <a:cs typeface="Times New Roman"/>
              </a:rPr>
              <a:t>  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алгоритма</a:t>
            </a:r>
            <a:r>
              <a:rPr sz="1200" spc="254" dirty="0">
                <a:solidFill>
                  <a:srgbClr val="0E1115"/>
                </a:solidFill>
                <a:latin typeface="Times New Roman"/>
                <a:cs typeface="Times New Roman"/>
              </a:rPr>
              <a:t>  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1200" spc="254" dirty="0">
                <a:solidFill>
                  <a:srgbClr val="0E1115"/>
                </a:solidFill>
                <a:latin typeface="Times New Roman"/>
                <a:cs typeface="Times New Roman"/>
              </a:rPr>
              <a:t>  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использованием одновременного</a:t>
            </a:r>
            <a:r>
              <a:rPr sz="1200" spc="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обновления</a:t>
            </a:r>
            <a:r>
              <a:rPr sz="12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коэффициентов.</a:t>
            </a:r>
            <a:endParaRPr sz="1200">
              <a:latin typeface="Times New Roman"/>
              <a:cs typeface="Times New Roman"/>
            </a:endParaRPr>
          </a:p>
          <a:p>
            <a:pPr marL="241300" marR="8890" indent="-228600" algn="just">
              <a:lnSpc>
                <a:spcPct val="143300"/>
              </a:lnSpc>
              <a:spcBef>
                <a:spcPts val="605"/>
              </a:spcBef>
              <a:buChar char="-"/>
              <a:tabLst>
                <a:tab pos="241300" algn="l"/>
              </a:tabLst>
            </a:pP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Расширенный</a:t>
            </a:r>
            <a:r>
              <a:rPr sz="1200" b="1" spc="37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бинарный</a:t>
            </a:r>
            <a:r>
              <a:rPr sz="1200" b="1" spc="36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</a:t>
            </a:r>
            <a:r>
              <a:rPr sz="1200" b="1" spc="36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200" b="1" dirty="0">
                <a:solidFill>
                  <a:srgbClr val="0E1115"/>
                </a:solidFill>
                <a:latin typeface="Times New Roman"/>
                <a:cs typeface="Times New Roman"/>
              </a:rPr>
              <a:t>Евклида:</a:t>
            </a:r>
            <a:r>
              <a:rPr sz="1200" b="1" spc="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Реализация,</a:t>
            </a:r>
            <a:r>
              <a:rPr sz="1200" spc="37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использующая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свойства</a:t>
            </a:r>
            <a:r>
              <a:rPr sz="1200" spc="21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четности</a:t>
            </a:r>
            <a:r>
              <a:rPr sz="1200" spc="22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чисел</a:t>
            </a:r>
            <a:r>
              <a:rPr sz="1200" spc="22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200" spc="21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ускорения</a:t>
            </a:r>
            <a:r>
              <a:rPr sz="1200" spc="21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вычислений,</a:t>
            </a:r>
            <a:r>
              <a:rPr sz="1200" spc="22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а</a:t>
            </a:r>
            <a:r>
              <a:rPr sz="1200" spc="21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также</a:t>
            </a:r>
            <a:r>
              <a:rPr sz="1200" spc="21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находящая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коэффициенты</a:t>
            </a:r>
            <a:r>
              <a:rPr sz="1200" spc="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x</a:t>
            </a:r>
            <a:r>
              <a:rPr sz="12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2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0E1115"/>
                </a:solidFill>
                <a:latin typeface="Times New Roman"/>
                <a:cs typeface="Times New Roman"/>
              </a:rPr>
              <a:t>y.</a:t>
            </a:r>
            <a:endParaRPr sz="12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1220"/>
              </a:spcBef>
            </a:pP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проверки</a:t>
            </a:r>
            <a:r>
              <a:rPr sz="1200" spc="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работы</a:t>
            </a:r>
            <a:r>
              <a:rPr sz="12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использовалась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 пара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чисел (6,</a:t>
            </a:r>
            <a:r>
              <a:rPr sz="12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0E1115"/>
                </a:solidFill>
                <a:latin typeface="Times New Roman"/>
                <a:cs typeface="Times New Roman"/>
              </a:rPr>
              <a:t>5).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8030" y="7700898"/>
            <a:ext cx="3772535" cy="1768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3.</a:t>
            </a:r>
            <a:r>
              <a:rPr sz="1400" b="1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E1115"/>
                </a:solidFill>
                <a:latin typeface="Times New Roman"/>
                <a:cs typeface="Times New Roman"/>
              </a:rPr>
              <a:t>Результаты</a:t>
            </a: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выполнения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пары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чисел</a:t>
            </a:r>
            <a:r>
              <a:rPr sz="1400" spc="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a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=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6,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b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=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5:</a:t>
            </a:r>
            <a:endParaRPr sz="1400">
              <a:latin typeface="Times New Roman"/>
              <a:cs typeface="Times New Roman"/>
            </a:endParaRPr>
          </a:p>
          <a:p>
            <a:pPr marL="18415" marR="5080" indent="-3175">
              <a:lnSpc>
                <a:spcPts val="3020"/>
              </a:lnSpc>
              <a:spcBef>
                <a:spcPts val="300"/>
              </a:spcBef>
            </a:pP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Первый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(исправленный)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алгоритм: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6*1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+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5*-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=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1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Второй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алгоритм: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</a:t>
            </a:r>
            <a:r>
              <a:rPr sz="1400" spc="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*</a:t>
            </a:r>
            <a:r>
              <a:rPr sz="1400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6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+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-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</a:t>
            </a:r>
            <a:r>
              <a:rPr sz="1400" spc="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*</a:t>
            </a:r>
            <a:r>
              <a:rPr sz="1400" spc="-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5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=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1030"/>
              </a:spcBef>
            </a:pP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Третий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(бинарный)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алгоритм: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-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</a:t>
            </a:r>
            <a:r>
              <a:rPr sz="1400" spc="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*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6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+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*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5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=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596" y="2228214"/>
            <a:ext cx="5962650" cy="2533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3550" algn="just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Вывод</a:t>
            </a:r>
            <a:r>
              <a:rPr sz="1400" b="1" spc="-8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50" dirty="0">
                <a:solidFill>
                  <a:srgbClr val="0E1115"/>
                </a:solid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12700" marR="6350" indent="450850" algn="just">
              <a:lnSpc>
                <a:spcPct val="143900"/>
              </a:lnSpc>
              <a:spcBef>
                <a:spcPts val="560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ходе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лабораторной</a:t>
            </a:r>
            <a:r>
              <a:rPr sz="1400" spc="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работы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были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изучены</a:t>
            </a:r>
            <a:r>
              <a:rPr sz="1400" spc="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программно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реализованы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три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варианта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алгоритма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Евклида.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На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примере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чисел</a:t>
            </a:r>
            <a:r>
              <a:rPr sz="1400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6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5</a:t>
            </a:r>
            <a:r>
              <a:rPr sz="1400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было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проверено,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что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все</a:t>
            </a:r>
            <a:r>
              <a:rPr sz="1400" spc="20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алгоритмы</a:t>
            </a:r>
            <a:r>
              <a:rPr sz="1400" spc="204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корректно</a:t>
            </a:r>
            <a:r>
              <a:rPr sz="1400" spc="204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находят</a:t>
            </a:r>
            <a:r>
              <a:rPr sz="1400" spc="21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НОД(6,5)</a:t>
            </a:r>
            <a:r>
              <a:rPr sz="1400" spc="20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=</a:t>
            </a:r>
            <a:r>
              <a:rPr sz="1400" spc="204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</a:t>
            </a:r>
            <a:r>
              <a:rPr sz="1400" spc="20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204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соответствующие коэффициенты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x</a:t>
            </a:r>
            <a:r>
              <a:rPr sz="1400" i="1" dirty="0">
                <a:solidFill>
                  <a:srgbClr val="0E1115"/>
                </a:solidFill>
                <a:latin typeface="Times New Roman"/>
                <a:cs typeface="Times New Roman"/>
              </a:rPr>
              <a:t>x</a:t>
            </a:r>
            <a:r>
              <a:rPr sz="1400" i="1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y</a:t>
            </a:r>
            <a:r>
              <a:rPr sz="1400" i="1" dirty="0">
                <a:solidFill>
                  <a:srgbClr val="0E1115"/>
                </a:solidFill>
                <a:latin typeface="Times New Roman"/>
                <a:cs typeface="Times New Roman"/>
              </a:rPr>
              <a:t>y</a:t>
            </a:r>
            <a:r>
              <a:rPr sz="1400" i="1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 линейного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представления</a:t>
            </a:r>
            <a:r>
              <a:rPr sz="1400" spc="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6x+5y=16</a:t>
            </a:r>
            <a:r>
              <a:rPr sz="1400" i="1" spc="-10" dirty="0">
                <a:solidFill>
                  <a:srgbClr val="0E1115"/>
                </a:solidFill>
                <a:latin typeface="Times New Roman"/>
                <a:cs typeface="Times New Roman"/>
              </a:rPr>
              <a:t>x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+5</a:t>
            </a:r>
            <a:r>
              <a:rPr sz="1400" i="1" spc="-10" dirty="0">
                <a:solidFill>
                  <a:srgbClr val="0E1115"/>
                </a:solidFill>
                <a:latin typeface="Times New Roman"/>
                <a:cs typeface="Times New Roman"/>
              </a:rPr>
              <a:t>y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=1.</a:t>
            </a:r>
            <a:endParaRPr sz="1400">
              <a:latin typeface="Times New Roman"/>
              <a:cs typeface="Times New Roman"/>
            </a:endParaRPr>
          </a:p>
          <a:p>
            <a:pPr marL="12700" marR="5080" indent="450850" algn="just">
              <a:lnSpc>
                <a:spcPct val="143600"/>
              </a:lnSpc>
              <a:spcBef>
                <a:spcPts val="610"/>
              </a:spcBef>
            </a:pP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Бинарный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алгоритм,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хотя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сложнее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реализации,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более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эффективен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для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машинных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вычислений, так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как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использует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операции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битового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сдвига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вместо деления.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322</Words>
  <Application>Microsoft Office PowerPoint</Application>
  <PresentationFormat>Custom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Calibri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Ever</dc:creator>
  <cp:lastModifiedBy>Amine Moumene</cp:lastModifiedBy>
  <cp:revision>1</cp:revision>
  <dcterms:created xsi:type="dcterms:W3CDTF">2026-03-13T20:39:40Z</dcterms:created>
  <dcterms:modified xsi:type="dcterms:W3CDTF">2026-03-13T20:43:59Z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2026-03-13T00:00:00Z</vt:filetime>
  </property>
  <property fmtid="{D5CDD505-2E9C-101B-9397-08002B2CF9AE}" pid="5" name="Producer">
    <vt:lpwstr>www.ilovepdf.com</vt:lpwstr>
  </property>
</Properties>
</file>